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779" r:id="rId2"/>
    <p:sldId id="789" r:id="rId3"/>
    <p:sldId id="780" r:id="rId4"/>
    <p:sldId id="781" r:id="rId5"/>
    <p:sldId id="782" r:id="rId6"/>
    <p:sldId id="783" r:id="rId7"/>
    <p:sldId id="784" r:id="rId8"/>
    <p:sldId id="786" r:id="rId9"/>
    <p:sldId id="791" r:id="rId10"/>
    <p:sldId id="793" r:id="rId11"/>
    <p:sldId id="78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239BE49-F218-2842-B8AD-6F93B9DF93DF}" v="107" dt="2025-12-11T05:10:22.08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642" autoAdjust="0"/>
    <p:restoredTop sz="94660"/>
  </p:normalViewPr>
  <p:slideViewPr>
    <p:cSldViewPr snapToGrid="0">
      <p:cViewPr>
        <p:scale>
          <a:sx n="112" d="100"/>
          <a:sy n="112" d="100"/>
        </p:scale>
        <p:origin x="1592" y="8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CHKURI RAJESH" userId="938a5ba3-a373-4cc1-8f91-3d8a23045f4d" providerId="ADAL" clId="{FB6625DE-5704-5C68-A374-D527ACA158B2}"/>
    <pc:docChg chg="undo custSel delSld modSld">
      <pc:chgData name="MACHKURI RAJESH" userId="938a5ba3-a373-4cc1-8f91-3d8a23045f4d" providerId="ADAL" clId="{FB6625DE-5704-5C68-A374-D527ACA158B2}" dt="2025-12-11T05:11:03.219" v="537" actId="255"/>
      <pc:docMkLst>
        <pc:docMk/>
      </pc:docMkLst>
      <pc:sldChg chg="modSp mod">
        <pc:chgData name="MACHKURI RAJESH" userId="938a5ba3-a373-4cc1-8f91-3d8a23045f4d" providerId="ADAL" clId="{FB6625DE-5704-5C68-A374-D527ACA158B2}" dt="2025-12-11T05:08:33.288" v="478" actId="27636"/>
        <pc:sldMkLst>
          <pc:docMk/>
          <pc:sldMk cId="737780489" sldId="779"/>
        </pc:sldMkLst>
        <pc:spChg chg="mod">
          <ac:chgData name="MACHKURI RAJESH" userId="938a5ba3-a373-4cc1-8f91-3d8a23045f4d" providerId="ADAL" clId="{FB6625DE-5704-5C68-A374-D527ACA158B2}" dt="2025-12-11T05:08:26.615" v="476" actId="20577"/>
          <ac:spMkLst>
            <pc:docMk/>
            <pc:sldMk cId="737780489" sldId="779"/>
            <ac:spMk id="2" creationId="{00000000-0000-0000-0000-000000000000}"/>
          </ac:spMkLst>
        </pc:spChg>
        <pc:spChg chg="mod">
          <ac:chgData name="MACHKURI RAJESH" userId="938a5ba3-a373-4cc1-8f91-3d8a23045f4d" providerId="ADAL" clId="{FB6625DE-5704-5C68-A374-D527ACA158B2}" dt="2025-12-11T05:08:33.288" v="478" actId="27636"/>
          <ac:spMkLst>
            <pc:docMk/>
            <pc:sldMk cId="737780489" sldId="779"/>
            <ac:spMk id="14" creationId="{D76D3B75-5278-4020-9209-060C511363F8}"/>
          </ac:spMkLst>
        </pc:spChg>
      </pc:sldChg>
      <pc:sldChg chg="modSp mod">
        <pc:chgData name="MACHKURI RAJESH" userId="938a5ba3-a373-4cc1-8f91-3d8a23045f4d" providerId="ADAL" clId="{FB6625DE-5704-5C68-A374-D527ACA158B2}" dt="2025-12-11T05:07:12.341" v="472" actId="5793"/>
        <pc:sldMkLst>
          <pc:docMk/>
          <pc:sldMk cId="1287536411" sldId="780"/>
        </pc:sldMkLst>
        <pc:spChg chg="mod">
          <ac:chgData name="MACHKURI RAJESH" userId="938a5ba3-a373-4cc1-8f91-3d8a23045f4d" providerId="ADAL" clId="{FB6625DE-5704-5C68-A374-D527ACA158B2}" dt="2025-12-11T05:07:12.341" v="472" actId="5793"/>
          <ac:spMkLst>
            <pc:docMk/>
            <pc:sldMk cId="1287536411" sldId="780"/>
            <ac:spMk id="3" creationId="{ECFCE915-4185-4C62-8EF2-A59B4F631E3C}"/>
          </ac:spMkLst>
        </pc:spChg>
      </pc:sldChg>
      <pc:sldChg chg="modSp mod">
        <pc:chgData name="MACHKURI RAJESH" userId="938a5ba3-a373-4cc1-8f91-3d8a23045f4d" providerId="ADAL" clId="{FB6625DE-5704-5C68-A374-D527ACA158B2}" dt="2025-12-11T05:07:05.037" v="471" actId="113"/>
        <pc:sldMkLst>
          <pc:docMk/>
          <pc:sldMk cId="459879655" sldId="781"/>
        </pc:sldMkLst>
        <pc:spChg chg="mod">
          <ac:chgData name="MACHKURI RAJESH" userId="938a5ba3-a373-4cc1-8f91-3d8a23045f4d" providerId="ADAL" clId="{FB6625DE-5704-5C68-A374-D527ACA158B2}" dt="2025-12-11T05:07:05.037" v="471" actId="113"/>
          <ac:spMkLst>
            <pc:docMk/>
            <pc:sldMk cId="459879655" sldId="781"/>
            <ac:spMk id="3" creationId="{ECFCE915-4185-4C62-8EF2-A59B4F631E3C}"/>
          </ac:spMkLst>
        </pc:spChg>
      </pc:sldChg>
      <pc:sldChg chg="addSp delSp modSp mod">
        <pc:chgData name="MACHKURI RAJESH" userId="938a5ba3-a373-4cc1-8f91-3d8a23045f4d" providerId="ADAL" clId="{FB6625DE-5704-5C68-A374-D527ACA158B2}" dt="2025-12-11T04:51:36.511" v="166" actId="122"/>
        <pc:sldMkLst>
          <pc:docMk/>
          <pc:sldMk cId="295794181" sldId="782"/>
        </pc:sldMkLst>
        <pc:spChg chg="add del mod">
          <ac:chgData name="MACHKURI RAJESH" userId="938a5ba3-a373-4cc1-8f91-3d8a23045f4d" providerId="ADAL" clId="{FB6625DE-5704-5C68-A374-D527ACA158B2}" dt="2025-12-11T04:48:57.771" v="132" actId="478"/>
          <ac:spMkLst>
            <pc:docMk/>
            <pc:sldMk cId="295794181" sldId="782"/>
            <ac:spMk id="7" creationId="{B9E7173E-4384-8748-5A6A-28B8A5090080}"/>
          </ac:spMkLst>
        </pc:spChg>
        <pc:spChg chg="add del mod">
          <ac:chgData name="MACHKURI RAJESH" userId="938a5ba3-a373-4cc1-8f91-3d8a23045f4d" providerId="ADAL" clId="{FB6625DE-5704-5C68-A374-D527ACA158B2}" dt="2025-12-11T04:49:03.387" v="134" actId="478"/>
          <ac:spMkLst>
            <pc:docMk/>
            <pc:sldMk cId="295794181" sldId="782"/>
            <ac:spMk id="9" creationId="{E4F48F88-009C-4802-A775-1F2049CD5EE5}"/>
          </ac:spMkLst>
        </pc:spChg>
        <pc:graphicFrameChg chg="add del mod modGraphic">
          <ac:chgData name="MACHKURI RAJESH" userId="938a5ba3-a373-4cc1-8f91-3d8a23045f4d" providerId="ADAL" clId="{FB6625DE-5704-5C68-A374-D527ACA158B2}" dt="2025-12-11T04:51:36.511" v="166" actId="122"/>
          <ac:graphicFrameMkLst>
            <pc:docMk/>
            <pc:sldMk cId="295794181" sldId="782"/>
            <ac:graphicFrameMk id="6" creationId="{07F3E5CC-4B7D-4CB8-9F7A-4667E9A9813E}"/>
          </ac:graphicFrameMkLst>
        </pc:graphicFrameChg>
      </pc:sldChg>
      <pc:sldChg chg="modSp mod">
        <pc:chgData name="MACHKURI RAJESH" userId="938a5ba3-a373-4cc1-8f91-3d8a23045f4d" providerId="ADAL" clId="{FB6625DE-5704-5C68-A374-D527ACA158B2}" dt="2025-12-11T05:07:36.678" v="475" actId="20577"/>
        <pc:sldMkLst>
          <pc:docMk/>
          <pc:sldMk cId="2068432688" sldId="783"/>
        </pc:sldMkLst>
        <pc:spChg chg="mod">
          <ac:chgData name="MACHKURI RAJESH" userId="938a5ba3-a373-4cc1-8f91-3d8a23045f4d" providerId="ADAL" clId="{FB6625DE-5704-5C68-A374-D527ACA158B2}" dt="2025-12-11T05:07:36.678" v="475" actId="20577"/>
          <ac:spMkLst>
            <pc:docMk/>
            <pc:sldMk cId="2068432688" sldId="783"/>
            <ac:spMk id="3" creationId="{ECFCE915-4185-4C62-8EF2-A59B4F631E3C}"/>
          </ac:spMkLst>
        </pc:spChg>
      </pc:sldChg>
      <pc:sldChg chg="modSp mod">
        <pc:chgData name="MACHKURI RAJESH" userId="938a5ba3-a373-4cc1-8f91-3d8a23045f4d" providerId="ADAL" clId="{FB6625DE-5704-5C68-A374-D527ACA158B2}" dt="2025-12-11T05:02:41.403" v="381" actId="403"/>
        <pc:sldMkLst>
          <pc:docMk/>
          <pc:sldMk cId="4064891695" sldId="784"/>
        </pc:sldMkLst>
        <pc:spChg chg="mod">
          <ac:chgData name="MACHKURI RAJESH" userId="938a5ba3-a373-4cc1-8f91-3d8a23045f4d" providerId="ADAL" clId="{FB6625DE-5704-5C68-A374-D527ACA158B2}" dt="2025-12-11T05:02:41.403" v="381" actId="403"/>
          <ac:spMkLst>
            <pc:docMk/>
            <pc:sldMk cId="4064891695" sldId="784"/>
            <ac:spMk id="3" creationId="{ECFCE915-4185-4C62-8EF2-A59B4F631E3C}"/>
          </ac:spMkLst>
        </pc:spChg>
      </pc:sldChg>
      <pc:sldChg chg="modSp mod">
        <pc:chgData name="MACHKURI RAJESH" userId="938a5ba3-a373-4cc1-8f91-3d8a23045f4d" providerId="ADAL" clId="{FB6625DE-5704-5C68-A374-D527ACA158B2}" dt="2025-12-11T05:11:03.219" v="537" actId="255"/>
        <pc:sldMkLst>
          <pc:docMk/>
          <pc:sldMk cId="1429737896" sldId="786"/>
        </pc:sldMkLst>
        <pc:spChg chg="mod">
          <ac:chgData name="MACHKURI RAJESH" userId="938a5ba3-a373-4cc1-8f91-3d8a23045f4d" providerId="ADAL" clId="{FB6625DE-5704-5C68-A374-D527ACA158B2}" dt="2025-12-11T05:11:03.219" v="537" actId="255"/>
          <ac:spMkLst>
            <pc:docMk/>
            <pc:sldMk cId="1429737896" sldId="786"/>
            <ac:spMk id="3" creationId="{ECFCE915-4185-4C62-8EF2-A59B4F631E3C}"/>
          </ac:spMkLst>
        </pc:spChg>
      </pc:sldChg>
      <pc:sldChg chg="del">
        <pc:chgData name="MACHKURI RAJESH" userId="938a5ba3-a373-4cc1-8f91-3d8a23045f4d" providerId="ADAL" clId="{FB6625DE-5704-5C68-A374-D527ACA158B2}" dt="2025-12-11T04:52:11.549" v="167" actId="2696"/>
        <pc:sldMkLst>
          <pc:docMk/>
          <pc:sldMk cId="2537683095" sldId="790"/>
        </pc:sldMkLst>
      </pc:sldChg>
      <pc:sldChg chg="del">
        <pc:chgData name="MACHKURI RAJESH" userId="938a5ba3-a373-4cc1-8f91-3d8a23045f4d" providerId="ADAL" clId="{FB6625DE-5704-5C68-A374-D527ACA158B2}" dt="2025-12-11T04:40:39.071" v="20" actId="2696"/>
        <pc:sldMkLst>
          <pc:docMk/>
          <pc:sldMk cId="590321071" sldId="792"/>
        </pc:sldMkLst>
      </pc:sldChg>
      <pc:sldChg chg="del">
        <pc:chgData name="MACHKURI RAJESH" userId="938a5ba3-a373-4cc1-8f91-3d8a23045f4d" providerId="ADAL" clId="{FB6625DE-5704-5C68-A374-D527ACA158B2}" dt="2025-12-11T05:06:49.828" v="470" actId="2696"/>
        <pc:sldMkLst>
          <pc:docMk/>
          <pc:sldMk cId="3788410236" sldId="794"/>
        </pc:sldMkLst>
      </pc:sldChg>
      <pc:sldChg chg="del">
        <pc:chgData name="MACHKURI RAJESH" userId="938a5ba3-a373-4cc1-8f91-3d8a23045f4d" providerId="ADAL" clId="{FB6625DE-5704-5C68-A374-D527ACA158B2}" dt="2025-12-11T05:06:44.734" v="469" actId="2696"/>
        <pc:sldMkLst>
          <pc:docMk/>
          <pc:sldMk cId="2712686980" sldId="79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1D50-B6A2-4019-9617-B0BA6E91FF9B}" type="datetimeFigureOut">
              <a:rPr lang="en-IN" smtClean="0"/>
              <a:pPr/>
              <a:t>10/12/25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60D06-E71C-4CF6-B4AC-B8B6AF0BE466}" type="slidenum">
              <a:rPr lang="en-IN" smtClean="0"/>
              <a:pPr/>
              <a:t>‹#›</a:t>
            </a:fld>
            <a:endParaRPr lang="en-IN"/>
          </a:p>
        </p:txBody>
      </p:sp>
    </p:spTree>
    <p:extLst>
      <p:ext uri="{BB962C8B-B14F-4D97-AF65-F5344CB8AC3E}">
        <p14:creationId xmlns:p14="http://schemas.microsoft.com/office/powerpoint/2010/main" val="1719849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2439-1400-4871-A1E8-C7474D447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93264D-B01A-4290-A82E-7727F4A13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8C1F4C-564C-456D-BF72-8037A3716569}"/>
              </a:ext>
            </a:extLst>
          </p:cNvPr>
          <p:cNvSpPr>
            <a:spLocks noGrp="1"/>
          </p:cNvSpPr>
          <p:nvPr>
            <p:ph type="dt" sz="half" idx="10"/>
          </p:nvPr>
        </p:nvSpPr>
        <p:spPr/>
        <p:txBody>
          <a:bodyPr/>
          <a:lstStyle/>
          <a:p>
            <a:fld id="{37BC200F-3AD5-488B-A90C-E22EC162B81D}" type="datetime1">
              <a:rPr lang="en-IN" smtClean="0"/>
              <a:pPr/>
              <a:t>10/12/25</a:t>
            </a:fld>
            <a:endParaRPr lang="en-IN"/>
          </a:p>
        </p:txBody>
      </p:sp>
      <p:sp>
        <p:nvSpPr>
          <p:cNvPr id="5" name="Footer Placeholder 4">
            <a:extLst>
              <a:ext uri="{FF2B5EF4-FFF2-40B4-BE49-F238E27FC236}">
                <a16:creationId xmlns:a16="http://schemas.microsoft.com/office/drawing/2014/main" id="{709C422B-5E07-4115-9932-3FA2E7B08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0577A-0E47-4E38-A660-FC0D76D7267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00117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C8F7-1408-4E03-9E4D-89F36571F3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ECEAC2-EDD9-4A1B-8E30-3AB3CE54F2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F494BC-2B5F-4933-96F3-C02C7484979E}"/>
              </a:ext>
            </a:extLst>
          </p:cNvPr>
          <p:cNvSpPr>
            <a:spLocks noGrp="1"/>
          </p:cNvSpPr>
          <p:nvPr>
            <p:ph type="dt" sz="half" idx="10"/>
          </p:nvPr>
        </p:nvSpPr>
        <p:spPr/>
        <p:txBody>
          <a:bodyPr/>
          <a:lstStyle/>
          <a:p>
            <a:fld id="{784BDB05-E2D4-4D29-8882-DE25842599A2}" type="datetime1">
              <a:rPr lang="en-IN" smtClean="0"/>
              <a:pPr/>
              <a:t>10/12/25</a:t>
            </a:fld>
            <a:endParaRPr lang="en-IN"/>
          </a:p>
        </p:txBody>
      </p:sp>
      <p:sp>
        <p:nvSpPr>
          <p:cNvPr id="5" name="Footer Placeholder 4">
            <a:extLst>
              <a:ext uri="{FF2B5EF4-FFF2-40B4-BE49-F238E27FC236}">
                <a16:creationId xmlns:a16="http://schemas.microsoft.com/office/drawing/2014/main" id="{F6E7B0BB-7BCF-4959-B22F-283F7527C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7FB52-389D-429A-827B-5EA4CA2499C7}"/>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789497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59E0A-F353-45A7-9D3D-4197FDEB5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58B4B3-9A58-47AF-892D-7B145EFA2C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ACD6A9-D5B1-4AEF-BE15-B459414C082E}"/>
              </a:ext>
            </a:extLst>
          </p:cNvPr>
          <p:cNvSpPr>
            <a:spLocks noGrp="1"/>
          </p:cNvSpPr>
          <p:nvPr>
            <p:ph type="dt" sz="half" idx="10"/>
          </p:nvPr>
        </p:nvSpPr>
        <p:spPr/>
        <p:txBody>
          <a:bodyPr/>
          <a:lstStyle/>
          <a:p>
            <a:fld id="{A342B590-2B55-4604-B193-5B6D0EBB3818}" type="datetime1">
              <a:rPr lang="en-IN" smtClean="0"/>
              <a:pPr/>
              <a:t>10/12/25</a:t>
            </a:fld>
            <a:endParaRPr lang="en-IN"/>
          </a:p>
        </p:txBody>
      </p:sp>
      <p:sp>
        <p:nvSpPr>
          <p:cNvPr id="5" name="Footer Placeholder 4">
            <a:extLst>
              <a:ext uri="{FF2B5EF4-FFF2-40B4-BE49-F238E27FC236}">
                <a16:creationId xmlns:a16="http://schemas.microsoft.com/office/drawing/2014/main" id="{2B94FE73-2575-46E0-9292-2323027342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F333C-0E24-431D-8BEA-6EC3E032DC2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105025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DEF8-2B7E-4274-9CCB-70BD370F6D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9C7C84-E9A9-4607-92DC-EFE2B8EB71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91AD39-BC46-468D-AD9D-6C9C7A244F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6748D0-6615-4EB1-8559-162BC9E6834F}"/>
              </a:ext>
            </a:extLst>
          </p:cNvPr>
          <p:cNvSpPr>
            <a:spLocks noGrp="1"/>
          </p:cNvSpPr>
          <p:nvPr>
            <p:ph type="dt" sz="half" idx="10"/>
          </p:nvPr>
        </p:nvSpPr>
        <p:spPr/>
        <p:txBody>
          <a:bodyPr/>
          <a:lstStyle/>
          <a:p>
            <a:fld id="{E455046D-FD36-421D-B0B6-CF2E6F2F7E01}" type="datetime1">
              <a:rPr lang="en-IN" smtClean="0"/>
              <a:pPr/>
              <a:t>10/12/25</a:t>
            </a:fld>
            <a:endParaRPr lang="en-IN"/>
          </a:p>
        </p:txBody>
      </p:sp>
      <p:sp>
        <p:nvSpPr>
          <p:cNvPr id="6" name="Footer Placeholder 5">
            <a:extLst>
              <a:ext uri="{FF2B5EF4-FFF2-40B4-BE49-F238E27FC236}">
                <a16:creationId xmlns:a16="http://schemas.microsoft.com/office/drawing/2014/main" id="{3611EDC9-53F7-46CE-9B1C-B999BCF22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4FECE7-D4F8-4E13-B22B-3E69193E148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23340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3E51-6FED-4252-AE8D-10E9ADE8E8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43A8CB-0EAC-4DFD-A825-F1A89E07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81793-EEE5-4B36-AB68-A56A3253E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B7E480-0365-40E1-BBF5-F594D108A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FEFA48-5012-4D51-B8C0-91BF319E9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D1D2DF-7DFA-4CF0-BC4B-72FFBFAA4185}"/>
              </a:ext>
            </a:extLst>
          </p:cNvPr>
          <p:cNvSpPr>
            <a:spLocks noGrp="1"/>
          </p:cNvSpPr>
          <p:nvPr>
            <p:ph type="dt" sz="half" idx="10"/>
          </p:nvPr>
        </p:nvSpPr>
        <p:spPr/>
        <p:txBody>
          <a:bodyPr/>
          <a:lstStyle/>
          <a:p>
            <a:fld id="{66719C6A-C228-4666-85AF-BFCAEE8D9375}" type="datetime1">
              <a:rPr lang="en-IN" smtClean="0"/>
              <a:pPr/>
              <a:t>10/12/25</a:t>
            </a:fld>
            <a:endParaRPr lang="en-IN"/>
          </a:p>
        </p:txBody>
      </p:sp>
      <p:sp>
        <p:nvSpPr>
          <p:cNvPr id="8" name="Footer Placeholder 7">
            <a:extLst>
              <a:ext uri="{FF2B5EF4-FFF2-40B4-BE49-F238E27FC236}">
                <a16:creationId xmlns:a16="http://schemas.microsoft.com/office/drawing/2014/main" id="{60739B97-6D68-4A91-A511-2AE65BFA1E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6BD875-8D41-458D-8FE8-BE926E35D7F9}"/>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06547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007-8559-4DDA-ADB5-24066989C9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0EE19D-7F57-4B73-B755-C39F7A12E72F}"/>
              </a:ext>
            </a:extLst>
          </p:cNvPr>
          <p:cNvSpPr>
            <a:spLocks noGrp="1"/>
          </p:cNvSpPr>
          <p:nvPr>
            <p:ph type="dt" sz="half" idx="10"/>
          </p:nvPr>
        </p:nvSpPr>
        <p:spPr/>
        <p:txBody>
          <a:bodyPr/>
          <a:lstStyle/>
          <a:p>
            <a:fld id="{D1476AC4-8DFC-4A25-AB02-3BCD901770ED}" type="datetime1">
              <a:rPr lang="en-IN" smtClean="0"/>
              <a:pPr/>
              <a:t>10/12/25</a:t>
            </a:fld>
            <a:endParaRPr lang="en-IN"/>
          </a:p>
        </p:txBody>
      </p:sp>
      <p:sp>
        <p:nvSpPr>
          <p:cNvPr id="4" name="Footer Placeholder 3">
            <a:extLst>
              <a:ext uri="{FF2B5EF4-FFF2-40B4-BE49-F238E27FC236}">
                <a16:creationId xmlns:a16="http://schemas.microsoft.com/office/drawing/2014/main" id="{67AAA0DE-AFC5-477D-9E07-FD8BD826AA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B54AAA-3535-4C14-8166-FB6EACD31BD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74410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B6E093-DDDC-4C60-AEF1-EA4F544AD145}"/>
              </a:ext>
            </a:extLst>
          </p:cNvPr>
          <p:cNvSpPr>
            <a:spLocks noGrp="1"/>
          </p:cNvSpPr>
          <p:nvPr>
            <p:ph type="dt" sz="half" idx="10"/>
          </p:nvPr>
        </p:nvSpPr>
        <p:spPr/>
        <p:txBody>
          <a:bodyPr/>
          <a:lstStyle/>
          <a:p>
            <a:fld id="{A18A7FA7-F693-4DFB-AEDA-FE633EEC95AF}" type="datetime1">
              <a:rPr lang="en-IN" smtClean="0"/>
              <a:pPr/>
              <a:t>10/12/25</a:t>
            </a:fld>
            <a:endParaRPr lang="en-IN"/>
          </a:p>
        </p:txBody>
      </p:sp>
      <p:sp>
        <p:nvSpPr>
          <p:cNvPr id="3" name="Footer Placeholder 2">
            <a:extLst>
              <a:ext uri="{FF2B5EF4-FFF2-40B4-BE49-F238E27FC236}">
                <a16:creationId xmlns:a16="http://schemas.microsoft.com/office/drawing/2014/main" id="{4E0C2FED-4935-43BE-9345-59669AE020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524748-2BAB-49A8-95A7-B4AD77E46E7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49168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EA04-776C-4163-B584-044C333D8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0C04F9-E6C0-4D16-8852-953534E20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72862F-7160-4A67-8704-C47A0C879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D65858-28DA-46E5-9508-74636F89DAE3}"/>
              </a:ext>
            </a:extLst>
          </p:cNvPr>
          <p:cNvSpPr>
            <a:spLocks noGrp="1"/>
          </p:cNvSpPr>
          <p:nvPr>
            <p:ph type="dt" sz="half" idx="10"/>
          </p:nvPr>
        </p:nvSpPr>
        <p:spPr/>
        <p:txBody>
          <a:bodyPr/>
          <a:lstStyle/>
          <a:p>
            <a:fld id="{43C56386-F633-4E6A-B8A1-EED31EF84510}" type="datetime1">
              <a:rPr lang="en-IN" smtClean="0"/>
              <a:pPr/>
              <a:t>10/12/25</a:t>
            </a:fld>
            <a:endParaRPr lang="en-IN"/>
          </a:p>
        </p:txBody>
      </p:sp>
      <p:sp>
        <p:nvSpPr>
          <p:cNvPr id="6" name="Footer Placeholder 5">
            <a:extLst>
              <a:ext uri="{FF2B5EF4-FFF2-40B4-BE49-F238E27FC236}">
                <a16:creationId xmlns:a16="http://schemas.microsoft.com/office/drawing/2014/main" id="{05517B50-2DD1-4DB8-B8B8-0BAE9C952D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01DAEE-A292-4277-BDC0-0070E249CAB8}"/>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119977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3873-316E-4899-8153-7086CCE4E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B67437-F6CB-4767-9B90-77B1BC10B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31625E-C2D4-4EC5-8F44-FBF944F65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B6A3B-16DE-4E18-A332-29669A10B586}"/>
              </a:ext>
            </a:extLst>
          </p:cNvPr>
          <p:cNvSpPr>
            <a:spLocks noGrp="1"/>
          </p:cNvSpPr>
          <p:nvPr>
            <p:ph type="dt" sz="half" idx="10"/>
          </p:nvPr>
        </p:nvSpPr>
        <p:spPr/>
        <p:txBody>
          <a:bodyPr/>
          <a:lstStyle/>
          <a:p>
            <a:fld id="{56C880F4-BE75-409D-AF89-489FEC0B9E5F}" type="datetime1">
              <a:rPr lang="en-IN" smtClean="0"/>
              <a:pPr/>
              <a:t>10/12/25</a:t>
            </a:fld>
            <a:endParaRPr lang="en-IN"/>
          </a:p>
        </p:txBody>
      </p:sp>
      <p:sp>
        <p:nvSpPr>
          <p:cNvPr id="6" name="Footer Placeholder 5">
            <a:extLst>
              <a:ext uri="{FF2B5EF4-FFF2-40B4-BE49-F238E27FC236}">
                <a16:creationId xmlns:a16="http://schemas.microsoft.com/office/drawing/2014/main" id="{DE65B289-D318-4A9C-BD6D-C44A849296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EFA0E2-2C8D-4D74-B06E-178C555F194D}"/>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49100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90BA-7554-4D42-B48C-58DD0CF439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F3D475-FB0E-4B81-B116-9EF55A9047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776E95-0183-4750-AF5B-7618B56938BC}"/>
              </a:ext>
            </a:extLst>
          </p:cNvPr>
          <p:cNvSpPr>
            <a:spLocks noGrp="1"/>
          </p:cNvSpPr>
          <p:nvPr>
            <p:ph type="dt" sz="half" idx="10"/>
          </p:nvPr>
        </p:nvSpPr>
        <p:spPr/>
        <p:txBody>
          <a:bodyPr/>
          <a:lstStyle/>
          <a:p>
            <a:fld id="{2039F6F4-037B-4332-9282-471FE71B5F7F}" type="datetime1">
              <a:rPr lang="en-IN" smtClean="0"/>
              <a:pPr/>
              <a:t>10/12/25</a:t>
            </a:fld>
            <a:endParaRPr lang="en-IN"/>
          </a:p>
        </p:txBody>
      </p:sp>
      <p:sp>
        <p:nvSpPr>
          <p:cNvPr id="5" name="Footer Placeholder 4">
            <a:extLst>
              <a:ext uri="{FF2B5EF4-FFF2-40B4-BE49-F238E27FC236}">
                <a16:creationId xmlns:a16="http://schemas.microsoft.com/office/drawing/2014/main" id="{C29E9BCE-0963-403B-9D25-E460EE59B6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F912-9095-430D-8535-5BD3E4EF864C}"/>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238654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CF8ED9-F70E-4EB1-8828-BC267D05C3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4D1639-EE11-4E0F-9935-5EE4029CBB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C24BC-5C21-463E-8224-EEBB474F4DAC}"/>
              </a:ext>
            </a:extLst>
          </p:cNvPr>
          <p:cNvSpPr>
            <a:spLocks noGrp="1"/>
          </p:cNvSpPr>
          <p:nvPr>
            <p:ph type="dt" sz="half" idx="10"/>
          </p:nvPr>
        </p:nvSpPr>
        <p:spPr/>
        <p:txBody>
          <a:bodyPr/>
          <a:lstStyle/>
          <a:p>
            <a:fld id="{5EDABC32-C334-4B49-A727-D2C2C2E2FFFE}" type="datetime1">
              <a:rPr lang="en-IN" smtClean="0"/>
              <a:pPr/>
              <a:t>10/12/25</a:t>
            </a:fld>
            <a:endParaRPr lang="en-IN"/>
          </a:p>
        </p:txBody>
      </p:sp>
      <p:sp>
        <p:nvSpPr>
          <p:cNvPr id="5" name="Footer Placeholder 4">
            <a:extLst>
              <a:ext uri="{FF2B5EF4-FFF2-40B4-BE49-F238E27FC236}">
                <a16:creationId xmlns:a16="http://schemas.microsoft.com/office/drawing/2014/main" id="{58817959-F41C-4265-B950-CE05B800FF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3A482-8769-4E02-B46E-565987B03A21}"/>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763962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167512-9A59-4F80-BDE3-E2EC9081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9B3164-25AA-4E2F-9CBD-64DBB8BCEA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E2F16-F4BC-4CDE-9BA1-3FF94AA15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12017-EE5D-4064-B320-4434A6A5A13F}" type="datetime1">
              <a:rPr lang="en-IN" smtClean="0"/>
              <a:pPr/>
              <a:t>10/12/25</a:t>
            </a:fld>
            <a:endParaRPr lang="en-IN"/>
          </a:p>
        </p:txBody>
      </p:sp>
      <p:sp>
        <p:nvSpPr>
          <p:cNvPr id="5" name="Footer Placeholder 4">
            <a:extLst>
              <a:ext uri="{FF2B5EF4-FFF2-40B4-BE49-F238E27FC236}">
                <a16:creationId xmlns:a16="http://schemas.microsoft.com/office/drawing/2014/main" id="{37B6BA1D-C155-4BD7-98A4-5C4CD141F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AFD399-70D5-46C3-AF05-F083473AF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83BA4-7B10-4BE3-A0B2-A48721054ED6}" type="slidenum">
              <a:rPr lang="en-IN" smtClean="0"/>
              <a:pPr/>
              <a:t>‹#›</a:t>
            </a:fld>
            <a:endParaRPr lang="en-IN"/>
          </a:p>
        </p:txBody>
      </p:sp>
    </p:spTree>
    <p:extLst>
      <p:ext uri="{BB962C8B-B14F-4D97-AF65-F5344CB8AC3E}">
        <p14:creationId xmlns:p14="http://schemas.microsoft.com/office/powerpoint/2010/main" val="2861878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2.jpg">
            <a:extLst>
              <a:ext uri="{FF2B5EF4-FFF2-40B4-BE49-F238E27FC236}">
                <a16:creationId xmlns:a16="http://schemas.microsoft.com/office/drawing/2014/main" id="{663F759D-B900-42CE-B030-8F4D88C8D3C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2386" y="0"/>
            <a:ext cx="2029613" cy="16323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4171B3D-41F2-4B45-860B-5E3607A31D49}"/>
              </a:ext>
            </a:extLst>
          </p:cNvPr>
          <p:cNvSpPr txBox="1"/>
          <p:nvPr/>
        </p:nvSpPr>
        <p:spPr>
          <a:xfrm>
            <a:off x="2398217" y="94410"/>
            <a:ext cx="7095897" cy="1454244"/>
          </a:xfrm>
          <a:prstGeom prst="rect">
            <a:avLst/>
          </a:prstGeom>
          <a:noFill/>
        </p:spPr>
        <p:txBody>
          <a:bodyPr wrap="square">
            <a:spAutoFit/>
          </a:bodyPr>
          <a:lstStyle/>
          <a:p>
            <a:pPr marR="16510" algn="ctr">
              <a:spcBef>
                <a:spcPts val="365"/>
              </a:spcBef>
              <a:spcAft>
                <a:spcPts val="25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 St. MARTIN’S ENGINEERING COLLEGE</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Times New Roman" panose="02020603050405020304" pitchFamily="18" charset="0"/>
              </a:rPr>
              <a:t>      UGC Autonomous </a:t>
            </a: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Mangal" panose="02040503050203030202" pitchFamily="18" charset="0"/>
              </a:rPr>
              <a:t>NBA &amp; NAAC A+ ACCREDITED</a:t>
            </a:r>
            <a:endParaRPr lang="en-IN" sz="1600" b="1" dirty="0">
              <a:latin typeface="Calibri" panose="020F0502020204030204" pitchFamily="34" charset="0"/>
              <a:ea typeface="Calibri" panose="020F0502020204030204" pitchFamily="34" charset="0"/>
              <a:cs typeface="Mangal" panose="02040503050203030202"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Dhulapally, </a:t>
            </a:r>
            <a:r>
              <a:rPr lang="en-IN" sz="1600" b="1" dirty="0" err="1">
                <a:effectLst/>
                <a:latin typeface="Times New Roman" panose="02020603050405020304" pitchFamily="18" charset="0"/>
                <a:ea typeface="Times New Roman" panose="02020603050405020304" pitchFamily="18" charset="0"/>
                <a:cs typeface="Times New Roman" panose="02020603050405020304" pitchFamily="18" charset="0"/>
              </a:rPr>
              <a:t>Secunderabad</a:t>
            </a: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 – 500 100 </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a:extLst>
              <a:ext uri="{FF2B5EF4-FFF2-40B4-BE49-F238E27FC236}">
                <a16:creationId xmlns:a16="http://schemas.microsoft.com/office/drawing/2014/main" id="{D76D3B75-5278-4020-9209-060C511363F8}"/>
              </a:ext>
            </a:extLst>
          </p:cNvPr>
          <p:cNvSpPr txBox="1">
            <a:spLocks/>
          </p:cNvSpPr>
          <p:nvPr/>
        </p:nvSpPr>
        <p:spPr>
          <a:xfrm>
            <a:off x="-1" y="2190941"/>
            <a:ext cx="12192000" cy="1100501"/>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100" b="1" dirty="0">
              <a:latin typeface="Times New Roman" panose="02020603050405020304" pitchFamily="18" charset="0"/>
              <a:cs typeface="Times New Roman" panose="02020603050405020304" pitchFamily="18" charset="0"/>
            </a:endParaRPr>
          </a:p>
          <a:p>
            <a:pPr marL="0" indent="0" algn="ctr">
              <a:buNone/>
            </a:pPr>
            <a:r>
              <a:rPr lang="en-US" sz="2100" b="1" dirty="0">
                <a:latin typeface="Times New Roman" panose="02020603050405020304" pitchFamily="18" charset="0"/>
                <a:cs typeface="Times New Roman" panose="02020603050405020304" pitchFamily="18" charset="0"/>
              </a:rPr>
              <a:t>Mini Project on</a:t>
            </a:r>
          </a:p>
          <a:p>
            <a:pPr marL="0" indent="0" algn="ctr">
              <a:buNone/>
            </a:pPr>
            <a:r>
              <a:rPr lang="en-IN" sz="3000" b="1" dirty="0">
                <a:latin typeface="Times New Roman" panose="02020603050405020304" pitchFamily="18" charset="0"/>
                <a:cs typeface="Times New Roman" panose="02020603050405020304" pitchFamily="18" charset="0"/>
              </a:rPr>
              <a:t>  Loan Eligibility Prediction for Banks using Machine Learning</a:t>
            </a:r>
            <a:endParaRPr lang="en-US" sz="3000" b="1" dirty="0">
              <a:latin typeface="Times New Roman" panose="020206030504050203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BBE8A074-7A92-49E2-B981-AE2FCEAEB324}"/>
              </a:ext>
            </a:extLst>
          </p:cNvPr>
          <p:cNvSpPr txBox="1"/>
          <p:nvPr/>
        </p:nvSpPr>
        <p:spPr>
          <a:xfrm>
            <a:off x="2891786" y="3339576"/>
            <a:ext cx="6408426" cy="1938992"/>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Batch No: 13</a:t>
            </a:r>
          </a:p>
          <a:p>
            <a:r>
              <a:rPr lang="en-US" sz="2400" b="1" dirty="0">
                <a:latin typeface="Times New Roman" pitchFamily="18" charset="0"/>
                <a:cs typeface="Times New Roman" pitchFamily="18" charset="0"/>
              </a:rPr>
              <a:t>1. M. Rajesh                                 (23K81A7296)</a:t>
            </a:r>
          </a:p>
          <a:p>
            <a:r>
              <a:rPr lang="en-US" sz="2400" b="1" dirty="0">
                <a:latin typeface="Times New Roman" pitchFamily="18" charset="0"/>
                <a:cs typeface="Times New Roman" pitchFamily="18" charset="0"/>
              </a:rPr>
              <a:t>2. K. Sree Akhil                            (23K81A7292)</a:t>
            </a:r>
          </a:p>
          <a:p>
            <a:r>
              <a:rPr lang="en-US" sz="2400" b="1" dirty="0">
                <a:latin typeface="Times New Roman" pitchFamily="18" charset="0"/>
                <a:cs typeface="Times New Roman" pitchFamily="18" charset="0"/>
              </a:rPr>
              <a:t>3. CH. Ram Mahideep Varma    (23K81A7279)</a:t>
            </a:r>
          </a:p>
          <a:p>
            <a:pPr algn="ctr"/>
            <a:endParaRPr lang="en-US" sz="2400" b="1" dirty="0">
              <a:latin typeface="Times New Roman" pitchFamily="18" charset="0"/>
              <a:cs typeface="Times New Roman" pitchFamily="18" charset="0"/>
            </a:endParaRPr>
          </a:p>
        </p:txBody>
      </p:sp>
      <p:sp>
        <p:nvSpPr>
          <p:cNvPr id="16" name="TextBox 15">
            <a:extLst>
              <a:ext uri="{FF2B5EF4-FFF2-40B4-BE49-F238E27FC236}">
                <a16:creationId xmlns:a16="http://schemas.microsoft.com/office/drawing/2014/main" id="{814846BF-F4EE-4ADF-8E6D-318E4ACE8748}"/>
              </a:ext>
            </a:extLst>
          </p:cNvPr>
          <p:cNvSpPr txBox="1"/>
          <p:nvPr/>
        </p:nvSpPr>
        <p:spPr>
          <a:xfrm>
            <a:off x="-149835" y="5193930"/>
            <a:ext cx="12191999" cy="156966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IN" sz="2400" b="1" dirty="0">
                <a:latin typeface="Times New Roman" panose="02020603050405020304" pitchFamily="18" charset="0"/>
                <a:cs typeface="Times New Roman" panose="02020603050405020304" pitchFamily="18" charset="0"/>
              </a:rPr>
              <a:t>Mr. V. Vishnu Vardhan</a:t>
            </a:r>
            <a:endParaRPr lang="en-US" sz="2400" b="1" dirty="0">
              <a:latin typeface="Times New Roman" panose="02020603050405020304" pitchFamily="18" charset="0"/>
              <a:cs typeface="Times New Roman" panose="02020603050405020304" pitchFamily="18" charset="0"/>
            </a:endParaRPr>
          </a:p>
          <a:p>
            <a:pPr algn="ctr"/>
            <a:r>
              <a:rPr lang="en-US" sz="2400" b="1" dirty="0">
                <a:latin typeface="Times New Roman" panose="02020603050405020304" pitchFamily="18" charset="0"/>
                <a:cs typeface="Times New Roman" panose="02020603050405020304" pitchFamily="18" charset="0"/>
              </a:rPr>
              <a:t>Assistant Professor</a:t>
            </a:r>
          </a:p>
          <a:p>
            <a:pPr algn="ctr"/>
            <a:r>
              <a:rPr lang="en-US" sz="2400" b="1" dirty="0">
                <a:latin typeface="Times New Roman" panose="02020603050405020304" pitchFamily="18" charset="0"/>
                <a:cs typeface="Times New Roman" panose="02020603050405020304" pitchFamily="18" charset="0"/>
              </a:rPr>
              <a:t>Department of Artificial Intelligence &amp; Data Science</a:t>
            </a:r>
            <a:endParaRPr lang="en-IN" sz="2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69034" y="94410"/>
            <a:ext cx="1460912" cy="1240120"/>
          </a:xfrm>
          <a:prstGeom prst="rect">
            <a:avLst/>
          </a:prstGeom>
          <a:noFill/>
        </p:spPr>
      </p:pic>
      <p:sp>
        <p:nvSpPr>
          <p:cNvPr id="2" name="TextBox 1"/>
          <p:cNvSpPr txBox="1"/>
          <p:nvPr/>
        </p:nvSpPr>
        <p:spPr>
          <a:xfrm>
            <a:off x="1" y="1579432"/>
            <a:ext cx="12191998" cy="830997"/>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a:t>
            </a:r>
          </a:p>
          <a:p>
            <a:pPr algn="ctr"/>
            <a:r>
              <a:rPr lang="en-US" sz="2400" b="1" dirty="0">
                <a:latin typeface="Times New Roman" pitchFamily="18" charset="0"/>
                <a:cs typeface="Times New Roman" pitchFamily="18" charset="0"/>
              </a:rPr>
              <a:t>ARTIFICIAL INTELLIGENCE &amp; DATA SCIENCE</a:t>
            </a:r>
          </a:p>
        </p:txBody>
      </p:sp>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OUTLINE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normAutofit/>
          </a:bodyPr>
          <a:lstStyle/>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Introduction</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Literature Survey</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Existing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Proposed System</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Modules (Split –up)</a:t>
            </a:r>
          </a:p>
          <a:p>
            <a:pPr marL="457200" indent="-457200" algn="just">
              <a:lnSpc>
                <a:spcPct val="150000"/>
              </a:lnSpc>
              <a:spcBef>
                <a:spcPts val="415"/>
              </a:spcBef>
              <a:buSzPct val="80000"/>
              <a:buFont typeface="+mj-lt"/>
              <a:buAutoNum type="arabicPeriod"/>
              <a:tabLst>
                <a:tab pos="367030" algn="l"/>
              </a:tabLst>
            </a:pPr>
            <a:r>
              <a:rPr lang="en-IN" dirty="0">
                <a:latin typeface="Times New Roman" panose="02020603050405020304" pitchFamily="18" charset="0"/>
                <a:ea typeface="Times New Roman" panose="02020603050405020304" pitchFamily="18" charset="0"/>
              </a:rPr>
              <a:t>References</a:t>
            </a: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dirty="0"/>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a:t>
            </a:fld>
            <a:endParaRPr lang="en-IN"/>
          </a:p>
        </p:txBody>
      </p:sp>
    </p:spTree>
    <p:extLst>
      <p:ext uri="{BB962C8B-B14F-4D97-AF65-F5344CB8AC3E}">
        <p14:creationId xmlns:p14="http://schemas.microsoft.com/office/powerpoint/2010/main" val="388222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normAutofit fontScale="70000" lnSpcReduction="20000"/>
          </a:bodyPr>
          <a:lstStyle/>
          <a:p>
            <a:pPr marL="0" indent="0" algn="just">
              <a:lnSpc>
                <a:spcPct val="160000"/>
              </a:lnSpc>
              <a:buNone/>
            </a:pPr>
            <a:r>
              <a:rPr lang="en-IN" dirty="0">
                <a:latin typeface="Times New Roman" panose="02020603050405020304" pitchFamily="18" charset="0"/>
                <a:cs typeface="Times New Roman" panose="02020603050405020304" pitchFamily="18" charset="0"/>
              </a:rPr>
              <a:t>With technological advancements and the expansion of businesses, the demand for loans has increased significantly, both for personal and business purposes. Due to limited assets, banks cannot grant loans to every applicant. Identifying the right candidates for loans is a complex and time-consuming process. Banks aim to deliver loans to individuals who can repay them on time and provide maximum profit. Thus, there is a need for a system that can analyse and streamline this process, saving time and resources. This paper aims to develop a more accurate loan prediction model using machine learning to reduce the risk involved in selecting appropriate loan applicants. By mining previous loan records and using bank loan rules, we will train a machine learning model to predict loan eligibility. We will use the sklearn library for our model and the train - test-split method to split the dataset. Various models, including Logistic Regression, Decision Tree (DT), Random Forest (RF), and Support Vector Machine (SVM), will be employed to achieve accurate results. Our experiments indicate that the Random Forest classifier provides the best accuracy.</a:t>
            </a:r>
          </a:p>
          <a:p>
            <a:pPr marL="0" indent="0" algn="just">
              <a:buNone/>
            </a:pP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3</a:t>
            </a:fld>
            <a:endParaRPr lang="en-IN"/>
          </a:p>
        </p:txBody>
      </p:sp>
    </p:spTree>
    <p:extLst>
      <p:ext uri="{BB962C8B-B14F-4D97-AF65-F5344CB8AC3E}">
        <p14:creationId xmlns:p14="http://schemas.microsoft.com/office/powerpoint/2010/main" val="128753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0" y="1293342"/>
            <a:ext cx="12191999" cy="4973314"/>
          </a:xfrm>
        </p:spPr>
        <p:txBody>
          <a:bodyPr>
            <a:normAutofit/>
          </a:bodyPr>
          <a:lstStyle/>
          <a:p>
            <a:pPr algn="just">
              <a:lnSpc>
                <a:spcPct val="150000"/>
              </a:lnSpc>
              <a:buFont typeface="Wingdings" pitchFamily="2" charset="2"/>
              <a:buChar char="Ø"/>
            </a:pPr>
            <a:r>
              <a:rPr lang="en-IN" sz="2000" dirty="0">
                <a:latin typeface="Times New Roman" panose="02020603050405020304" pitchFamily="18" charset="0"/>
                <a:cs typeface="Times New Roman" panose="02020603050405020304" pitchFamily="18" charset="0"/>
              </a:rPr>
              <a:t>Banks receive thousands of loan applications every day, and making accurate and timely decisions is crucial to ensure financial stability. Traditionally, loan eligibility has been assessed manually based on income, employment status, credit history, and other financial factors. However, manual screening is time-consuming, prone to human error, and often inconsistent. With the rapid growth of data in the financial sector, machine learning has emerged as an effective solution to improve decision-making in loan approval processes. </a:t>
            </a:r>
          </a:p>
          <a:p>
            <a:pPr algn="just">
              <a:lnSpc>
                <a:spcPct val="150000"/>
              </a:lnSpc>
              <a:buFont typeface="Wingdings" pitchFamily="2" charset="2"/>
              <a:buChar char="Ø"/>
            </a:pPr>
            <a:r>
              <a:rPr lang="en-IN" sz="2000" dirty="0">
                <a:latin typeface="Times New Roman" panose="02020603050405020304" pitchFamily="18" charset="0"/>
                <a:cs typeface="Times New Roman" panose="02020603050405020304" pitchFamily="18" charset="0"/>
              </a:rPr>
              <a:t>The aim of this project is to build a predictive model that classifies loan applicants into </a:t>
            </a:r>
            <a:r>
              <a:rPr lang="en-IN" sz="2000" b="1" dirty="0">
                <a:latin typeface="Times New Roman" panose="02020603050405020304" pitchFamily="18" charset="0"/>
                <a:cs typeface="Times New Roman" panose="02020603050405020304" pitchFamily="18" charset="0"/>
              </a:rPr>
              <a:t>“Eligible” or “Not Eligible”</a:t>
            </a:r>
            <a:r>
              <a:rPr lang="en-IN" sz="2000" dirty="0">
                <a:latin typeface="Times New Roman" panose="02020603050405020304" pitchFamily="18" charset="0"/>
                <a:cs typeface="Times New Roman" panose="02020603050405020304" pitchFamily="18" charset="0"/>
              </a:rPr>
              <a:t> categories based on their demographic and financial attributes.</a:t>
            </a: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4</a:t>
            </a:fld>
            <a:endParaRPr lang="en-IN"/>
          </a:p>
        </p:txBody>
      </p:sp>
    </p:spTree>
    <p:extLst>
      <p:ext uri="{BB962C8B-B14F-4D97-AF65-F5344CB8AC3E}">
        <p14:creationId xmlns:p14="http://schemas.microsoft.com/office/powerpoint/2010/main" val="459879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LITERATURE SURVEY</a:t>
            </a:r>
          </a:p>
        </p:txBody>
      </p:sp>
      <p:graphicFrame>
        <p:nvGraphicFramePr>
          <p:cNvPr id="6" name="Table 6">
            <a:extLst>
              <a:ext uri="{FF2B5EF4-FFF2-40B4-BE49-F238E27FC236}">
                <a16:creationId xmlns:a16="http://schemas.microsoft.com/office/drawing/2014/main" id="{07F3E5CC-4B7D-4CB8-9F7A-4667E9A9813E}"/>
              </a:ext>
            </a:extLst>
          </p:cNvPr>
          <p:cNvGraphicFramePr>
            <a:graphicFrameLocks noGrp="1"/>
          </p:cNvGraphicFramePr>
          <p:nvPr>
            <p:ph idx="1"/>
            <p:extLst>
              <p:ext uri="{D42A27DB-BD31-4B8C-83A1-F6EECF244321}">
                <p14:modId xmlns:p14="http://schemas.microsoft.com/office/powerpoint/2010/main" val="891812222"/>
              </p:ext>
            </p:extLst>
          </p:nvPr>
        </p:nvGraphicFramePr>
        <p:xfrm>
          <a:off x="249382" y="1036752"/>
          <a:ext cx="11693236" cy="5319598"/>
        </p:xfrm>
        <a:graphic>
          <a:graphicData uri="http://schemas.openxmlformats.org/drawingml/2006/table">
            <a:tbl>
              <a:tblPr firstRow="1" bandRow="1">
                <a:tableStyleId>{5C22544A-7EE6-4342-B048-85BDC9FD1C3A}</a:tableStyleId>
              </a:tblPr>
              <a:tblGrid>
                <a:gridCol w="971803">
                  <a:extLst>
                    <a:ext uri="{9D8B030D-6E8A-4147-A177-3AD203B41FA5}">
                      <a16:colId xmlns:a16="http://schemas.microsoft.com/office/drawing/2014/main" val="3970585099"/>
                    </a:ext>
                  </a:extLst>
                </a:gridCol>
                <a:gridCol w="2488763">
                  <a:extLst>
                    <a:ext uri="{9D8B030D-6E8A-4147-A177-3AD203B41FA5}">
                      <a16:colId xmlns:a16="http://schemas.microsoft.com/office/drawing/2014/main" val="2247031847"/>
                    </a:ext>
                  </a:extLst>
                </a:gridCol>
                <a:gridCol w="3539021">
                  <a:extLst>
                    <a:ext uri="{9D8B030D-6E8A-4147-A177-3AD203B41FA5}">
                      <a16:colId xmlns:a16="http://schemas.microsoft.com/office/drawing/2014/main" val="4063182533"/>
                    </a:ext>
                  </a:extLst>
                </a:gridCol>
                <a:gridCol w="1509612">
                  <a:extLst>
                    <a:ext uri="{9D8B030D-6E8A-4147-A177-3AD203B41FA5}">
                      <a16:colId xmlns:a16="http://schemas.microsoft.com/office/drawing/2014/main" val="3726383669"/>
                    </a:ext>
                  </a:extLst>
                </a:gridCol>
                <a:gridCol w="3184037">
                  <a:extLst>
                    <a:ext uri="{9D8B030D-6E8A-4147-A177-3AD203B41FA5}">
                      <a16:colId xmlns:a16="http://schemas.microsoft.com/office/drawing/2014/main" val="363374994"/>
                    </a:ext>
                  </a:extLst>
                </a:gridCol>
              </a:tblGrid>
              <a:tr h="333449">
                <a:tc>
                  <a:txBody>
                    <a:bodyPr/>
                    <a:lstStyle/>
                    <a:p>
                      <a:pPr algn="ctr"/>
                      <a:r>
                        <a:rPr lang="en-IN" dirty="0">
                          <a:solidFill>
                            <a:schemeClr val="tx1"/>
                          </a:solidFill>
                          <a:latin typeface="Times New Roman" panose="02020603050405020304" pitchFamily="18" charset="0"/>
                          <a:cs typeface="Times New Roman" panose="02020603050405020304" pitchFamily="18" charset="0"/>
                        </a:rPr>
                        <a:t>S. 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a:cs typeface="Times New Roman" panose="02020603050405020304" pitchFamily="18" charset="0"/>
                        </a:rPr>
                        <a:t>Author</a:t>
                      </a:r>
                      <a:endParaRPr lang="en-US" sz="1800" dirty="0">
                        <a:solidFill>
                          <a:schemeClr val="tx1"/>
                        </a:solidFill>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a:cs typeface="Times New Roman" panose="02020603050405020304" pitchFamily="18" charset="0"/>
                        </a:rPr>
                        <a:t>Title</a:t>
                      </a:r>
                      <a:endParaRPr lang="en-US" sz="1800" dirty="0">
                        <a:solidFill>
                          <a:schemeClr val="tx1"/>
                        </a:solidFill>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a:cs typeface="Times New Roman" panose="02020603050405020304" pitchFamily="18" charset="0"/>
                        </a:rPr>
                        <a:t>Year</a:t>
                      </a:r>
                      <a:endParaRPr lang="en-US" sz="1800" dirty="0">
                        <a:solidFill>
                          <a:schemeClr val="tx1"/>
                        </a:solidFill>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US" sz="1800" b="1" dirty="0">
                          <a:solidFill>
                            <a:schemeClr val="tx1"/>
                          </a:solidFill>
                          <a:latin typeface="Times New Roman" panose="02020603050405020304" pitchFamily="18" charset="0"/>
                          <a:ea typeface="Calibri"/>
                          <a:cs typeface="Times New Roman" panose="02020603050405020304" pitchFamily="18" charset="0"/>
                        </a:rPr>
                        <a:t>Contributions</a:t>
                      </a:r>
                      <a:endParaRPr lang="en-US" sz="1800" dirty="0">
                        <a:solidFill>
                          <a:schemeClr val="tx1"/>
                        </a:solidFill>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8876767"/>
                  </a:ext>
                </a:extLst>
              </a:tr>
              <a:tr h="958213">
                <a:tc>
                  <a:txBody>
                    <a:bodyPr/>
                    <a:lstStyle/>
                    <a:p>
                      <a:pPr algn="ctr"/>
                      <a:r>
                        <a:rPr lang="en-IN" sz="1400" dirty="0">
                          <a:latin typeface="Times New Roman" panose="02020603050405020304" pitchFamily="18" charset="0"/>
                          <a:cs typeface="Times New Roman" panose="02020603050405020304" pitchFamily="18" charset="0"/>
                        </a:rPr>
                        <a:t>1.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latin typeface="Times New Roman" panose="02020603050405020304" pitchFamily="18" charset="0"/>
                          <a:cs typeface="Times New Roman" panose="02020603050405020304" pitchFamily="18" charset="0"/>
                        </a:rPr>
                        <a:t>Mehta &amp; Shah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Enhancing Loan Approval Accuracy Using AI Techniques</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latin typeface="Times New Roman" panose="02020603050405020304" pitchFamily="18" charset="0"/>
                          <a:cs typeface="Times New Roman" panose="02020603050405020304" pitchFamily="18" charset="0"/>
                        </a:rPr>
                        <a:t>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IN" sz="1400" dirty="0">
                          <a:latin typeface="Times New Roman" panose="02020603050405020304" pitchFamily="18" charset="0"/>
                          <a:cs typeface="Times New Roman" panose="02020603050405020304" pitchFamily="18" charset="0"/>
                        </a:rPr>
                        <a:t>Proposed an AI-based automated decision-support model for banks; improved processing speed and accuracy.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6634156"/>
                  </a:ext>
                </a:extLst>
              </a:tr>
              <a:tr h="746761">
                <a:tc>
                  <a:txBody>
                    <a:bodyPr/>
                    <a:lstStyle/>
                    <a:p>
                      <a:pPr algn="ctr"/>
                      <a:r>
                        <a:rPr lang="en-IN" sz="1400" dirty="0">
                          <a:latin typeface="Times New Roman" panose="02020603050405020304" pitchFamily="18" charset="0"/>
                          <a:cs typeface="Times New Roman" panose="02020603050405020304" pitchFamily="18" charset="0"/>
                        </a:rPr>
                        <a:t>2.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Das &amp; Bose</a:t>
                      </a:r>
                      <a:endParaRPr lang="en-US" sz="1400" dirty="0">
                        <a:latin typeface="Times New Roman" panose="02020603050405020304" pitchFamily="18" charset="0"/>
                        <a:ea typeface="Calibri"/>
                        <a:cs typeface="Times New Roman" panose="02020603050405020304" pitchFamily="18" charset="0"/>
                      </a:endParaRPr>
                    </a:p>
                    <a:p>
                      <a:pPr algn="ctr">
                        <a:lnSpc>
                          <a:spcPct val="115000"/>
                        </a:lnSpc>
                        <a:spcAft>
                          <a:spcPts val="0"/>
                        </a:spcAft>
                      </a:pP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Predictive Modeling for Loan Eligibility</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2024</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Developed a hybrid model combining LR and RF; improved classification accuracy.</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40586653"/>
                  </a:ext>
                </a:extLst>
              </a:tr>
              <a:tr h="996757">
                <a:tc>
                  <a:txBody>
                    <a:bodyPr/>
                    <a:lstStyle/>
                    <a:p>
                      <a:pPr algn="ctr"/>
                      <a:r>
                        <a:rPr lang="en-IN" sz="1400" dirty="0">
                          <a:latin typeface="Times New Roman" panose="02020603050405020304" pitchFamily="18" charset="0"/>
                          <a:cs typeface="Times New Roman" panose="02020603050405020304" pitchFamily="18" charset="0"/>
                        </a:rPr>
                        <a:t>3.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Patel &amp; Roy</a:t>
                      </a:r>
                      <a:endParaRPr lang="en-US" sz="1400" dirty="0">
                        <a:latin typeface="Times New Roman" panose="02020603050405020304" pitchFamily="18" charset="0"/>
                        <a:ea typeface="Calibri"/>
                        <a:cs typeface="Times New Roman" panose="02020603050405020304" pitchFamily="18" charset="0"/>
                      </a:endParaRPr>
                    </a:p>
                    <a:p>
                      <a:pPr marL="0" marR="0" lvl="0" indent="0" algn="ctr" defTabSz="914400" rtl="0" eaLnBrk="1" fontAlgn="auto" latinLnBrk="0" hangingPunct="1">
                        <a:lnSpc>
                          <a:spcPct val="115000"/>
                        </a:lnSpc>
                        <a:spcBef>
                          <a:spcPts val="0"/>
                        </a:spcBef>
                        <a:spcAft>
                          <a:spcPts val="0"/>
                        </a:spcAft>
                        <a:buClrTx/>
                        <a:buSzTx/>
                        <a:buFontTx/>
                        <a:buNone/>
                        <a:tabLst/>
                        <a:defRPr/>
                      </a:pPr>
                      <a:endParaRPr lang="en-IN" sz="1400" dirty="0">
                        <a:latin typeface="Times New Roman" panose="02020603050405020304" pitchFamily="18" charset="0"/>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Comparative Analysis of ML Algorithms for Loan Eligibility</a:t>
                      </a:r>
                      <a:endParaRPr lang="en-US" sz="1400" dirty="0">
                        <a:latin typeface="Times New Roman" panose="02020603050405020304" pitchFamily="18" charset="0"/>
                        <a:ea typeface="Calibri"/>
                        <a:cs typeface="Times New Roman" panose="02020603050405020304" pitchFamily="18" charset="0"/>
                      </a:endParaRPr>
                    </a:p>
                    <a:p>
                      <a:pPr algn="ctr">
                        <a:lnSpc>
                          <a:spcPct val="115000"/>
                        </a:lnSpc>
                        <a:spcAft>
                          <a:spcPts val="0"/>
                        </a:spcAft>
                      </a:pP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2023</a:t>
                      </a:r>
                      <a:endParaRPr lang="en-US" sz="1400" dirty="0">
                        <a:latin typeface="Times New Roman" panose="02020603050405020304" pitchFamily="18" charset="0"/>
                        <a:ea typeface="Calibri"/>
                        <a:cs typeface="Times New Roman" panose="02020603050405020304" pitchFamily="18" charset="0"/>
                      </a:endParaRPr>
                    </a:p>
                    <a:p>
                      <a:pPr algn="ctr">
                        <a:lnSpc>
                          <a:spcPct val="115000"/>
                        </a:lnSpc>
                        <a:spcAft>
                          <a:spcPts val="0"/>
                        </a:spcAft>
                      </a:pP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Evaluated SVM, KNN, and Naive Bayes; emphasized feature scaling and dataset preprocessing.</a:t>
                      </a:r>
                      <a:endParaRPr lang="en-US" sz="1400" dirty="0">
                        <a:latin typeface="Times New Roman" panose="02020603050405020304" pitchFamily="18" charset="0"/>
                        <a:ea typeface="Calibri"/>
                        <a:cs typeface="Times New Roman" panose="02020603050405020304" pitchFamily="18" charset="0"/>
                      </a:endParaRPr>
                    </a:p>
                    <a:p>
                      <a:pPr algn="ctr">
                        <a:lnSpc>
                          <a:spcPct val="115000"/>
                        </a:lnSpc>
                        <a:spcAft>
                          <a:spcPts val="0"/>
                        </a:spcAft>
                      </a:pP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11515839"/>
                  </a:ext>
                </a:extLst>
              </a:tr>
              <a:tr h="1001056">
                <a:tc>
                  <a:txBody>
                    <a:bodyPr/>
                    <a:lstStyle/>
                    <a:p>
                      <a:pPr algn="ctr"/>
                      <a:r>
                        <a:rPr lang="en-IN" sz="1400" dirty="0">
                          <a:latin typeface="Times New Roman" panose="02020603050405020304" pitchFamily="18" charset="0"/>
                          <a:cs typeface="Times New Roman" panose="02020603050405020304" pitchFamily="18" charset="0"/>
                        </a:rPr>
                        <a:t>4.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Singh &amp; Verma</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Automated Loan Approval System Using Data Mining</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2023</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Identified key borrower attributes; improved data preprocessing and attribute selection.</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85148469"/>
                  </a:ext>
                </a:extLst>
              </a:tr>
              <a:tr h="1251051">
                <a:tc>
                  <a:txBody>
                    <a:bodyPr/>
                    <a:lstStyle/>
                    <a:p>
                      <a:pPr algn="ctr"/>
                      <a:r>
                        <a:rPr lang="en-IN" sz="1400" dirty="0">
                          <a:latin typeface="Times New Roman" panose="02020603050405020304" pitchFamily="18" charset="0"/>
                          <a:cs typeface="Times New Roman" panose="02020603050405020304" pitchFamily="18" charset="0"/>
                        </a:rPr>
                        <a:t>5.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15000"/>
                        </a:lnSpc>
                        <a:spcAft>
                          <a:spcPts val="0"/>
                        </a:spcAft>
                      </a:pPr>
                      <a:r>
                        <a:rPr lang="en-IN" sz="1400" dirty="0">
                          <a:latin typeface="Times New Roman" panose="02020603050405020304" pitchFamily="18" charset="0"/>
                          <a:cs typeface="Times New Roman" panose="02020603050405020304" pitchFamily="18" charset="0"/>
                        </a:rPr>
                        <a:t>Sharma &amp; Gupta</a:t>
                      </a: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Machine Learning Techniques for Loan Eligibility Prediction</a:t>
                      </a:r>
                      <a:endParaRPr lang="en-US" sz="1400" dirty="0">
                        <a:latin typeface="Times New Roman" panose="02020603050405020304" pitchFamily="18" charset="0"/>
                        <a:ea typeface="Calibri"/>
                        <a:cs typeface="Times New Roman" panose="02020603050405020304" pitchFamily="18" charset="0"/>
                      </a:endParaRPr>
                    </a:p>
                    <a:p>
                      <a:pPr algn="ctr">
                        <a:lnSpc>
                          <a:spcPct val="115000"/>
                        </a:lnSpc>
                        <a:spcAft>
                          <a:spcPts val="0"/>
                        </a:spcAft>
                      </a:pP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2022</a:t>
                      </a:r>
                    </a:p>
                    <a:p>
                      <a:pPr algn="ctr">
                        <a:lnSpc>
                          <a:spcPct val="115000"/>
                        </a:lnSpc>
                        <a:spcAft>
                          <a:spcPts val="0"/>
                        </a:spcAft>
                      </a:pP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15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Compared Decision Tree and Random Forest; found ensemble models more accurate and robust.</a:t>
                      </a:r>
                    </a:p>
                    <a:p>
                      <a:pPr algn="ctr">
                        <a:lnSpc>
                          <a:spcPct val="115000"/>
                        </a:lnSpc>
                        <a:spcAft>
                          <a:spcPts val="0"/>
                        </a:spcAft>
                      </a:pPr>
                      <a:endParaRPr lang="en-US" sz="1400" dirty="0">
                        <a:latin typeface="Times New Roman" panose="02020603050405020304" pitchFamily="18" charset="0"/>
                        <a:ea typeface="Calibri"/>
                        <a:cs typeface="Times New Roman" panose="02020603050405020304" pitchFamily="18" charset="0"/>
                      </a:endParaRPr>
                    </a:p>
                  </a:txBody>
                  <a:tcPr marL="68587" marR="6858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1952141"/>
                  </a:ext>
                </a:extLst>
              </a:tr>
            </a:tbl>
          </a:graphicData>
        </a:graphic>
      </p:graphicFrame>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5</a:t>
            </a:fld>
            <a:endParaRPr lang="en-IN"/>
          </a:p>
        </p:txBody>
      </p:sp>
    </p:spTree>
    <p:extLst>
      <p:ext uri="{BB962C8B-B14F-4D97-AF65-F5344CB8AC3E}">
        <p14:creationId xmlns:p14="http://schemas.microsoft.com/office/powerpoint/2010/main" val="295794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0" y="942343"/>
            <a:ext cx="12191999" cy="4973314"/>
          </a:xfrm>
        </p:spPr>
        <p:txBody>
          <a:bodyPr>
            <a:noAutofit/>
          </a:bodyPr>
          <a:lstStyle/>
          <a:p>
            <a:pPr algn="just">
              <a:lnSpc>
                <a:spcPct val="160000"/>
              </a:lnSpc>
              <a:buFont typeface="Wingdings" pitchFamily="2" charset="2"/>
              <a:buChar char="Ø"/>
            </a:pPr>
            <a:r>
              <a:rPr lang="en-IN" sz="1800" dirty="0">
                <a:latin typeface="Times New Roman" panose="02020603050405020304" pitchFamily="18" charset="0"/>
                <a:cs typeface="Times New Roman" panose="02020603050405020304" pitchFamily="18" charset="0"/>
              </a:rPr>
              <a:t>In the existing loan approval system, banks follow a </a:t>
            </a:r>
            <a:r>
              <a:rPr lang="en-IN" sz="1800" b="1" dirty="0">
                <a:latin typeface="Times New Roman" panose="02020603050405020304" pitchFamily="18" charset="0"/>
                <a:cs typeface="Times New Roman" panose="02020603050405020304" pitchFamily="18" charset="0"/>
              </a:rPr>
              <a:t>manual and rule-based process </a:t>
            </a:r>
            <a:r>
              <a:rPr lang="en-IN" sz="1800" dirty="0">
                <a:latin typeface="Times New Roman" panose="02020603050405020304" pitchFamily="18" charset="0"/>
                <a:cs typeface="Times New Roman" panose="02020603050405020304" pitchFamily="18" charset="0"/>
              </a:rPr>
              <a:t>to evaluate whether a customer is eligible for a loan. Loan officers review the applicant’s documents, verify financial information, and make decisions based on fixed guidelines and personal judgment.</a:t>
            </a:r>
          </a:p>
          <a:p>
            <a:pPr algn="just">
              <a:lnSpc>
                <a:spcPct val="160000"/>
              </a:lnSpc>
              <a:buFont typeface="Wingdings" pitchFamily="2" charset="2"/>
              <a:buChar char="Ø"/>
            </a:pPr>
            <a:r>
              <a:rPr lang="en-IN" sz="1800" dirty="0">
                <a:latin typeface="Times New Roman" panose="02020603050405020304" pitchFamily="18" charset="0"/>
                <a:cs typeface="Times New Roman" panose="02020603050405020304" pitchFamily="18" charset="0"/>
              </a:rPr>
              <a:t>Manual Verification of Documents.</a:t>
            </a:r>
          </a:p>
          <a:p>
            <a:pPr algn="just">
              <a:lnSpc>
                <a:spcPct val="160000"/>
              </a:lnSpc>
              <a:buFont typeface="Wingdings" pitchFamily="2" charset="2"/>
              <a:buChar char="Ø"/>
            </a:pPr>
            <a:r>
              <a:rPr lang="en-IN" sz="1800" dirty="0">
                <a:latin typeface="Times New Roman" panose="02020603050405020304" pitchFamily="18" charset="0"/>
                <a:cs typeface="Times New Roman" panose="02020603050405020304" pitchFamily="18" charset="0"/>
              </a:rPr>
              <a:t>Rule-Based Decision Making.</a:t>
            </a:r>
          </a:p>
          <a:p>
            <a:pPr algn="just">
              <a:lnSpc>
                <a:spcPct val="160000"/>
              </a:lnSpc>
              <a:buFont typeface="Wingdings" pitchFamily="2" charset="2"/>
              <a:buChar char="Ø"/>
            </a:pPr>
            <a:r>
              <a:rPr lang="en-IN" sz="1800" dirty="0">
                <a:latin typeface="Times New Roman" panose="02020603050405020304" pitchFamily="18" charset="0"/>
                <a:cs typeface="Times New Roman" panose="02020603050405020304" pitchFamily="18" charset="0"/>
              </a:rPr>
              <a:t>High Dependency on Human Judgment.</a:t>
            </a:r>
          </a:p>
          <a:p>
            <a:pPr algn="just">
              <a:lnSpc>
                <a:spcPct val="160000"/>
              </a:lnSpc>
              <a:buFont typeface="Wingdings" pitchFamily="2" charset="2"/>
              <a:buChar char="Ø"/>
            </a:pPr>
            <a:r>
              <a:rPr lang="en-IN" sz="1800" dirty="0">
                <a:latin typeface="Times New Roman" panose="02020603050405020304" pitchFamily="18" charset="0"/>
                <a:cs typeface="Times New Roman" panose="02020603050405020304" pitchFamily="18" charset="0"/>
              </a:rPr>
              <a:t>Slow and Inefficient Process.</a:t>
            </a:r>
          </a:p>
          <a:p>
            <a:pPr marL="0" indent="0">
              <a:lnSpc>
                <a:spcPct val="160000"/>
              </a:lnSpc>
              <a:buNone/>
            </a:pPr>
            <a:r>
              <a:rPr lang="en-IN" sz="1800" b="1" dirty="0">
                <a:latin typeface="Times New Roman" panose="02020603050405020304" pitchFamily="18" charset="0"/>
                <a:cs typeface="Times New Roman" panose="02020603050405020304" pitchFamily="18" charset="0"/>
              </a:rPr>
              <a:t>DISADVANTAGES:</a:t>
            </a:r>
          </a:p>
          <a:p>
            <a:pPr algn="just">
              <a:lnSpc>
                <a:spcPct val="160000"/>
              </a:lnSpc>
              <a:buFont typeface="Wingdings" pitchFamily="2" charset="2"/>
              <a:buChar char="Ø"/>
            </a:pPr>
            <a:r>
              <a:rPr lang="en-IN" sz="1800" dirty="0">
                <a:latin typeface="Times New Roman" panose="02020603050405020304" pitchFamily="18" charset="0"/>
                <a:cs typeface="Times New Roman" panose="02020603050405020304" pitchFamily="18" charset="0"/>
              </a:rPr>
              <a:t>⁠Time-consuming manual work.</a:t>
            </a:r>
          </a:p>
          <a:p>
            <a:pPr algn="just">
              <a:lnSpc>
                <a:spcPct val="160000"/>
              </a:lnSpc>
              <a:buFont typeface="Wingdings" pitchFamily="2" charset="2"/>
              <a:buChar char="Ø"/>
            </a:pPr>
            <a:r>
              <a:rPr lang="en-IN" sz="1800" dirty="0">
                <a:latin typeface="Times New Roman" panose="02020603050405020304" pitchFamily="18" charset="0"/>
                <a:cs typeface="Times New Roman" panose="02020603050405020304" pitchFamily="18" charset="0"/>
              </a:rPr>
              <a:t>Possibility of human bias and error.</a:t>
            </a: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6</a:t>
            </a:fld>
            <a:endParaRPr lang="en-IN"/>
          </a:p>
        </p:txBody>
      </p:sp>
    </p:spTree>
    <p:extLst>
      <p:ext uri="{BB962C8B-B14F-4D97-AF65-F5344CB8AC3E}">
        <p14:creationId xmlns:p14="http://schemas.microsoft.com/office/powerpoint/2010/main" val="2068432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942343"/>
            <a:ext cx="12191999" cy="4973314"/>
          </a:xfrm>
        </p:spPr>
        <p:txBody>
          <a:bodyPr>
            <a:noAutofit/>
          </a:bodyPr>
          <a:lstStyle/>
          <a:p>
            <a:pPr algn="just">
              <a:lnSpc>
                <a:spcPct val="170000"/>
              </a:lnSpc>
              <a:buFont typeface="Wingdings" pitchFamily="2" charset="2"/>
              <a:buChar char="Ø"/>
            </a:pPr>
            <a:r>
              <a:rPr lang="en-IN" sz="1800" dirty="0">
                <a:latin typeface="Times New Roman" panose="02020603050405020304" pitchFamily="18" charset="0"/>
                <a:cs typeface="Times New Roman" panose="02020603050405020304" pitchFamily="18" charset="0"/>
              </a:rPr>
              <a:t>The proposed system introduces an </a:t>
            </a:r>
            <a:r>
              <a:rPr lang="en-IN" sz="1800" b="1" dirty="0">
                <a:latin typeface="Times New Roman" panose="02020603050405020304" pitchFamily="18" charset="0"/>
                <a:cs typeface="Times New Roman" panose="02020603050405020304" pitchFamily="18" charset="0"/>
              </a:rPr>
              <a:t>automated, machine-learning–based loan eligibility prediction model </a:t>
            </a:r>
            <a:r>
              <a:rPr lang="en-IN" sz="1800" dirty="0">
                <a:latin typeface="Times New Roman" panose="02020603050405020304" pitchFamily="18" charset="0"/>
                <a:cs typeface="Times New Roman" panose="02020603050405020304" pitchFamily="18" charset="0"/>
              </a:rPr>
              <a:t>that assists banks in making faster, more accurate, and data-driven loan decisions. Instead of relying on manual verification and judgement-based approval, the system analyzes historical loan data and identifies patterns that indicate whether a customer is likely to repay the loan.</a:t>
            </a:r>
          </a:p>
          <a:p>
            <a:pPr algn="just">
              <a:lnSpc>
                <a:spcPct val="170000"/>
              </a:lnSpc>
              <a:buFont typeface="Wingdings" pitchFamily="2" charset="2"/>
              <a:buChar char="Ø"/>
            </a:pPr>
            <a:r>
              <a:rPr lang="en-IN" sz="1800" dirty="0">
                <a:latin typeface="Times New Roman" panose="02020603050405020304" pitchFamily="18" charset="0"/>
                <a:cs typeface="Times New Roman" panose="02020603050405020304" pitchFamily="18" charset="0"/>
              </a:rPr>
              <a:t>Automated Decision Making.</a:t>
            </a:r>
          </a:p>
          <a:p>
            <a:pPr algn="just">
              <a:lnSpc>
                <a:spcPct val="170000"/>
              </a:lnSpc>
              <a:buFont typeface="Wingdings" pitchFamily="2" charset="2"/>
              <a:buChar char="Ø"/>
            </a:pPr>
            <a:r>
              <a:rPr lang="en-IN" sz="1800" dirty="0">
                <a:latin typeface="Times New Roman" panose="02020603050405020304" pitchFamily="18" charset="0"/>
                <a:cs typeface="Times New Roman" panose="02020603050405020304" pitchFamily="18" charset="0"/>
              </a:rPr>
              <a:t>Data Preprocessing and Feature Engineering.</a:t>
            </a:r>
          </a:p>
          <a:p>
            <a:pPr algn="just">
              <a:lnSpc>
                <a:spcPct val="170000"/>
              </a:lnSpc>
              <a:buFont typeface="Wingdings" pitchFamily="2" charset="2"/>
              <a:buChar char="Ø"/>
            </a:pPr>
            <a:r>
              <a:rPr lang="en-IN" sz="1800" dirty="0">
                <a:latin typeface="Times New Roman" panose="02020603050405020304" pitchFamily="18" charset="0"/>
                <a:cs typeface="Times New Roman" panose="02020603050405020304" pitchFamily="18" charset="0"/>
              </a:rPr>
              <a:t>Machine Learning-Based Prediction.</a:t>
            </a:r>
          </a:p>
          <a:p>
            <a:pPr marL="0" indent="0" algn="just">
              <a:lnSpc>
                <a:spcPct val="170000"/>
              </a:lnSpc>
              <a:buNone/>
            </a:pPr>
            <a:r>
              <a:rPr lang="en-IN" sz="1800" b="1" dirty="0">
                <a:latin typeface="Times New Roman" panose="02020603050405020304" pitchFamily="18" charset="0"/>
                <a:cs typeface="Times New Roman" panose="02020603050405020304" pitchFamily="18" charset="0"/>
              </a:rPr>
              <a:t>ADVANTAGES:</a:t>
            </a:r>
            <a:endParaRPr lang="en-IN" sz="1800" dirty="0">
              <a:latin typeface="Times New Roman" panose="02020603050405020304" pitchFamily="18" charset="0"/>
              <a:cs typeface="Times New Roman" panose="02020603050405020304" pitchFamily="18" charset="0"/>
            </a:endParaRPr>
          </a:p>
          <a:p>
            <a:pPr algn="just">
              <a:lnSpc>
                <a:spcPct val="170000"/>
              </a:lnSpc>
              <a:buFont typeface="Wingdings" pitchFamily="2" charset="2"/>
              <a:buChar char="Ø"/>
            </a:pPr>
            <a:r>
              <a:rPr lang="en-IN" sz="1800" dirty="0">
                <a:latin typeface="Times New Roman" panose="02020603050405020304" pitchFamily="18" charset="0"/>
                <a:cs typeface="Times New Roman" panose="02020603050405020304" pitchFamily="18" charset="0"/>
              </a:rPr>
              <a:t>Faster loan processing.</a:t>
            </a:r>
          </a:p>
          <a:p>
            <a:pPr algn="just">
              <a:lnSpc>
                <a:spcPct val="170000"/>
              </a:lnSpc>
              <a:buFont typeface="Wingdings" pitchFamily="2" charset="2"/>
              <a:buChar char="Ø"/>
            </a:pPr>
            <a:r>
              <a:rPr lang="en-IN" sz="1800" dirty="0">
                <a:latin typeface="Times New Roman" panose="02020603050405020304" pitchFamily="18" charset="0"/>
                <a:cs typeface="Times New Roman" panose="02020603050405020304" pitchFamily="18" charset="0"/>
              </a:rPr>
              <a:t>Higher accuracy due to data-driven decisions.</a:t>
            </a: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7</a:t>
            </a:fld>
            <a:endParaRPr lang="en-IN"/>
          </a:p>
        </p:txBody>
      </p:sp>
    </p:spTree>
    <p:extLst>
      <p:ext uri="{BB962C8B-B14F-4D97-AF65-F5344CB8AC3E}">
        <p14:creationId xmlns:p14="http://schemas.microsoft.com/office/powerpoint/2010/main" val="4064891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MODULES (SPLIT – UP)</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195718"/>
            <a:ext cx="12191999" cy="4973314"/>
          </a:xfrm>
        </p:spPr>
        <p:txBody>
          <a:bodyPr>
            <a:normAutofit fontScale="92500" lnSpcReduction="10000"/>
          </a:bodyPr>
          <a:lstStyle/>
          <a:p>
            <a:pPr marL="0" indent="0" algn="just">
              <a:buNone/>
            </a:pPr>
            <a:r>
              <a:rPr lang="en-IN" sz="2200" b="1" dirty="0">
                <a:latin typeface="Times New Roman" panose="02020603050405020304" pitchFamily="18" charset="0"/>
                <a:cs typeface="Times New Roman" panose="02020603050405020304" pitchFamily="18" charset="0"/>
              </a:rPr>
              <a:t>1. DATA COLLECTION MODULE:</a:t>
            </a:r>
          </a:p>
          <a:p>
            <a:pPr marL="0" indent="0" algn="just">
              <a:buNone/>
            </a:pPr>
            <a:r>
              <a:rPr lang="en-IN" sz="2200" dirty="0">
                <a:latin typeface="Times New Roman" panose="02020603050405020304" pitchFamily="18" charset="0"/>
                <a:cs typeface="Times New Roman" panose="02020603050405020304" pitchFamily="18" charset="0"/>
              </a:rPr>
              <a:t>    Collect dataset from sources such as Kaggle, UCI Repository, or bank records.</a:t>
            </a:r>
          </a:p>
          <a:p>
            <a:pPr marL="0" indent="0" algn="just">
              <a:buNone/>
            </a:pPr>
            <a:r>
              <a:rPr lang="en-IN" sz="2200" b="1" dirty="0">
                <a:latin typeface="Times New Roman" panose="02020603050405020304" pitchFamily="18" charset="0"/>
                <a:cs typeface="Times New Roman" panose="02020603050405020304" pitchFamily="18" charset="0"/>
              </a:rPr>
              <a:t>2. DATA PREPROCESSING MODULE:</a:t>
            </a:r>
          </a:p>
          <a:p>
            <a:pPr marL="0" indent="0" algn="just">
              <a:buNone/>
            </a:pPr>
            <a:r>
              <a:rPr lang="en-IN" sz="2200" dirty="0">
                <a:latin typeface="Times New Roman" panose="02020603050405020304" pitchFamily="18" charset="0"/>
                <a:cs typeface="Times New Roman" panose="02020603050405020304" pitchFamily="18" charset="0"/>
              </a:rPr>
              <a:t>    Handle missing values (mean/median/mode imputation).</a:t>
            </a:r>
          </a:p>
          <a:p>
            <a:pPr marL="0" indent="0" algn="just">
              <a:buNone/>
            </a:pPr>
            <a:r>
              <a:rPr lang="en-IN" sz="2200" b="1" dirty="0">
                <a:latin typeface="Times New Roman" panose="02020603050405020304" pitchFamily="18" charset="0"/>
                <a:cs typeface="Times New Roman" panose="02020603050405020304" pitchFamily="18" charset="0"/>
              </a:rPr>
              <a:t>3. FEATURE SELECTION MODULE:</a:t>
            </a:r>
          </a:p>
          <a:p>
            <a:pPr marL="0" indent="0" algn="just">
              <a:buNone/>
            </a:pPr>
            <a:r>
              <a:rPr lang="en-IN" sz="2200" dirty="0">
                <a:latin typeface="Times New Roman" panose="02020603050405020304" pitchFamily="18" charset="0"/>
                <a:cs typeface="Times New Roman" panose="02020603050405020304" pitchFamily="18" charset="0"/>
              </a:rPr>
              <a:t>    Select meaningful attributes that influence loan approval.</a:t>
            </a:r>
          </a:p>
          <a:p>
            <a:pPr marL="0" indent="0" algn="just">
              <a:buNone/>
            </a:pPr>
            <a:r>
              <a:rPr lang="en-IN" sz="2200" b="1" dirty="0">
                <a:latin typeface="Times New Roman" panose="02020603050405020304" pitchFamily="18" charset="0"/>
                <a:cs typeface="Times New Roman" panose="02020603050405020304" pitchFamily="18" charset="0"/>
              </a:rPr>
              <a:t>4. MODEL BUILDING MODULE:</a:t>
            </a:r>
          </a:p>
          <a:p>
            <a:pPr marL="0" indent="0" algn="just">
              <a:buNone/>
            </a:pPr>
            <a:r>
              <a:rPr lang="en-IN" sz="2200" dirty="0">
                <a:latin typeface="Times New Roman" panose="02020603050405020304" pitchFamily="18" charset="0"/>
                <a:cs typeface="Times New Roman" panose="02020603050405020304" pitchFamily="18" charset="0"/>
              </a:rPr>
              <a:t>     Train multiple machine learning models such as:</a:t>
            </a:r>
          </a:p>
          <a:p>
            <a:pPr lvl="1" algn="just">
              <a:buFont typeface="Wingdings" pitchFamily="2" charset="2"/>
              <a:buChar char="Ø"/>
            </a:pPr>
            <a:r>
              <a:rPr lang="en-IN" sz="2200" dirty="0">
                <a:latin typeface="Times New Roman" panose="02020603050405020304" pitchFamily="18" charset="0"/>
                <a:cs typeface="Times New Roman" panose="02020603050405020304" pitchFamily="18" charset="0"/>
              </a:rPr>
              <a:t>Logistic Regression</a:t>
            </a:r>
          </a:p>
          <a:p>
            <a:pPr lvl="1" algn="just">
              <a:buFont typeface="Wingdings" pitchFamily="2" charset="2"/>
              <a:buChar char="Ø"/>
            </a:pPr>
            <a:r>
              <a:rPr lang="en-IN" sz="2200" dirty="0">
                <a:latin typeface="Times New Roman" panose="02020603050405020304" pitchFamily="18" charset="0"/>
                <a:cs typeface="Times New Roman" panose="02020603050405020304" pitchFamily="18" charset="0"/>
              </a:rPr>
              <a:t>Decision Tree</a:t>
            </a:r>
          </a:p>
          <a:p>
            <a:pPr lvl="1" algn="just">
              <a:buFont typeface="Wingdings" pitchFamily="2" charset="2"/>
              <a:buChar char="Ø"/>
            </a:pPr>
            <a:r>
              <a:rPr lang="en-IN" sz="2200" dirty="0">
                <a:latin typeface="Times New Roman" panose="02020603050405020304" pitchFamily="18" charset="0"/>
                <a:cs typeface="Times New Roman" panose="02020603050405020304" pitchFamily="18" charset="0"/>
              </a:rPr>
              <a:t>Random Forest</a:t>
            </a:r>
          </a:p>
          <a:p>
            <a:pPr lvl="1" algn="just">
              <a:buFont typeface="Wingdings" pitchFamily="2" charset="2"/>
              <a:buChar char="Ø"/>
            </a:pPr>
            <a:r>
              <a:rPr lang="en-IN" sz="2200" dirty="0">
                <a:latin typeface="Times New Roman" panose="02020603050405020304" pitchFamily="18" charset="0"/>
                <a:cs typeface="Times New Roman" panose="02020603050405020304" pitchFamily="18" charset="0"/>
              </a:rPr>
              <a:t>SVM (Support Vector Machine)</a:t>
            </a:r>
          </a:p>
          <a:p>
            <a:pPr marL="0" indent="0" algn="just">
              <a:buNone/>
            </a:pPr>
            <a:r>
              <a:rPr lang="en-IN" sz="2200" b="1" dirty="0">
                <a:latin typeface="Times New Roman" panose="02020603050405020304" pitchFamily="18" charset="0"/>
                <a:cs typeface="Times New Roman" panose="02020603050405020304" pitchFamily="18" charset="0"/>
              </a:rPr>
              <a:t>5. PREDICTION MODULE:</a:t>
            </a:r>
          </a:p>
          <a:p>
            <a:pPr marL="0" indent="0" algn="just">
              <a:buNone/>
            </a:pPr>
            <a:r>
              <a:rPr lang="en-IN" sz="2200" dirty="0">
                <a:latin typeface="Times New Roman" panose="02020603050405020304" pitchFamily="18" charset="0"/>
                <a:cs typeface="Times New Roman" panose="02020603050405020304" pitchFamily="18" charset="0"/>
              </a:rPr>
              <a:t>    Input user/applicant details.</a:t>
            </a:r>
          </a:p>
          <a:p>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8</a:t>
            </a:fld>
            <a:endParaRPr lang="en-IN"/>
          </a:p>
        </p:txBody>
      </p:sp>
    </p:spTree>
    <p:extLst>
      <p:ext uri="{BB962C8B-B14F-4D97-AF65-F5344CB8AC3E}">
        <p14:creationId xmlns:p14="http://schemas.microsoft.com/office/powerpoint/2010/main" val="1429737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REFERENCES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0495720" y="6205445"/>
            <a:ext cx="7911547" cy="6071795"/>
          </a:xfrm>
        </p:spPr>
        <p:txBody>
          <a:bodyPr/>
          <a:lstStyle/>
          <a:p>
            <a:pPr marL="0" indent="0">
              <a:buNone/>
            </a:pPr>
            <a:endParaRPr lang="en-IN" dirty="0"/>
          </a:p>
          <a:p>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9</a:t>
            </a:fld>
            <a:endParaRPr lang="en-IN"/>
          </a:p>
        </p:txBody>
      </p:sp>
      <p:sp>
        <p:nvSpPr>
          <p:cNvPr id="11" name="Rectangle 4">
            <a:extLst>
              <a:ext uri="{FF2B5EF4-FFF2-40B4-BE49-F238E27FC236}">
                <a16:creationId xmlns:a16="http://schemas.microsoft.com/office/drawing/2014/main" id="{2C6A2104-A72D-B330-3049-AC65628C1475}"/>
              </a:ext>
            </a:extLst>
          </p:cNvPr>
          <p:cNvSpPr>
            <a:spLocks noChangeArrowheads="1"/>
          </p:cNvSpPr>
          <p:nvPr/>
        </p:nvSpPr>
        <p:spPr bwMode="auto">
          <a:xfrm>
            <a:off x="0" y="874101"/>
            <a:ext cx="12192000" cy="5109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defTabSz="914400" rtl="0" eaLnBrk="0" fontAlgn="base" latinLnBrk="0" hangingPunct="0">
              <a:lnSpc>
                <a:spcPct val="150000"/>
              </a:lnSpc>
              <a:spcBef>
                <a:spcPct val="0"/>
              </a:spcBef>
              <a:spcAft>
                <a:spcPct val="0"/>
              </a:spcAft>
              <a:buClrTx/>
              <a:buSzTx/>
              <a:tabLst/>
            </a:pPr>
            <a:r>
              <a:rPr lang="en-US" altLang="en-US" sz="2200" b="1" dirty="0">
                <a:latin typeface="Times New Roman" panose="02020603050405020304" pitchFamily="18" charset="0"/>
                <a:cs typeface="Times New Roman" panose="02020603050405020304" pitchFamily="18" charset="0"/>
              </a:rPr>
              <a:t>1.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Loan Eligibility Prediction Using Machine Learning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V. Sravan Kiran, B. Teja Reddy, D. Uday Kumar, K. Sai Avinash Varma, T.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Sheshi</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Kiran (IJRASET)</a:t>
            </a:r>
          </a:p>
          <a:p>
            <a:pPr marR="0" lvl="0" defTabSz="914400" rtl="0" eaLnBrk="0" fontAlgn="base" latinLnBrk="0" hangingPunct="0">
              <a:lnSpc>
                <a:spcPct val="150000"/>
              </a:lnSpc>
              <a:spcBef>
                <a:spcPct val="0"/>
              </a:spcBef>
              <a:spcAft>
                <a:spcPct val="0"/>
              </a:spcAft>
              <a:buClrTx/>
              <a:buSzTx/>
              <a:tabLst/>
            </a:pPr>
            <a:r>
              <a:rPr lang="en-US" altLang="en-US" sz="2200" b="1" dirty="0">
                <a:latin typeface="Times New Roman" panose="02020603050405020304" pitchFamily="18" charset="0"/>
                <a:cs typeface="Times New Roman" panose="02020603050405020304" pitchFamily="18" charset="0"/>
              </a:rPr>
              <a:t>2.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Predicting Bank Loan Eligibility Using Machine Learning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Swathi Y. (IJSREM / open-access)</a:t>
            </a:r>
          </a:p>
          <a:p>
            <a:pPr marR="0" lvl="0"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Loan Eligibility Prediction Using Machine Learning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Pinnamraju</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 S Priya, B. Bhanu Prakash (ISJEM, 2025)</a:t>
            </a:r>
          </a:p>
          <a:p>
            <a:pPr marR="0" lvl="0"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Predicting Loan Eligibility Approval Using Machine Learning Algorithms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Guangxuan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Chen (ICDSE 2024)</a:t>
            </a:r>
          </a:p>
          <a:p>
            <a:pPr marR="0" lvl="0" defTabSz="914400" rtl="0" eaLnBrk="0" fontAlgn="base" latinLnBrk="0" hangingPunct="0">
              <a:lnSpc>
                <a:spcPct val="150000"/>
              </a:lnSpc>
              <a:spcBef>
                <a:spcPct val="0"/>
              </a:spcBef>
              <a:spcAft>
                <a:spcPct val="0"/>
              </a:spcAft>
              <a:buClrTx/>
              <a:buSzTx/>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 A Comparative Study of Machine Learning Algorithms for Predicting Loan Default and Eligibility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Supreeth S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Athreyas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Thanmai B K, Varshini Kashyap S, Sukesh S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Bairy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Harish K (PiCES Journal, 2022)</a:t>
            </a:r>
          </a:p>
        </p:txBody>
      </p:sp>
    </p:spTree>
    <p:extLst>
      <p:ext uri="{BB962C8B-B14F-4D97-AF65-F5344CB8AC3E}">
        <p14:creationId xmlns:p14="http://schemas.microsoft.com/office/powerpoint/2010/main" val="21827340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normAutofit/>
          </a:bodyPr>
          <a:lstStyle/>
          <a:p>
            <a:pPr algn="ctr"/>
            <a:r>
              <a:rPr lang="en-IN" sz="3600" b="1" dirty="0">
                <a:latin typeface="Times New Roman" panose="02020603050405020304" pitchFamily="18" charset="0"/>
                <a:cs typeface="Times New Roman" panose="02020603050405020304" pitchFamily="18" charset="0"/>
              </a:rPr>
              <a:t>QUERIES ??</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10</a:t>
            </a:fld>
            <a:endParaRPr lang="en-IN"/>
          </a:p>
        </p:txBody>
      </p:sp>
    </p:spTree>
    <p:extLst>
      <p:ext uri="{BB962C8B-B14F-4D97-AF65-F5344CB8AC3E}">
        <p14:creationId xmlns:p14="http://schemas.microsoft.com/office/powerpoint/2010/main" val="1163273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10/12/25</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11</a:t>
            </a:fld>
            <a:endParaRPr lang="en-IN"/>
          </a:p>
        </p:txBody>
      </p:sp>
    </p:spTree>
    <p:extLst>
      <p:ext uri="{BB962C8B-B14F-4D97-AF65-F5344CB8AC3E}">
        <p14:creationId xmlns:p14="http://schemas.microsoft.com/office/powerpoint/2010/main" val="1134411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2038</TotalTime>
  <Words>1008</Words>
  <Application>Microsoft Macintosh PowerPoint</Application>
  <PresentationFormat>Widescreen</PresentationFormat>
  <Paragraphs>121</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Office Theme</vt:lpstr>
      <vt:lpstr>PowerPoint Presentation</vt:lpstr>
      <vt:lpstr>OUTLINE </vt:lpstr>
      <vt:lpstr>ABSTRACT</vt:lpstr>
      <vt:lpstr>INTRODUCTION</vt:lpstr>
      <vt:lpstr>LITERATURE SURVEY</vt:lpstr>
      <vt:lpstr>EXISTING SYSTEM</vt:lpstr>
      <vt:lpstr>PROPOSED SYSTEM</vt:lpstr>
      <vt:lpstr>MODULES (SPLIT – UP)</vt:lpstr>
      <vt:lpstr>REFERENCES </vt:lpstr>
      <vt:lpstr>QUERIES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Pravallika Reddy</dc:creator>
  <cp:lastModifiedBy>MACHKURI RAJESH</cp:lastModifiedBy>
  <cp:revision>94</cp:revision>
  <dcterms:created xsi:type="dcterms:W3CDTF">2021-05-18T14:01:25Z</dcterms:created>
  <dcterms:modified xsi:type="dcterms:W3CDTF">2025-12-11T05:11:09Z</dcterms:modified>
</cp:coreProperties>
</file>