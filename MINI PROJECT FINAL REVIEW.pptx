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8387" y="701693"/>
            <a:ext cx="999522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2805" y="1671878"/>
            <a:ext cx="10486389" cy="3648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rbi.org.in/" TargetMode="External"/><Relationship Id="rId3" Type="http://schemas.openxmlformats.org/officeDocument/2006/relationships/hyperlink" Target="https://www.kaggle.com/" TargetMode="External"/><Relationship Id="rId4" Type="http://schemas.openxmlformats.org/officeDocument/2006/relationships/hyperlink" Target="https://scikit-learn.org/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034" y="94409"/>
            <a:ext cx="1460906" cy="124011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71343" y="118272"/>
            <a:ext cx="681990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St.</a:t>
            </a:r>
            <a:r>
              <a:rPr dirty="0" sz="2800" spc="-95"/>
              <a:t> </a:t>
            </a:r>
            <a:r>
              <a:rPr dirty="0" sz="2800"/>
              <a:t>MARTIN’S</a:t>
            </a:r>
            <a:r>
              <a:rPr dirty="0" sz="2800" spc="-90"/>
              <a:t> </a:t>
            </a:r>
            <a:r>
              <a:rPr dirty="0" sz="2800"/>
              <a:t>ENGINEERING</a:t>
            </a:r>
            <a:r>
              <a:rPr dirty="0" sz="2800" spc="-95"/>
              <a:t> </a:t>
            </a:r>
            <a:r>
              <a:rPr dirty="0" sz="2800" spc="-10"/>
              <a:t>COLLEGE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4377376" y="548914"/>
            <a:ext cx="3190875" cy="852169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943610">
              <a:lnSpc>
                <a:spcPct val="100000"/>
              </a:lnSpc>
              <a:spcBef>
                <a:spcPts val="350"/>
              </a:spcBef>
            </a:pPr>
            <a:r>
              <a:rPr dirty="0" sz="1600" b="1">
                <a:latin typeface="Times New Roman"/>
                <a:cs typeface="Times New Roman"/>
              </a:rPr>
              <a:t>UGC</a:t>
            </a:r>
            <a:r>
              <a:rPr dirty="0" sz="1600" spc="-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Autonomous</a:t>
            </a:r>
            <a:endParaRPr sz="160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  <a:spcBef>
                <a:spcPts val="250"/>
              </a:spcBef>
            </a:pPr>
            <a:r>
              <a:rPr dirty="0" sz="1600" b="1">
                <a:latin typeface="Times New Roman"/>
                <a:cs typeface="Times New Roman"/>
              </a:rPr>
              <a:t>NBA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&amp;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NAAC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A+</a:t>
            </a:r>
            <a:r>
              <a:rPr dirty="0" sz="1600" spc="-10" b="1">
                <a:latin typeface="Times New Roman"/>
                <a:cs typeface="Times New Roman"/>
              </a:rPr>
              <a:t> ACCREDITED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600" b="1">
                <a:latin typeface="Times New Roman"/>
                <a:cs typeface="Times New Roman"/>
              </a:rPr>
              <a:t>Dhulapally,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Secunderabad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–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500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spc="-25" b="1">
                <a:latin typeface="Times New Roman"/>
                <a:cs typeface="Times New Roman"/>
              </a:rPr>
              <a:t>100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2387" y="0"/>
            <a:ext cx="2029612" cy="16323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70529" y="3730510"/>
            <a:ext cx="393509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17500" algn="l"/>
              </a:tabLst>
            </a:pPr>
            <a:r>
              <a:rPr dirty="0" sz="2400" b="1">
                <a:latin typeface="Times New Roman"/>
                <a:cs typeface="Times New Roman"/>
              </a:rPr>
              <a:t>M. </a:t>
            </a:r>
            <a:r>
              <a:rPr dirty="0" sz="2400" spc="-10" b="1">
                <a:latin typeface="Times New Roman"/>
                <a:cs typeface="Times New Roman"/>
              </a:rPr>
              <a:t>Rajesh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buAutoNum type="arabicPeriod"/>
              <a:tabLst>
                <a:tab pos="317500" algn="l"/>
              </a:tabLst>
            </a:pPr>
            <a:r>
              <a:rPr dirty="0" sz="2400" b="1">
                <a:latin typeface="Times New Roman"/>
                <a:cs typeface="Times New Roman"/>
              </a:rPr>
              <a:t>K.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Sree </a:t>
            </a:r>
            <a:r>
              <a:rPr dirty="0" sz="2400" spc="-10" b="1">
                <a:latin typeface="Times New Roman"/>
                <a:cs typeface="Times New Roman"/>
              </a:rPr>
              <a:t>Akhil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buAutoNum type="arabicPeriod"/>
              <a:tabLst>
                <a:tab pos="317500" algn="l"/>
              </a:tabLst>
            </a:pPr>
            <a:r>
              <a:rPr dirty="0" sz="2400" b="1">
                <a:latin typeface="Times New Roman"/>
                <a:cs typeface="Times New Roman"/>
              </a:rPr>
              <a:t>CH.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Ram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Mahideep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Varma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26586" y="3730510"/>
            <a:ext cx="196278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63500" marR="5080" indent="-51435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Times New Roman"/>
                <a:cs typeface="Times New Roman"/>
              </a:rPr>
              <a:t>(23K81A7296) (23K81A7292) (23K81A7279)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5241" y="1604606"/>
            <a:ext cx="9455785" cy="2151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670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Department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algn="ctr" marR="171450">
              <a:lnSpc>
                <a:spcPct val="100000"/>
              </a:lnSpc>
            </a:pPr>
            <a:r>
              <a:rPr dirty="0" sz="2400" spc="-10" b="1">
                <a:latin typeface="Times New Roman"/>
                <a:cs typeface="Times New Roman"/>
              </a:rPr>
              <a:t>ARTIFICIAL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INTELLIGENCE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&amp;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SCIENCE</a:t>
            </a:r>
            <a:endParaRPr sz="2400">
              <a:latin typeface="Times New Roman"/>
              <a:cs typeface="Times New Roman"/>
            </a:endParaRPr>
          </a:p>
          <a:p>
            <a:pPr algn="ctr" marR="166370">
              <a:lnSpc>
                <a:spcPts val="2265"/>
              </a:lnSpc>
              <a:spcBef>
                <a:spcPts val="980"/>
              </a:spcBef>
            </a:pPr>
            <a:r>
              <a:rPr dirty="0" sz="1900" b="1">
                <a:latin typeface="Times New Roman"/>
                <a:cs typeface="Times New Roman"/>
              </a:rPr>
              <a:t>Mini</a:t>
            </a:r>
            <a:r>
              <a:rPr dirty="0" sz="1900" spc="-25" b="1">
                <a:latin typeface="Times New Roman"/>
                <a:cs typeface="Times New Roman"/>
              </a:rPr>
              <a:t> </a:t>
            </a:r>
            <a:r>
              <a:rPr dirty="0" sz="1900" b="1">
                <a:latin typeface="Times New Roman"/>
                <a:cs typeface="Times New Roman"/>
              </a:rPr>
              <a:t>Project</a:t>
            </a:r>
            <a:r>
              <a:rPr dirty="0" sz="1900" spc="-25" b="1">
                <a:latin typeface="Times New Roman"/>
                <a:cs typeface="Times New Roman"/>
              </a:rPr>
              <a:t> on</a:t>
            </a: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ts val="3345"/>
              </a:lnSpc>
            </a:pPr>
            <a:r>
              <a:rPr dirty="0" sz="2800" b="1">
                <a:latin typeface="Times New Roman"/>
                <a:cs typeface="Times New Roman"/>
              </a:rPr>
              <a:t>Loan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Eligibility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Prediction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for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Banks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Machine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Learning</a:t>
            </a:r>
            <a:endParaRPr sz="2800">
              <a:latin typeface="Times New Roman"/>
              <a:cs typeface="Times New Roman"/>
            </a:endParaRPr>
          </a:p>
          <a:p>
            <a:pPr algn="ctr" marR="166370">
              <a:lnSpc>
                <a:spcPct val="100000"/>
              </a:lnSpc>
              <a:spcBef>
                <a:spcPts val="1510"/>
              </a:spcBef>
            </a:pPr>
            <a:r>
              <a:rPr dirty="0" sz="2400" b="1">
                <a:latin typeface="Times New Roman"/>
                <a:cs typeface="Times New Roman"/>
              </a:rPr>
              <a:t>Batch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No: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13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22609" y="5219103"/>
            <a:ext cx="684339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861185" marR="1850389" indent="-127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Under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Guidance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of </a:t>
            </a:r>
            <a:r>
              <a:rPr dirty="0" sz="2400" b="1">
                <a:latin typeface="Times New Roman"/>
                <a:cs typeface="Times New Roman"/>
              </a:rPr>
              <a:t>Mr.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V.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Vishnu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Vardhan </a:t>
            </a:r>
            <a:r>
              <a:rPr dirty="0" sz="2400" b="1">
                <a:latin typeface="Times New Roman"/>
                <a:cs typeface="Times New Roman"/>
              </a:rPr>
              <a:t>Assistant</a:t>
            </a:r>
            <a:r>
              <a:rPr dirty="0" sz="2400" spc="-11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Professor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Department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Artificial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Intelligence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&amp;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Science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433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057"/>
            <a:ext cx="5374005" cy="4600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79166"/>
              <a:buAutoNum type="arabicPeriod"/>
              <a:tabLst>
                <a:tab pos="469265" algn="l"/>
              </a:tabLst>
            </a:pPr>
            <a:r>
              <a:rPr dirty="0" sz="2400" spc="-10">
                <a:latin typeface="Times New Roman"/>
                <a:cs typeface="Times New Roman"/>
              </a:rPr>
              <a:t>Abstract.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855"/>
              </a:spcBef>
              <a:buSzPct val="79166"/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Overall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Design.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855"/>
              </a:spcBef>
              <a:buSzPct val="79166"/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Experimental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Results.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855"/>
              </a:spcBef>
              <a:buSzPct val="79166"/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Performance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Evaluation.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855"/>
              </a:spcBef>
              <a:buSzPct val="79166"/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Conclusion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Future</a:t>
            </a:r>
            <a:r>
              <a:rPr dirty="0" sz="2400" spc="-10">
                <a:latin typeface="Times New Roman"/>
                <a:cs typeface="Times New Roman"/>
              </a:rPr>
              <a:t> Enhancement.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855"/>
              </a:spcBef>
              <a:buSzPct val="79166"/>
              <a:buAutoNum type="arabicPeriod"/>
              <a:tabLst>
                <a:tab pos="469265" algn="l"/>
              </a:tabLst>
            </a:pPr>
            <a:r>
              <a:rPr dirty="0" sz="2400" spc="-10">
                <a:latin typeface="Times New Roman"/>
                <a:cs typeface="Times New Roman"/>
              </a:rPr>
              <a:t>References.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855"/>
              </a:spcBef>
              <a:buSzPct val="79166"/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Contribution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Project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(Impact).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855"/>
              </a:spcBef>
              <a:buSzPct val="79166"/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100%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Code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Implementation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Demo.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528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22552"/>
            <a:ext cx="10358120" cy="467677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demand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loans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has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increased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significantly</a:t>
            </a:r>
            <a:r>
              <a:rPr dirty="0" sz="2800" spc="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both</a:t>
            </a:r>
            <a:r>
              <a:rPr dirty="0" sz="2800" spc="70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personal</a:t>
            </a:r>
            <a:r>
              <a:rPr dirty="0" sz="2800" spc="2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and </a:t>
            </a:r>
            <a:r>
              <a:rPr dirty="0" sz="2800" b="1">
                <a:latin typeface="Times New Roman"/>
                <a:cs typeface="Times New Roman"/>
              </a:rPr>
              <a:t>business</a:t>
            </a:r>
            <a:r>
              <a:rPr dirty="0" sz="2800" spc="2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purposes</a:t>
            </a:r>
            <a:r>
              <a:rPr dirty="0" sz="2800">
                <a:latin typeface="Times New Roman"/>
                <a:cs typeface="Times New Roman"/>
              </a:rPr>
              <a:t>.</a:t>
            </a:r>
            <a:r>
              <a:rPr dirty="0" sz="2800" spc="2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Due</a:t>
            </a:r>
            <a:r>
              <a:rPr dirty="0" sz="2800" spc="2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2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limited</a:t>
            </a:r>
            <a:r>
              <a:rPr dirty="0" sz="2800" spc="2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assets,</a:t>
            </a:r>
            <a:r>
              <a:rPr dirty="0" sz="2800" spc="2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banks</a:t>
            </a:r>
            <a:r>
              <a:rPr dirty="0" sz="2800" spc="2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cannot</a:t>
            </a:r>
            <a:r>
              <a:rPr dirty="0" sz="2800" spc="2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grant</a:t>
            </a:r>
            <a:r>
              <a:rPr dirty="0" sz="2800" spc="2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loans</a:t>
            </a:r>
            <a:r>
              <a:rPr dirty="0" sz="2800" spc="29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to </a:t>
            </a:r>
            <a:r>
              <a:rPr dirty="0" sz="2800">
                <a:latin typeface="Times New Roman"/>
                <a:cs typeface="Times New Roman"/>
              </a:rPr>
              <a:t>every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applicant.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Loan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approval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processes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banks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often</a:t>
            </a:r>
            <a:r>
              <a:rPr dirty="0" sz="2800" spc="-10">
                <a:latin typeface="Times New Roman"/>
                <a:cs typeface="Times New Roman"/>
              </a:rPr>
              <a:t> depend </a:t>
            </a:r>
            <a:r>
              <a:rPr dirty="0" sz="2800">
                <a:latin typeface="Times New Roman"/>
                <a:cs typeface="Times New Roman"/>
              </a:rPr>
              <a:t>on</a:t>
            </a:r>
            <a:r>
              <a:rPr dirty="0" sz="2800" spc="270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manual</a:t>
            </a:r>
            <a:r>
              <a:rPr dirty="0" sz="2800" spc="27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process,</a:t>
            </a:r>
            <a:r>
              <a:rPr dirty="0" sz="2800" spc="27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which</a:t>
            </a:r>
            <a:r>
              <a:rPr dirty="0" sz="2800" spc="27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leads</a:t>
            </a:r>
            <a:r>
              <a:rPr dirty="0" sz="2800" spc="27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to</a:t>
            </a:r>
            <a:r>
              <a:rPr dirty="0" sz="2800" spc="27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delays,</a:t>
            </a:r>
            <a:r>
              <a:rPr dirty="0" sz="2800" spc="27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biases,</a:t>
            </a:r>
            <a:r>
              <a:rPr dirty="0" sz="2800" spc="27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27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high</a:t>
            </a:r>
            <a:r>
              <a:rPr dirty="0" sz="2800" spc="27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default </a:t>
            </a:r>
            <a:r>
              <a:rPr dirty="0" sz="2800" b="1">
                <a:latin typeface="Times New Roman"/>
                <a:cs typeface="Times New Roman"/>
              </a:rPr>
              <a:t>risks</a:t>
            </a:r>
            <a:r>
              <a:rPr dirty="0" sz="2800">
                <a:latin typeface="Times New Roman"/>
                <a:cs typeface="Times New Roman"/>
              </a:rPr>
              <a:t>.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So,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5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this</a:t>
            </a:r>
            <a:r>
              <a:rPr dirty="0" sz="2800" spc="28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project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we</a:t>
            </a:r>
            <a:r>
              <a:rPr dirty="0" sz="2800" spc="5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introduces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5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machine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learning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-</a:t>
            </a:r>
            <a:r>
              <a:rPr dirty="0" sz="2800" spc="5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based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3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3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predict</a:t>
            </a:r>
            <a:r>
              <a:rPr dirty="0" sz="2800" spc="3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loan</a:t>
            </a:r>
            <a:r>
              <a:rPr dirty="0" sz="2800" spc="3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eligibility</a:t>
            </a:r>
            <a:r>
              <a:rPr dirty="0" sz="2800" spc="3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accurately</a:t>
            </a:r>
            <a:r>
              <a:rPr dirty="0" sz="2800" spc="3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3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efficiently</a:t>
            </a:r>
            <a:r>
              <a:rPr dirty="0" sz="2800" spc="3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36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within </a:t>
            </a:r>
            <a:r>
              <a:rPr dirty="0" sz="2800">
                <a:latin typeface="Times New Roman"/>
                <a:cs typeface="Times New Roman"/>
              </a:rPr>
              <a:t>less</a:t>
            </a:r>
            <a:r>
              <a:rPr dirty="0" sz="2800" spc="114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time.</a:t>
            </a:r>
            <a:r>
              <a:rPr dirty="0" sz="2800" spc="12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12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114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datasets</a:t>
            </a:r>
            <a:r>
              <a:rPr dirty="0" sz="2800" spc="12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including</a:t>
            </a:r>
            <a:r>
              <a:rPr dirty="0" sz="2800" spc="12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features</a:t>
            </a:r>
            <a:r>
              <a:rPr dirty="0" sz="2800" spc="114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like</a:t>
            </a:r>
            <a:r>
              <a:rPr dirty="0" sz="2800" spc="130">
                <a:latin typeface="Times New Roman"/>
                <a:cs typeface="Times New Roman"/>
              </a:rPr>
              <a:t>  </a:t>
            </a:r>
            <a:r>
              <a:rPr dirty="0" sz="2800" b="1">
                <a:latin typeface="Times New Roman"/>
                <a:cs typeface="Times New Roman"/>
              </a:rPr>
              <a:t>income,</a:t>
            </a:r>
            <a:r>
              <a:rPr dirty="0" sz="2800" spc="120" b="1">
                <a:latin typeface="Times New Roman"/>
                <a:cs typeface="Times New Roman"/>
              </a:rPr>
              <a:t>  </a:t>
            </a:r>
            <a:r>
              <a:rPr dirty="0" sz="2800" spc="-10" b="1">
                <a:latin typeface="Times New Roman"/>
                <a:cs typeface="Times New Roman"/>
              </a:rPr>
              <a:t>credit </a:t>
            </a:r>
            <a:r>
              <a:rPr dirty="0" sz="2800" b="1">
                <a:latin typeface="Times New Roman"/>
                <a:cs typeface="Times New Roman"/>
              </a:rPr>
              <a:t>history,</a:t>
            </a:r>
            <a:r>
              <a:rPr dirty="0" sz="2800" spc="58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employment</a:t>
            </a:r>
            <a:r>
              <a:rPr dirty="0" sz="2800" spc="5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status,</a:t>
            </a:r>
            <a:r>
              <a:rPr dirty="0" sz="2800" spc="58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loan</a:t>
            </a:r>
            <a:r>
              <a:rPr dirty="0" sz="2800" spc="5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amount,</a:t>
            </a:r>
            <a:r>
              <a:rPr dirty="0" sz="2800" spc="5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58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tenure.</a:t>
            </a:r>
            <a:r>
              <a:rPr dirty="0" sz="2800" spc="62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5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this</a:t>
            </a:r>
            <a:r>
              <a:rPr dirty="0" sz="2800" spc="59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we </a:t>
            </a:r>
            <a:r>
              <a:rPr dirty="0" sz="2800">
                <a:latin typeface="Times New Roman"/>
                <a:cs typeface="Times New Roman"/>
              </a:rPr>
              <a:t>applied</a:t>
            </a:r>
            <a:r>
              <a:rPr dirty="0" sz="2800" spc="395">
                <a:latin typeface="Times New Roman"/>
                <a:cs typeface="Times New Roman"/>
              </a:rPr>
              <a:t>   </a:t>
            </a:r>
            <a:r>
              <a:rPr dirty="0" sz="2800" b="1">
                <a:latin typeface="Times New Roman"/>
                <a:cs typeface="Times New Roman"/>
              </a:rPr>
              <a:t>supervised</a:t>
            </a:r>
            <a:r>
              <a:rPr dirty="0" sz="2800" spc="400" b="1">
                <a:latin typeface="Times New Roman"/>
                <a:cs typeface="Times New Roman"/>
              </a:rPr>
              <a:t>   </a:t>
            </a:r>
            <a:r>
              <a:rPr dirty="0" sz="2800" b="1">
                <a:latin typeface="Times New Roman"/>
                <a:cs typeface="Times New Roman"/>
              </a:rPr>
              <a:t>learning</a:t>
            </a:r>
            <a:r>
              <a:rPr dirty="0" sz="2800" spc="395" b="1">
                <a:latin typeface="Times New Roman"/>
                <a:cs typeface="Times New Roman"/>
              </a:rPr>
              <a:t>   </a:t>
            </a:r>
            <a:r>
              <a:rPr dirty="0" sz="2800" b="1">
                <a:latin typeface="Times New Roman"/>
                <a:cs typeface="Times New Roman"/>
              </a:rPr>
              <a:t>algorithms</a:t>
            </a:r>
            <a:r>
              <a:rPr dirty="0" sz="2800" spc="400" b="1">
                <a:latin typeface="Times New Roman"/>
                <a:cs typeface="Times New Roman"/>
              </a:rPr>
              <a:t>   </a:t>
            </a:r>
            <a:r>
              <a:rPr dirty="0" sz="2800" b="1">
                <a:latin typeface="Times New Roman"/>
                <a:cs typeface="Times New Roman"/>
              </a:rPr>
              <a:t>including</a:t>
            </a:r>
            <a:r>
              <a:rPr dirty="0" sz="2800" spc="395" b="1">
                <a:latin typeface="Times New Roman"/>
                <a:cs typeface="Times New Roman"/>
              </a:rPr>
              <a:t>   </a:t>
            </a:r>
            <a:r>
              <a:rPr dirty="0" sz="2800" spc="-10" b="1">
                <a:latin typeface="Times New Roman"/>
                <a:cs typeface="Times New Roman"/>
              </a:rPr>
              <a:t>Logistic </a:t>
            </a:r>
            <a:r>
              <a:rPr dirty="0" sz="2800" b="1">
                <a:latin typeface="Times New Roman"/>
                <a:cs typeface="Times New Roman"/>
              </a:rPr>
              <a:t>Regression,</a:t>
            </a:r>
            <a:r>
              <a:rPr dirty="0" sz="2800" spc="5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Decision</a:t>
            </a:r>
            <a:r>
              <a:rPr dirty="0" sz="2800" spc="5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Trees,</a:t>
            </a:r>
            <a:r>
              <a:rPr dirty="0" sz="2800" spc="5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Random</a:t>
            </a:r>
            <a:r>
              <a:rPr dirty="0" sz="2800" spc="5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Forest,</a:t>
            </a:r>
            <a:r>
              <a:rPr dirty="0" sz="2800" spc="5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5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Support</a:t>
            </a:r>
            <a:r>
              <a:rPr dirty="0" sz="2800" spc="54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Vector </a:t>
            </a:r>
            <a:r>
              <a:rPr dirty="0" sz="2800" b="1">
                <a:latin typeface="Times New Roman"/>
                <a:cs typeface="Times New Roman"/>
              </a:rPr>
              <a:t>Machines</a:t>
            </a:r>
            <a:r>
              <a:rPr dirty="0" sz="2800">
                <a:latin typeface="Times New Roman"/>
                <a:cs typeface="Times New Roman"/>
              </a:rPr>
              <a:t>.</a:t>
            </a:r>
            <a:r>
              <a:rPr dirty="0" sz="2800" spc="5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5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preprocessing</a:t>
            </a:r>
            <a:r>
              <a:rPr dirty="0" sz="2800" spc="5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involves</a:t>
            </a:r>
            <a:r>
              <a:rPr dirty="0" sz="2800" spc="5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550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handling</a:t>
            </a:r>
            <a:r>
              <a:rPr dirty="0" sz="2800" spc="5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missing</a:t>
            </a:r>
            <a:r>
              <a:rPr dirty="0" sz="2800" spc="52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values, </a:t>
            </a:r>
            <a:r>
              <a:rPr dirty="0" sz="2800" b="1">
                <a:latin typeface="Times New Roman"/>
                <a:cs typeface="Times New Roman"/>
              </a:rPr>
              <a:t>encoding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categorical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variables</a:t>
            </a:r>
            <a:r>
              <a:rPr dirty="0" sz="2800" spc="-1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33065">
              <a:lnSpc>
                <a:spcPct val="100000"/>
              </a:lnSpc>
              <a:spcBef>
                <a:spcPts val="100"/>
              </a:spcBef>
            </a:pPr>
            <a:r>
              <a:rPr dirty="0"/>
              <a:t>OVERALL</a:t>
            </a:r>
            <a:r>
              <a:rPr dirty="0" spc="-15"/>
              <a:t> </a:t>
            </a:r>
            <a:r>
              <a:rPr dirty="0" spc="-1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7097" y="1690687"/>
            <a:ext cx="7337818" cy="46639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31364">
              <a:lnSpc>
                <a:spcPct val="100000"/>
              </a:lnSpc>
              <a:spcBef>
                <a:spcPts val="100"/>
              </a:spcBef>
            </a:pPr>
            <a:r>
              <a:rPr dirty="0"/>
              <a:t>EXPERIMENTAL</a:t>
            </a:r>
            <a:r>
              <a:rPr dirty="0" spc="-150"/>
              <a:t> </a:t>
            </a:r>
            <a:r>
              <a:rPr dirty="0" spc="-1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909673"/>
            <a:ext cx="3478923" cy="30386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56010" y="1909673"/>
            <a:ext cx="3018866" cy="30386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38476" y="1909673"/>
            <a:ext cx="3115322" cy="32024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40195" y="5140578"/>
            <a:ext cx="12750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LOAN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STATUS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(Bar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Graph)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2395" y="5140578"/>
            <a:ext cx="27901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COMPARISON</a:t>
            </a:r>
            <a:r>
              <a:rPr dirty="0" sz="1400" b="1">
                <a:latin typeface="Times New Roman"/>
                <a:cs typeface="Times New Roman"/>
              </a:rPr>
              <a:t> OF</a:t>
            </a:r>
            <a:r>
              <a:rPr dirty="0" sz="1400" spc="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DEPENDENTS</a:t>
            </a:r>
            <a:endParaRPr sz="1400">
              <a:latin typeface="Times New Roman"/>
              <a:cs typeface="Times New Roman"/>
            </a:endParaRPr>
          </a:p>
          <a:p>
            <a:pPr algn="ctr" marL="5588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(Pie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Chart)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47590" y="5186743"/>
            <a:ext cx="27012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COMPARISION </a:t>
            </a:r>
            <a:r>
              <a:rPr dirty="0" sz="1400" b="1">
                <a:latin typeface="Times New Roman"/>
                <a:cs typeface="Times New Roman"/>
              </a:rPr>
              <a:t>IN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EDUCATION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(Stacked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Bar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Chart)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005" y="1659343"/>
            <a:ext cx="3138970" cy="31885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9996" y="1659343"/>
            <a:ext cx="3138970" cy="3130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73987" y="1659343"/>
            <a:ext cx="3610368" cy="31138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5008" y="5227104"/>
            <a:ext cx="31311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COMPARISION </a:t>
            </a:r>
            <a:r>
              <a:rPr dirty="0" sz="1400" b="1">
                <a:latin typeface="Times New Roman"/>
                <a:cs typeface="Times New Roman"/>
              </a:rPr>
              <a:t>IN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SELF</a:t>
            </a:r>
            <a:r>
              <a:rPr dirty="0" sz="1400" spc="-10" b="1">
                <a:latin typeface="Times New Roman"/>
                <a:cs typeface="Times New Roman"/>
              </a:rPr>
              <a:t> EMPLOYED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(Stacked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Bar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Chart)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0832" y="5227104"/>
            <a:ext cx="18675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NO.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 </a:t>
            </a:r>
            <a:r>
              <a:rPr dirty="0" sz="1400" spc="-10" b="1">
                <a:latin typeface="Times New Roman"/>
                <a:cs typeface="Times New Roman"/>
              </a:rPr>
              <a:t>DEPENDENTS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(Stacked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Bar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Chart)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13011" y="5227104"/>
            <a:ext cx="31311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DISTRIBUTION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VARIABLES</a:t>
            </a:r>
            <a:endParaRPr sz="1400">
              <a:latin typeface="Times New Roman"/>
              <a:cs typeface="Times New Roman"/>
            </a:endParaRPr>
          </a:p>
          <a:p>
            <a:pPr algn="ctr" marL="127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(Histogram)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525" y="419647"/>
            <a:ext cx="4061002" cy="236110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23403" y="1105427"/>
            <a:ext cx="45085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CHECKING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OUTLIERS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NUMERICAL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COLUMNS</a:t>
            </a:r>
            <a:endParaRPr sz="1400">
              <a:latin typeface="Times New Roman"/>
              <a:cs typeface="Times New Roman"/>
            </a:endParaRPr>
          </a:p>
          <a:p>
            <a:pPr algn="ctr" marL="1905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(Box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Plot)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6792" y="3195840"/>
            <a:ext cx="34029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REPRESENTATION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ALL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DATA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SETS</a:t>
            </a:r>
            <a:endParaRPr sz="14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(Histogram)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2577" y="2287104"/>
            <a:ext cx="4540173" cy="22837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525" y="4077246"/>
            <a:ext cx="4266260" cy="236110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02973" y="5024640"/>
            <a:ext cx="27755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COMPARISON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ALL</a:t>
            </a:r>
            <a:r>
              <a:rPr dirty="0" sz="1400" spc="-10" b="1">
                <a:latin typeface="Times New Roman"/>
                <a:cs typeface="Times New Roman"/>
              </a:rPr>
              <a:t> MODELS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(Grouped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Bar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Chart)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87500">
              <a:lnSpc>
                <a:spcPct val="100000"/>
              </a:lnSpc>
              <a:spcBef>
                <a:spcPts val="100"/>
              </a:spcBef>
            </a:pPr>
            <a:r>
              <a:rPr dirty="0"/>
              <a:t>PERFORMANCE</a:t>
            </a:r>
            <a:r>
              <a:rPr dirty="0" spc="-165"/>
              <a:t> </a:t>
            </a:r>
            <a:r>
              <a:rPr dirty="0" spc="-1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1878"/>
            <a:ext cx="10358755" cy="377888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241300" marR="9525" indent="-228600">
              <a:lnSpc>
                <a:spcPts val="3020"/>
              </a:lnSpc>
              <a:spcBef>
                <a:spcPts val="480"/>
              </a:spcBef>
              <a:buFont typeface="Segoe UI Symbol"/>
              <a:buChar char="➢"/>
              <a:tabLst>
                <a:tab pos="241300" algn="l"/>
                <a:tab pos="383540" algn="l"/>
              </a:tabLst>
            </a:pP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Performance</a:t>
            </a:r>
            <a:r>
              <a:rPr dirty="0" sz="2800" spc="32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evaluation</a:t>
            </a:r>
            <a:r>
              <a:rPr dirty="0" sz="2800" spc="32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32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used</a:t>
            </a:r>
            <a:r>
              <a:rPr dirty="0" sz="2800" spc="32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32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measure</a:t>
            </a:r>
            <a:r>
              <a:rPr dirty="0" sz="2800" spc="32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32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accuracy</a:t>
            </a:r>
            <a:r>
              <a:rPr dirty="0" sz="2800" spc="325">
                <a:latin typeface="Times New Roman"/>
                <a:cs typeface="Times New Roman"/>
              </a:rPr>
              <a:t>  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effectiveness</a:t>
            </a:r>
            <a:r>
              <a:rPr dirty="0" sz="2800" spc="2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2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machine</a:t>
            </a:r>
            <a:r>
              <a:rPr dirty="0" sz="2800" spc="2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learning</a:t>
            </a:r>
            <a:r>
              <a:rPr dirty="0" sz="2800" spc="2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models</a:t>
            </a:r>
            <a:r>
              <a:rPr dirty="0" sz="2800" spc="2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used</a:t>
            </a:r>
            <a:r>
              <a:rPr dirty="0" sz="2800" spc="2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2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loan</a:t>
            </a:r>
            <a:r>
              <a:rPr dirty="0" sz="2800" spc="25">
                <a:latin typeface="Times New Roman"/>
                <a:cs typeface="Times New Roman"/>
              </a:rPr>
              <a:t>  </a:t>
            </a:r>
            <a:r>
              <a:rPr dirty="0" sz="2800" spc="-10">
                <a:latin typeface="Times New Roman"/>
                <a:cs typeface="Times New Roman"/>
              </a:rPr>
              <a:t>eligibility </a:t>
            </a:r>
            <a:r>
              <a:rPr dirty="0" sz="2800">
                <a:latin typeface="Times New Roman"/>
                <a:cs typeface="Times New Roman"/>
              </a:rPr>
              <a:t>prediction.</a:t>
            </a:r>
            <a:r>
              <a:rPr dirty="0" sz="2800" spc="5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Different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evaluation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metrics</a:t>
            </a:r>
            <a:r>
              <a:rPr dirty="0" sz="2800" spc="5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are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applied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5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analyse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how </a:t>
            </a:r>
            <a:r>
              <a:rPr dirty="0" sz="2800">
                <a:latin typeface="Times New Roman"/>
                <a:cs typeface="Times New Roman"/>
              </a:rPr>
              <a:t>well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model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classifies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loan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applications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eligible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not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eligible.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Font typeface="Segoe UI Symbol"/>
              <a:buChar char="➢"/>
            </a:pPr>
            <a:endParaRPr sz="2800">
              <a:latin typeface="Times New Roman"/>
              <a:cs typeface="Times New Roman"/>
            </a:endParaRPr>
          </a:p>
          <a:p>
            <a:pPr algn="just" marL="241300" marR="5080" indent="-228600">
              <a:lnSpc>
                <a:spcPts val="3020"/>
              </a:lnSpc>
              <a:spcBef>
                <a:spcPts val="5"/>
              </a:spcBef>
              <a:buFont typeface="Segoe UI Symbol"/>
              <a:buChar char="➢"/>
              <a:tabLst>
                <a:tab pos="241300" algn="l"/>
                <a:tab pos="383540" algn="l"/>
              </a:tabLst>
            </a:pP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3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performance</a:t>
            </a:r>
            <a:r>
              <a:rPr dirty="0" sz="2800" spc="3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3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models</a:t>
            </a:r>
            <a:r>
              <a:rPr dirty="0" sz="2800" spc="3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such</a:t>
            </a:r>
            <a:r>
              <a:rPr dirty="0" sz="2800" spc="3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as</a:t>
            </a:r>
            <a:r>
              <a:rPr dirty="0" sz="2800" spc="380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Logistic</a:t>
            </a:r>
            <a:r>
              <a:rPr dirty="0" sz="2800" spc="3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Regression,</a:t>
            </a:r>
            <a:r>
              <a:rPr dirty="0" sz="2800" spc="35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Decision </a:t>
            </a:r>
            <a:r>
              <a:rPr dirty="0" sz="2800" b="1">
                <a:latin typeface="Times New Roman"/>
                <a:cs typeface="Times New Roman"/>
              </a:rPr>
              <a:t>Tree,</a:t>
            </a:r>
            <a:r>
              <a:rPr dirty="0" sz="2800" spc="10" b="1">
                <a:latin typeface="Times New Roman"/>
                <a:cs typeface="Times New Roman"/>
              </a:rPr>
              <a:t>  </a:t>
            </a:r>
            <a:r>
              <a:rPr dirty="0" sz="2800" b="1">
                <a:latin typeface="Times New Roman"/>
                <a:cs typeface="Times New Roman"/>
              </a:rPr>
              <a:t>Random</a:t>
            </a:r>
            <a:r>
              <a:rPr dirty="0" sz="2800" spc="15" b="1">
                <a:latin typeface="Times New Roman"/>
                <a:cs typeface="Times New Roman"/>
              </a:rPr>
              <a:t>  </a:t>
            </a:r>
            <a:r>
              <a:rPr dirty="0" sz="2800" b="1">
                <a:latin typeface="Times New Roman"/>
                <a:cs typeface="Times New Roman"/>
              </a:rPr>
              <a:t>Forest,</a:t>
            </a:r>
            <a:r>
              <a:rPr dirty="0" sz="2800" spc="10" b="1">
                <a:latin typeface="Times New Roman"/>
                <a:cs typeface="Times New Roman"/>
              </a:rPr>
              <a:t> 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15" b="1">
                <a:latin typeface="Times New Roman"/>
                <a:cs typeface="Times New Roman"/>
              </a:rPr>
              <a:t>  </a:t>
            </a:r>
            <a:r>
              <a:rPr dirty="0" sz="2800" b="1">
                <a:latin typeface="Times New Roman"/>
                <a:cs typeface="Times New Roman"/>
              </a:rPr>
              <a:t>Support</a:t>
            </a:r>
            <a:r>
              <a:rPr dirty="0" sz="2800" spc="10" b="1">
                <a:latin typeface="Times New Roman"/>
                <a:cs typeface="Times New Roman"/>
              </a:rPr>
              <a:t>  </a:t>
            </a:r>
            <a:r>
              <a:rPr dirty="0" sz="2800" b="1">
                <a:latin typeface="Times New Roman"/>
                <a:cs typeface="Times New Roman"/>
              </a:rPr>
              <a:t>Vector</a:t>
            </a:r>
            <a:r>
              <a:rPr dirty="0" sz="2800" spc="15" b="1">
                <a:latin typeface="Times New Roman"/>
                <a:cs typeface="Times New Roman"/>
              </a:rPr>
              <a:t>  </a:t>
            </a:r>
            <a:r>
              <a:rPr dirty="0" sz="2800" b="1">
                <a:latin typeface="Times New Roman"/>
                <a:cs typeface="Times New Roman"/>
              </a:rPr>
              <a:t>Machine</a:t>
            </a:r>
            <a:r>
              <a:rPr dirty="0" sz="2800" spc="10" b="1">
                <a:latin typeface="Times New Roman"/>
                <a:cs typeface="Times New Roman"/>
              </a:rPr>
              <a:t>  </a:t>
            </a:r>
            <a:r>
              <a:rPr dirty="0" sz="2800" b="1">
                <a:latin typeface="Times New Roman"/>
                <a:cs typeface="Times New Roman"/>
              </a:rPr>
              <a:t>(SVM)</a:t>
            </a:r>
            <a:r>
              <a:rPr dirty="0" sz="2800" spc="30" b="1">
                <a:latin typeface="Times New Roman"/>
                <a:cs typeface="Times New Roman"/>
              </a:rPr>
              <a:t>  </a:t>
            </a:r>
            <a:r>
              <a:rPr dirty="0" sz="2800" spc="-25">
                <a:latin typeface="Times New Roman"/>
                <a:cs typeface="Times New Roman"/>
              </a:rPr>
              <a:t>is </a:t>
            </a:r>
            <a:r>
              <a:rPr dirty="0" sz="2800">
                <a:latin typeface="Times New Roman"/>
                <a:cs typeface="Times New Roman"/>
              </a:rPr>
              <a:t>evaluated</a:t>
            </a:r>
            <a:r>
              <a:rPr dirty="0" sz="2800" spc="1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1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standard</a:t>
            </a:r>
            <a:r>
              <a:rPr dirty="0" sz="2800" spc="1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classification</a:t>
            </a:r>
            <a:r>
              <a:rPr dirty="0" sz="2800" spc="1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metrics</a:t>
            </a:r>
            <a:r>
              <a:rPr dirty="0" sz="2800" spc="215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(Accuracy,</a:t>
            </a:r>
            <a:r>
              <a:rPr dirty="0" sz="2800" spc="19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Precision, </a:t>
            </a:r>
            <a:r>
              <a:rPr dirty="0" sz="2800" b="1">
                <a:latin typeface="Times New Roman"/>
                <a:cs typeface="Times New Roman"/>
              </a:rPr>
              <a:t>Recall,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F1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Score).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25650" y="1177165"/>
          <a:ext cx="8216900" cy="2477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PRECISION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RECALL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F1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SCORE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146050" marR="139700" indent="163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LOGISTIC REGRESSION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82%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81%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83%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82%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535940" marR="303530" indent="-2260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DECISION 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TREE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79%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78%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80%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79%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405765" marR="337185" indent="-622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RANDOM FOREST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88%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87%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89%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88%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SVM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84%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83%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85%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84%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039031" y="3976014"/>
            <a:ext cx="8281670" cy="19297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831339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COMPARISON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ALL</a:t>
            </a:r>
            <a:r>
              <a:rPr dirty="0" sz="1400" spc="-10" b="1">
                <a:latin typeface="Times New Roman"/>
                <a:cs typeface="Times New Roman"/>
              </a:rPr>
              <a:t> MODELS</a:t>
            </a:r>
            <a:endParaRPr sz="1400">
              <a:latin typeface="Times New Roman"/>
              <a:cs typeface="Times New Roman"/>
            </a:endParaRPr>
          </a:p>
          <a:p>
            <a:pPr algn="ctr" marL="1831975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(Tabular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Format)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*Accuracy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shows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how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total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predictions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correct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out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loan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applications.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*Precision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tells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how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reliable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approves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loan.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*Recall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tells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how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well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identifies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applicants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should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actually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loan.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*F1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Score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tells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how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well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balances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false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approvals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missed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approvals.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/>
              <a:t>FUTURE</a:t>
            </a:r>
            <a:r>
              <a:rPr dirty="0" spc="-60"/>
              <a:t> </a:t>
            </a:r>
            <a:r>
              <a:rPr dirty="0" spc="-10"/>
              <a:t>ENHANCEMENT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88211"/>
            <a:ext cx="10355580" cy="433768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600" b="1">
                <a:latin typeface="Times New Roman"/>
                <a:cs typeface="Times New Roman"/>
              </a:rPr>
              <a:t>Conclusion:-</a:t>
            </a:r>
            <a:endParaRPr sz="2600">
              <a:latin typeface="Times New Roman"/>
              <a:cs typeface="Times New Roman"/>
            </a:endParaRPr>
          </a:p>
          <a:p>
            <a:pPr algn="just" marL="241300" marR="5080" indent="-228600">
              <a:lnSpc>
                <a:spcPct val="80000"/>
              </a:lnSpc>
              <a:spcBef>
                <a:spcPts val="1000"/>
              </a:spcBef>
              <a:buFont typeface="Segoe UI Symbol"/>
              <a:buChar char="➢"/>
              <a:tabLst>
                <a:tab pos="241300" algn="l"/>
                <a:tab pos="357505" algn="l"/>
              </a:tabLst>
            </a:pP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Our</a:t>
            </a:r>
            <a:r>
              <a:rPr dirty="0" sz="2600" spc="14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project</a:t>
            </a:r>
            <a:r>
              <a:rPr dirty="0" sz="2600" spc="155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Loan</a:t>
            </a:r>
            <a:r>
              <a:rPr dirty="0" sz="2600" spc="14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Eligibility</a:t>
            </a:r>
            <a:r>
              <a:rPr dirty="0" sz="2600" spc="15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Prediction</a:t>
            </a:r>
            <a:r>
              <a:rPr dirty="0" sz="2600" spc="15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for</a:t>
            </a:r>
            <a:r>
              <a:rPr dirty="0" sz="2600" spc="15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Banks</a:t>
            </a:r>
            <a:r>
              <a:rPr dirty="0" sz="2600" spc="15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using</a:t>
            </a:r>
            <a:r>
              <a:rPr dirty="0" sz="2600" spc="145" b="1">
                <a:latin typeface="Times New Roman"/>
                <a:cs typeface="Times New Roman"/>
              </a:rPr>
              <a:t>  </a:t>
            </a:r>
            <a:r>
              <a:rPr dirty="0" sz="2600" spc="-10" b="1">
                <a:latin typeface="Times New Roman"/>
                <a:cs typeface="Times New Roman"/>
              </a:rPr>
              <a:t>Machine </a:t>
            </a:r>
            <a:r>
              <a:rPr dirty="0" sz="2600" b="1">
                <a:latin typeface="Times New Roman"/>
                <a:cs typeface="Times New Roman"/>
              </a:rPr>
              <a:t>Learning</a:t>
            </a:r>
            <a:r>
              <a:rPr dirty="0" sz="2600" spc="-25" b="1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used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assist/support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banks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making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faster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more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accurate </a:t>
            </a:r>
            <a:r>
              <a:rPr dirty="0" sz="2600">
                <a:latin typeface="Times New Roman"/>
                <a:cs typeface="Times New Roman"/>
              </a:rPr>
              <a:t>loan</a:t>
            </a:r>
            <a:r>
              <a:rPr dirty="0" sz="2600" spc="2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approval</a:t>
            </a:r>
            <a:r>
              <a:rPr dirty="0" sz="2600" spc="2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decisions.</a:t>
            </a:r>
            <a:r>
              <a:rPr dirty="0" sz="2600" spc="285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The</a:t>
            </a:r>
            <a:r>
              <a:rPr dirty="0" sz="2600" spc="26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system</a:t>
            </a:r>
            <a:r>
              <a:rPr dirty="0" sz="2600" spc="26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uses</a:t>
            </a:r>
            <a:r>
              <a:rPr dirty="0" sz="2600" spc="26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historical</a:t>
            </a:r>
            <a:r>
              <a:rPr dirty="0" sz="2600" spc="26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loan</a:t>
            </a:r>
            <a:r>
              <a:rPr dirty="0" sz="2600" spc="26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applicant</a:t>
            </a:r>
            <a:r>
              <a:rPr dirty="0" sz="2600" spc="265" b="1">
                <a:latin typeface="Times New Roman"/>
                <a:cs typeface="Times New Roman"/>
              </a:rPr>
              <a:t> </a:t>
            </a:r>
            <a:r>
              <a:rPr dirty="0" sz="2600" spc="-20" b="1">
                <a:latin typeface="Times New Roman"/>
                <a:cs typeface="Times New Roman"/>
              </a:rPr>
              <a:t>data </a:t>
            </a:r>
            <a:r>
              <a:rPr dirty="0" sz="2600" b="1">
                <a:latin typeface="Times New Roman"/>
                <a:cs typeface="Times New Roman"/>
              </a:rPr>
              <a:t>and machine learning algorithms</a:t>
            </a:r>
            <a:r>
              <a:rPr dirty="0" sz="2600" spc="25" b="1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 predict whether a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customer is </a:t>
            </a:r>
            <a:r>
              <a:rPr dirty="0" sz="2600" spc="-10">
                <a:latin typeface="Times New Roman"/>
                <a:cs typeface="Times New Roman"/>
              </a:rPr>
              <a:t>eligible </a:t>
            </a:r>
            <a:r>
              <a:rPr dirty="0" sz="2600">
                <a:latin typeface="Times New Roman"/>
                <a:cs typeface="Times New Roman"/>
              </a:rPr>
              <a:t>for a </a:t>
            </a:r>
            <a:r>
              <a:rPr dirty="0" sz="2600" spc="-10">
                <a:latin typeface="Times New Roman"/>
                <a:cs typeface="Times New Roman"/>
              </a:rPr>
              <a:t>loan.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Font typeface="Segoe UI Symbol"/>
              <a:buChar char="➢"/>
            </a:pPr>
            <a:endParaRPr sz="2600">
              <a:latin typeface="Times New Roman"/>
              <a:cs typeface="Times New Roman"/>
            </a:endParaRPr>
          </a:p>
          <a:p>
            <a:pPr algn="just" marL="241300" marR="5080" indent="-228600">
              <a:lnSpc>
                <a:spcPts val="2500"/>
              </a:lnSpc>
              <a:buFont typeface="Segoe UI Symbol"/>
              <a:buChar char="➢"/>
              <a:tabLst>
                <a:tab pos="241300" algn="l"/>
                <a:tab pos="357505" algn="l"/>
              </a:tabLst>
            </a:pP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During the project development, </a:t>
            </a:r>
            <a:r>
              <a:rPr dirty="0" sz="2600" b="1">
                <a:latin typeface="Times New Roman"/>
                <a:cs typeface="Times New Roman"/>
              </a:rPr>
              <a:t>the dataset was collected and </a:t>
            </a:r>
            <a:r>
              <a:rPr dirty="0" sz="2600" spc="-20" b="1">
                <a:latin typeface="Times New Roman"/>
                <a:cs typeface="Times New Roman"/>
              </a:rPr>
              <a:t>pre-</a:t>
            </a:r>
            <a:r>
              <a:rPr dirty="0" sz="2600" b="1">
                <a:latin typeface="Times New Roman"/>
                <a:cs typeface="Times New Roman"/>
              </a:rPr>
              <a:t>processed</a:t>
            </a:r>
            <a:r>
              <a:rPr dirty="0" sz="2600" spc="33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by</a:t>
            </a:r>
            <a:r>
              <a:rPr dirty="0" sz="2600" spc="33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handling</a:t>
            </a:r>
            <a:r>
              <a:rPr dirty="0" sz="2600" spc="33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missing</a:t>
            </a:r>
            <a:r>
              <a:rPr dirty="0" sz="2600" spc="33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values,</a:t>
            </a:r>
            <a:r>
              <a:rPr dirty="0" sz="2600" spc="33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encoding</a:t>
            </a:r>
            <a:r>
              <a:rPr dirty="0" sz="2600" spc="33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categorical</a:t>
            </a:r>
            <a:r>
              <a:rPr dirty="0" sz="2600" spc="33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variables, </a:t>
            </a:r>
            <a:r>
              <a:rPr dirty="0" sz="2600" b="1">
                <a:latin typeface="Times New Roman"/>
                <a:cs typeface="Times New Roman"/>
              </a:rPr>
              <a:t>and</a:t>
            </a:r>
            <a:r>
              <a:rPr dirty="0" sz="2600" spc="39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normalizing</a:t>
            </a:r>
            <a:r>
              <a:rPr dirty="0" sz="2600" spc="39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the</a:t>
            </a:r>
            <a:r>
              <a:rPr dirty="0" sz="2600" spc="39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data</a:t>
            </a:r>
            <a:r>
              <a:rPr dirty="0" sz="2600">
                <a:latin typeface="Times New Roman"/>
                <a:cs typeface="Times New Roman"/>
              </a:rPr>
              <a:t>.</a:t>
            </a:r>
            <a:r>
              <a:rPr dirty="0" sz="2600" spc="39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Several</a:t>
            </a:r>
            <a:r>
              <a:rPr dirty="0" sz="2600" spc="39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machine</a:t>
            </a:r>
            <a:r>
              <a:rPr dirty="0" sz="2600" spc="39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learning</a:t>
            </a:r>
            <a:r>
              <a:rPr dirty="0" sz="2600" spc="39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algorithms</a:t>
            </a:r>
            <a:r>
              <a:rPr dirty="0" sz="2600" spc="39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such</a:t>
            </a:r>
            <a:r>
              <a:rPr dirty="0" sz="2600" spc="39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as </a:t>
            </a:r>
            <a:r>
              <a:rPr dirty="0" sz="2600" b="1">
                <a:latin typeface="Times New Roman"/>
                <a:cs typeface="Times New Roman"/>
              </a:rPr>
              <a:t>Logistic</a:t>
            </a:r>
            <a:r>
              <a:rPr dirty="0" sz="2600" spc="19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Regression,</a:t>
            </a:r>
            <a:r>
              <a:rPr dirty="0" sz="2600" spc="19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Decision</a:t>
            </a:r>
            <a:r>
              <a:rPr dirty="0" sz="2600" spc="19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Tree,</a:t>
            </a:r>
            <a:r>
              <a:rPr dirty="0" sz="2600" spc="19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Random</a:t>
            </a:r>
            <a:r>
              <a:rPr dirty="0" sz="2600" spc="19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Forest,</a:t>
            </a:r>
            <a:r>
              <a:rPr dirty="0" sz="2600" spc="19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and</a:t>
            </a:r>
            <a:r>
              <a:rPr dirty="0" sz="2600" spc="195" b="1">
                <a:latin typeface="Times New Roman"/>
                <a:cs typeface="Times New Roman"/>
              </a:rPr>
              <a:t>  </a:t>
            </a:r>
            <a:r>
              <a:rPr dirty="0" sz="2600" spc="-10" b="1">
                <a:latin typeface="Times New Roman"/>
                <a:cs typeface="Times New Roman"/>
              </a:rPr>
              <a:t>Support </a:t>
            </a:r>
            <a:r>
              <a:rPr dirty="0" sz="2600" b="1">
                <a:latin typeface="Times New Roman"/>
                <a:cs typeface="Times New Roman"/>
              </a:rPr>
              <a:t>Vector</a:t>
            </a:r>
            <a:r>
              <a:rPr dirty="0" sz="2600" spc="-3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Machine</a:t>
            </a:r>
            <a:r>
              <a:rPr dirty="0" sz="2600" spc="-3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(SVM)</a:t>
            </a:r>
            <a:r>
              <a:rPr dirty="0" sz="2600" spc="-15" b="1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were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implemented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train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prediction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model.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8225" y="529645"/>
            <a:ext cx="10556240" cy="612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44805">
              <a:lnSpc>
                <a:spcPct val="100000"/>
              </a:lnSpc>
              <a:spcBef>
                <a:spcPts val="100"/>
              </a:spcBef>
              <a:buFont typeface="Segoe UI Symbol"/>
              <a:buChar char="➢"/>
              <a:tabLst>
                <a:tab pos="357505" algn="l"/>
              </a:tabLst>
            </a:pP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55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performance</a:t>
            </a:r>
            <a:r>
              <a:rPr dirty="0" sz="2600" spc="56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56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these</a:t>
            </a:r>
            <a:r>
              <a:rPr dirty="0" sz="2600" spc="56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models</a:t>
            </a:r>
            <a:r>
              <a:rPr dirty="0" sz="2600" spc="55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was</a:t>
            </a:r>
            <a:r>
              <a:rPr dirty="0" sz="2600" spc="56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evaluated</a:t>
            </a:r>
            <a:r>
              <a:rPr dirty="0" sz="2600" spc="56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using</a:t>
            </a:r>
            <a:r>
              <a:rPr dirty="0" sz="2600" spc="560">
                <a:latin typeface="Times New Roman"/>
                <a:cs typeface="Times New Roman"/>
              </a:rPr>
              <a:t>  </a:t>
            </a:r>
            <a:r>
              <a:rPr dirty="0" sz="2600" spc="-10">
                <a:latin typeface="Times New Roman"/>
                <a:cs typeface="Times New Roman"/>
              </a:rPr>
              <a:t>standard </a:t>
            </a:r>
            <a:r>
              <a:rPr dirty="0" sz="2600">
                <a:latin typeface="Times New Roman"/>
                <a:cs typeface="Times New Roman"/>
              </a:rPr>
              <a:t>classification</a:t>
            </a:r>
            <a:r>
              <a:rPr dirty="0" sz="2600" spc="5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metrics</a:t>
            </a:r>
            <a:r>
              <a:rPr dirty="0" sz="2600" spc="5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such</a:t>
            </a:r>
            <a:r>
              <a:rPr dirty="0" sz="2600" spc="5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as</a:t>
            </a:r>
            <a:r>
              <a:rPr dirty="0" sz="2600" spc="550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Accuracy,</a:t>
            </a:r>
            <a:r>
              <a:rPr dirty="0" sz="2600" spc="54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Precision,</a:t>
            </a:r>
            <a:r>
              <a:rPr dirty="0" sz="2600" spc="53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Recall,</a:t>
            </a:r>
            <a:r>
              <a:rPr dirty="0" sz="2600" spc="54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and</a:t>
            </a:r>
            <a:r>
              <a:rPr dirty="0" sz="2600" spc="53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F1</a:t>
            </a:r>
            <a:r>
              <a:rPr dirty="0" sz="2600" spc="53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Score</a:t>
            </a:r>
            <a:r>
              <a:rPr dirty="0" sz="2600" spc="-10">
                <a:latin typeface="Times New Roman"/>
                <a:cs typeface="Times New Roman"/>
              </a:rPr>
              <a:t>. </a:t>
            </a:r>
            <a:r>
              <a:rPr dirty="0" sz="2600">
                <a:latin typeface="Times New Roman"/>
                <a:cs typeface="Times New Roman"/>
              </a:rPr>
              <a:t>Among</a:t>
            </a:r>
            <a:r>
              <a:rPr dirty="0" sz="2600" spc="8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8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tested</a:t>
            </a:r>
            <a:r>
              <a:rPr dirty="0" sz="2600" spc="8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algorithms,</a:t>
            </a:r>
            <a:r>
              <a:rPr dirty="0" sz="2600" spc="8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85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Random</a:t>
            </a:r>
            <a:r>
              <a:rPr dirty="0" sz="2600" spc="8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Forest</a:t>
            </a:r>
            <a:r>
              <a:rPr dirty="0" sz="2600" spc="8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model</a:t>
            </a:r>
            <a:r>
              <a:rPr dirty="0" sz="2600" spc="8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produced</a:t>
            </a:r>
            <a:r>
              <a:rPr dirty="0" sz="2600" spc="80" b="1">
                <a:latin typeface="Times New Roman"/>
                <a:cs typeface="Times New Roman"/>
              </a:rPr>
              <a:t>  </a:t>
            </a:r>
            <a:r>
              <a:rPr dirty="0" sz="2600" spc="-25" b="1">
                <a:latin typeface="Times New Roman"/>
                <a:cs typeface="Times New Roman"/>
              </a:rPr>
              <a:t>the </a:t>
            </a:r>
            <a:r>
              <a:rPr dirty="0" sz="2600" b="1">
                <a:latin typeface="Times New Roman"/>
                <a:cs typeface="Times New Roman"/>
              </a:rPr>
              <a:t>highest</a:t>
            </a:r>
            <a:r>
              <a:rPr dirty="0" sz="2600" spc="6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accuracy</a:t>
            </a:r>
            <a:r>
              <a:rPr dirty="0" sz="2600" spc="6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and</a:t>
            </a:r>
            <a:r>
              <a:rPr dirty="0" sz="2600" spc="7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better</a:t>
            </a:r>
            <a:r>
              <a:rPr dirty="0" sz="2600" spc="6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prediction</a:t>
            </a:r>
            <a:r>
              <a:rPr dirty="0" sz="2600" spc="6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performance</a:t>
            </a:r>
            <a:r>
              <a:rPr dirty="0" sz="2600" spc="7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compared</a:t>
            </a:r>
            <a:r>
              <a:rPr dirty="0" sz="2600" spc="6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to</a:t>
            </a:r>
            <a:r>
              <a:rPr dirty="0" sz="2600" spc="65" b="1">
                <a:latin typeface="Times New Roman"/>
                <a:cs typeface="Times New Roman"/>
              </a:rPr>
              <a:t>  </a:t>
            </a:r>
            <a:r>
              <a:rPr dirty="0" sz="2600" spc="-25" b="1">
                <a:latin typeface="Times New Roman"/>
                <a:cs typeface="Times New Roman"/>
              </a:rPr>
              <a:t>the </a:t>
            </a:r>
            <a:r>
              <a:rPr dirty="0" sz="2600" b="1">
                <a:latin typeface="Times New Roman"/>
                <a:cs typeface="Times New Roman"/>
              </a:rPr>
              <a:t>other</a:t>
            </a:r>
            <a:r>
              <a:rPr dirty="0" sz="2600" spc="-1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models</a:t>
            </a:r>
            <a:r>
              <a:rPr dirty="0" sz="2600" spc="-1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Segoe UI Symbol"/>
              <a:buChar char="➢"/>
            </a:pPr>
            <a:endParaRPr sz="2600">
              <a:latin typeface="Times New Roman"/>
              <a:cs typeface="Times New Roman"/>
            </a:endParaRPr>
          </a:p>
          <a:p>
            <a:pPr algn="just" marL="12700" marR="11430" indent="344805">
              <a:lnSpc>
                <a:spcPct val="100000"/>
              </a:lnSpc>
              <a:buFont typeface="Segoe UI Symbol"/>
              <a:buChar char="➢"/>
              <a:tabLst>
                <a:tab pos="357505" algn="l"/>
              </a:tabLst>
            </a:pPr>
            <a:r>
              <a:rPr dirty="0" sz="2600" b="1">
                <a:latin typeface="Times New Roman"/>
                <a:cs typeface="Times New Roman"/>
              </a:rPr>
              <a:t>Overall,</a:t>
            </a:r>
            <a:r>
              <a:rPr dirty="0" sz="2600" spc="270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the</a:t>
            </a:r>
            <a:r>
              <a:rPr dirty="0" sz="2600" spc="27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project</a:t>
            </a:r>
            <a:r>
              <a:rPr dirty="0" sz="2600" spc="27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demonstrates</a:t>
            </a:r>
            <a:r>
              <a:rPr dirty="0" sz="2600" spc="27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how</a:t>
            </a:r>
            <a:r>
              <a:rPr dirty="0" sz="2600" spc="27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machine</a:t>
            </a:r>
            <a:r>
              <a:rPr dirty="0" sz="2600" spc="27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learning</a:t>
            </a:r>
            <a:r>
              <a:rPr dirty="0" sz="2600" spc="275" b="1">
                <a:latin typeface="Times New Roman"/>
                <a:cs typeface="Times New Roman"/>
              </a:rPr>
              <a:t>  </a:t>
            </a:r>
            <a:r>
              <a:rPr dirty="0" sz="2600" b="1">
                <a:latin typeface="Times New Roman"/>
                <a:cs typeface="Times New Roman"/>
              </a:rPr>
              <a:t>can</a:t>
            </a:r>
            <a:r>
              <a:rPr dirty="0" sz="2600" spc="275" b="1">
                <a:latin typeface="Times New Roman"/>
                <a:cs typeface="Times New Roman"/>
              </a:rPr>
              <a:t>  </a:t>
            </a:r>
            <a:r>
              <a:rPr dirty="0" sz="2600" spc="-25" b="1">
                <a:latin typeface="Times New Roman"/>
                <a:cs typeface="Times New Roman"/>
              </a:rPr>
              <a:t>be </a:t>
            </a:r>
            <a:r>
              <a:rPr dirty="0" sz="2600" b="1">
                <a:latin typeface="Times New Roman"/>
                <a:cs typeface="Times New Roman"/>
              </a:rPr>
              <a:t>effectively</a:t>
            </a:r>
            <a:r>
              <a:rPr dirty="0" sz="2600" spc="48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used</a:t>
            </a:r>
            <a:r>
              <a:rPr dirty="0" sz="2600" spc="48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to</a:t>
            </a:r>
            <a:r>
              <a:rPr dirty="0" sz="2600" spc="48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automate</a:t>
            </a:r>
            <a:r>
              <a:rPr dirty="0" sz="2600" spc="48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and</a:t>
            </a:r>
            <a:r>
              <a:rPr dirty="0" sz="2600" spc="484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improve</a:t>
            </a:r>
            <a:r>
              <a:rPr dirty="0" sz="2600" spc="48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the</a:t>
            </a:r>
            <a:r>
              <a:rPr dirty="0" sz="2600" spc="48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loan</a:t>
            </a:r>
            <a:r>
              <a:rPr dirty="0" sz="2600" spc="48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eligibility</a:t>
            </a:r>
            <a:r>
              <a:rPr dirty="0" sz="2600" spc="48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prediction process</a:t>
            </a:r>
            <a:r>
              <a:rPr dirty="0" sz="2600" spc="-1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Segoe UI Symbol"/>
              <a:buChar char="➢"/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latin typeface="Times New Roman"/>
                <a:cs typeface="Times New Roman"/>
              </a:rPr>
              <a:t>Future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Enhancement:-</a:t>
            </a:r>
            <a:endParaRPr sz="2800">
              <a:latin typeface="Times New Roman"/>
              <a:cs typeface="Times New Roman"/>
            </a:endParaRPr>
          </a:p>
          <a:p>
            <a:pPr marL="467995" indent="-455295">
              <a:lnSpc>
                <a:spcPct val="100000"/>
              </a:lnSpc>
              <a:buFont typeface="Segoe UI Symbol"/>
              <a:buChar char="➢"/>
              <a:tabLst>
                <a:tab pos="467995" algn="l"/>
              </a:tabLst>
            </a:pPr>
            <a:r>
              <a:rPr dirty="0" sz="2800" b="1">
                <a:latin typeface="Times New Roman"/>
                <a:cs typeface="Times New Roman"/>
              </a:rPr>
              <a:t>Advanced</a:t>
            </a:r>
            <a:r>
              <a:rPr dirty="0" sz="2800" spc="-8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Machine</a:t>
            </a:r>
            <a:r>
              <a:rPr dirty="0" sz="2800" spc="-8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Learning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Models.</a:t>
            </a:r>
            <a:endParaRPr sz="2800">
              <a:latin typeface="Times New Roman"/>
              <a:cs typeface="Times New Roman"/>
            </a:endParaRPr>
          </a:p>
          <a:p>
            <a:pPr marL="467995" indent="-455295">
              <a:lnSpc>
                <a:spcPct val="100000"/>
              </a:lnSpc>
              <a:buFont typeface="Segoe UI Symbol"/>
              <a:buChar char="➢"/>
              <a:tabLst>
                <a:tab pos="467995" algn="l"/>
              </a:tabLst>
            </a:pPr>
            <a:r>
              <a:rPr dirty="0" sz="2800" spc="-10" b="1">
                <a:latin typeface="Times New Roman"/>
                <a:cs typeface="Times New Roman"/>
              </a:rPr>
              <a:t>Real-</a:t>
            </a:r>
            <a:r>
              <a:rPr dirty="0" sz="2800" b="1">
                <a:latin typeface="Times New Roman"/>
                <a:cs typeface="Times New Roman"/>
              </a:rPr>
              <a:t>Time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Loan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Prediction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System.</a:t>
            </a:r>
            <a:endParaRPr sz="2800">
              <a:latin typeface="Times New Roman"/>
              <a:cs typeface="Times New Roman"/>
            </a:endParaRPr>
          </a:p>
          <a:p>
            <a:pPr marL="467995" indent="-455295">
              <a:lnSpc>
                <a:spcPct val="100000"/>
              </a:lnSpc>
              <a:buFont typeface="Segoe UI Symbol"/>
              <a:buChar char="➢"/>
              <a:tabLst>
                <a:tab pos="467995" algn="l"/>
              </a:tabLst>
            </a:pPr>
            <a:r>
              <a:rPr dirty="0" sz="2800" b="1">
                <a:latin typeface="Times New Roman"/>
                <a:cs typeface="Times New Roman"/>
              </a:rPr>
              <a:t>Larger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Dataset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Integration.</a:t>
            </a:r>
            <a:endParaRPr sz="2800">
              <a:latin typeface="Times New Roman"/>
              <a:cs typeface="Times New Roman"/>
            </a:endParaRPr>
          </a:p>
          <a:p>
            <a:pPr marL="467995" indent="-455295">
              <a:lnSpc>
                <a:spcPct val="100000"/>
              </a:lnSpc>
              <a:buFont typeface="Segoe UI Symbol"/>
              <a:buChar char="➢"/>
              <a:tabLst>
                <a:tab pos="467995" algn="l"/>
              </a:tabLst>
            </a:pPr>
            <a:r>
              <a:rPr dirty="0" sz="2800" spc="-10" b="1">
                <a:latin typeface="Times New Roman"/>
                <a:cs typeface="Times New Roman"/>
              </a:rPr>
              <a:t>Web-</a:t>
            </a:r>
            <a:r>
              <a:rPr dirty="0" sz="2800" b="1">
                <a:latin typeface="Times New Roman"/>
                <a:cs typeface="Times New Roman"/>
              </a:rPr>
              <a:t>Based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Application.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4607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89915" indent="-513715">
              <a:lnSpc>
                <a:spcPts val="3190"/>
              </a:lnSpc>
              <a:spcBef>
                <a:spcPts val="100"/>
              </a:spcBef>
              <a:buAutoNum type="arabicPeriod"/>
              <a:tabLst>
                <a:tab pos="590550" algn="l"/>
              </a:tabLst>
            </a:pPr>
            <a:r>
              <a:rPr dirty="0"/>
              <a:t>Reserve</a:t>
            </a:r>
            <a:r>
              <a:rPr dirty="0" spc="290"/>
              <a:t> </a:t>
            </a:r>
            <a:r>
              <a:rPr dirty="0"/>
              <a:t>Bank</a:t>
            </a:r>
            <a:r>
              <a:rPr dirty="0" spc="295"/>
              <a:t> </a:t>
            </a:r>
            <a:r>
              <a:rPr dirty="0"/>
              <a:t>of</a:t>
            </a:r>
            <a:r>
              <a:rPr dirty="0" spc="290"/>
              <a:t> </a:t>
            </a:r>
            <a:r>
              <a:rPr dirty="0"/>
              <a:t>India</a:t>
            </a:r>
            <a:r>
              <a:rPr dirty="0" spc="295"/>
              <a:t> </a:t>
            </a:r>
            <a:r>
              <a:rPr dirty="0"/>
              <a:t>-</a:t>
            </a:r>
            <a:r>
              <a:rPr dirty="0" spc="290"/>
              <a:t> </a:t>
            </a:r>
            <a:r>
              <a:rPr dirty="0"/>
              <a:t>Credit</a:t>
            </a:r>
            <a:r>
              <a:rPr dirty="0" spc="295"/>
              <a:t> </a:t>
            </a:r>
            <a:r>
              <a:rPr dirty="0"/>
              <a:t>Risk</a:t>
            </a:r>
            <a:r>
              <a:rPr dirty="0" spc="295"/>
              <a:t> </a:t>
            </a:r>
            <a:r>
              <a:rPr dirty="0"/>
              <a:t>Management</a:t>
            </a:r>
            <a:r>
              <a:rPr dirty="0" spc="290"/>
              <a:t> </a:t>
            </a:r>
            <a:r>
              <a:rPr dirty="0" spc="-10"/>
              <a:t>Guidelines:-</a:t>
            </a:r>
          </a:p>
          <a:p>
            <a:pPr marL="590550">
              <a:lnSpc>
                <a:spcPts val="3190"/>
              </a:lnSpc>
            </a:pPr>
            <a:r>
              <a:rPr dirty="0" u="sng" spc="-10" b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https://www.rbi.org.in</a:t>
            </a:r>
          </a:p>
          <a:p>
            <a:pPr marL="589915" indent="-513715">
              <a:lnSpc>
                <a:spcPct val="100000"/>
              </a:lnSpc>
              <a:spcBef>
                <a:spcPts val="660"/>
              </a:spcBef>
              <a:buAutoNum type="arabicPeriod" startAt="2"/>
              <a:tabLst>
                <a:tab pos="590550" algn="l"/>
              </a:tabLst>
            </a:pPr>
            <a:r>
              <a:rPr dirty="0"/>
              <a:t>Kaggle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40"/>
              <a:t> </a:t>
            </a:r>
            <a:r>
              <a:rPr dirty="0"/>
              <a:t>Loan</a:t>
            </a:r>
            <a:r>
              <a:rPr dirty="0" spc="-40"/>
              <a:t> </a:t>
            </a:r>
            <a:r>
              <a:rPr dirty="0"/>
              <a:t>Prediction</a:t>
            </a:r>
            <a:r>
              <a:rPr dirty="0" spc="-35"/>
              <a:t> </a:t>
            </a:r>
            <a:r>
              <a:rPr dirty="0"/>
              <a:t>Dataset:-</a:t>
            </a:r>
            <a:r>
              <a:rPr dirty="0" spc="640"/>
              <a:t> </a:t>
            </a:r>
            <a:r>
              <a:rPr dirty="0" u="sng" spc="-10" b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https://www.kaggle.com</a:t>
            </a:r>
          </a:p>
          <a:p>
            <a:pPr marL="589915" indent="-513715">
              <a:lnSpc>
                <a:spcPct val="100000"/>
              </a:lnSpc>
              <a:spcBef>
                <a:spcPts val="665"/>
              </a:spcBef>
              <a:buAutoNum type="arabicPeriod" startAt="2"/>
              <a:tabLst>
                <a:tab pos="590550" algn="l"/>
              </a:tabLst>
            </a:pPr>
            <a:r>
              <a:rPr dirty="0" spc="-10"/>
              <a:t>Scikit-</a:t>
            </a:r>
            <a:r>
              <a:rPr dirty="0"/>
              <a:t>learn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40"/>
              <a:t> </a:t>
            </a:r>
            <a:r>
              <a:rPr dirty="0"/>
              <a:t>Documentation:-</a:t>
            </a:r>
            <a:r>
              <a:rPr dirty="0" spc="-10"/>
              <a:t> </a:t>
            </a:r>
            <a:r>
              <a:rPr dirty="0" u="sng" spc="-10" b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https://scikit-learn.org</a:t>
            </a:r>
          </a:p>
          <a:p>
            <a:pPr marL="590550" marR="68580" indent="-514350">
              <a:lnSpc>
                <a:spcPts val="3020"/>
              </a:lnSpc>
              <a:spcBef>
                <a:spcPts val="1050"/>
              </a:spcBef>
              <a:buAutoNum type="arabicPeriod" startAt="2"/>
              <a:tabLst>
                <a:tab pos="591185" algn="l"/>
              </a:tabLst>
            </a:pPr>
            <a:r>
              <a:rPr dirty="0"/>
              <a:t>Tom  M.</a:t>
            </a:r>
            <a:r>
              <a:rPr dirty="0" spc="5"/>
              <a:t>  </a:t>
            </a:r>
            <a:r>
              <a:rPr dirty="0"/>
              <a:t>Mitchell  -</a:t>
            </a:r>
            <a:r>
              <a:rPr dirty="0" spc="5"/>
              <a:t>  </a:t>
            </a:r>
            <a:r>
              <a:rPr dirty="0"/>
              <a:t>Machine  Learning</a:t>
            </a:r>
            <a:r>
              <a:rPr dirty="0" spc="5"/>
              <a:t>  </a:t>
            </a:r>
            <a:r>
              <a:rPr dirty="0"/>
              <a:t>-  </a:t>
            </a:r>
            <a:r>
              <a:rPr dirty="0" spc="-10"/>
              <a:t>McGraw-</a:t>
            </a:r>
            <a:r>
              <a:rPr dirty="0"/>
              <a:t>Hill:-</a:t>
            </a:r>
            <a:r>
              <a:rPr dirty="0" spc="15"/>
              <a:t>  </a:t>
            </a:r>
            <a:r>
              <a:rPr dirty="0" spc="-20" b="0">
                <a:latin typeface="Times New Roman"/>
                <a:cs typeface="Times New Roman"/>
              </a:rPr>
              <a:t>1997 </a:t>
            </a:r>
            <a:r>
              <a:rPr dirty="0" b="0">
                <a:latin typeface="Times New Roman"/>
                <a:cs typeface="Times New Roman"/>
              </a:rPr>
              <a:t>(Education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Company)</a:t>
            </a:r>
          </a:p>
          <a:p>
            <a:pPr marL="590550" marR="73025" indent="-514350">
              <a:lnSpc>
                <a:spcPts val="3020"/>
              </a:lnSpc>
              <a:spcBef>
                <a:spcPts val="1005"/>
              </a:spcBef>
              <a:buAutoNum type="arabicPeriod" startAt="2"/>
              <a:tabLst>
                <a:tab pos="591185" algn="l"/>
              </a:tabLst>
            </a:pPr>
            <a:r>
              <a:rPr dirty="0"/>
              <a:t>Loan</a:t>
            </a:r>
            <a:r>
              <a:rPr dirty="0" spc="40"/>
              <a:t> </a:t>
            </a:r>
            <a:r>
              <a:rPr dirty="0"/>
              <a:t>Eligibility</a:t>
            </a:r>
            <a:r>
              <a:rPr dirty="0" spc="45"/>
              <a:t> </a:t>
            </a:r>
            <a:r>
              <a:rPr dirty="0"/>
              <a:t>Prediction</a:t>
            </a:r>
            <a:r>
              <a:rPr dirty="0" spc="40"/>
              <a:t> </a:t>
            </a:r>
            <a:r>
              <a:rPr dirty="0"/>
              <a:t>Using</a:t>
            </a:r>
            <a:r>
              <a:rPr dirty="0" spc="45"/>
              <a:t> </a:t>
            </a:r>
            <a:r>
              <a:rPr dirty="0"/>
              <a:t>Machine</a:t>
            </a:r>
            <a:r>
              <a:rPr dirty="0" spc="45"/>
              <a:t> </a:t>
            </a:r>
            <a:r>
              <a:rPr dirty="0"/>
              <a:t>Learning</a:t>
            </a:r>
            <a:r>
              <a:rPr dirty="0" spc="40"/>
              <a:t> </a:t>
            </a:r>
            <a:r>
              <a:rPr dirty="0"/>
              <a:t>-</a:t>
            </a:r>
            <a:r>
              <a:rPr dirty="0" spc="45"/>
              <a:t> </a:t>
            </a:r>
            <a:r>
              <a:rPr dirty="0" spc="-10"/>
              <a:t>Sanketika </a:t>
            </a:r>
            <a:r>
              <a:rPr dirty="0"/>
              <a:t>Vidya</a:t>
            </a:r>
            <a:r>
              <a:rPr dirty="0" spc="-50"/>
              <a:t> </a:t>
            </a:r>
            <a:r>
              <a:rPr dirty="0"/>
              <a:t>Parishad</a:t>
            </a:r>
            <a:r>
              <a:rPr dirty="0" spc="-45"/>
              <a:t> </a:t>
            </a:r>
            <a:r>
              <a:rPr dirty="0"/>
              <a:t>Engineering</a:t>
            </a:r>
            <a:r>
              <a:rPr dirty="0" spc="-50"/>
              <a:t> </a:t>
            </a:r>
            <a:r>
              <a:rPr dirty="0"/>
              <a:t>College:-</a:t>
            </a:r>
            <a:r>
              <a:rPr dirty="0" spc="-30"/>
              <a:t> </a:t>
            </a:r>
            <a:r>
              <a:rPr dirty="0" b="0">
                <a:latin typeface="Times New Roman"/>
                <a:cs typeface="Times New Roman"/>
              </a:rPr>
              <a:t>23</a:t>
            </a:r>
            <a:r>
              <a:rPr dirty="0" baseline="30864" sz="2700" b="0">
                <a:latin typeface="Times New Roman"/>
                <a:cs typeface="Times New Roman"/>
              </a:rPr>
              <a:t>rd</a:t>
            </a:r>
            <a:r>
              <a:rPr dirty="0" baseline="30864" sz="2700" spc="300" b="0">
                <a:latin typeface="Times New Roman"/>
                <a:cs typeface="Times New Roman"/>
              </a:rPr>
              <a:t> </a:t>
            </a:r>
            <a:r>
              <a:rPr dirty="0" sz="2800" b="0">
                <a:latin typeface="Times New Roman"/>
                <a:cs typeface="Times New Roman"/>
              </a:rPr>
              <a:t>July,</a:t>
            </a:r>
            <a:r>
              <a:rPr dirty="0" sz="2800" spc="-45" b="0">
                <a:latin typeface="Times New Roman"/>
                <a:cs typeface="Times New Roman"/>
              </a:rPr>
              <a:t> </a:t>
            </a:r>
            <a:r>
              <a:rPr dirty="0" sz="2800" spc="-20" b="0">
                <a:latin typeface="Times New Roman"/>
                <a:cs typeface="Times New Roman"/>
              </a:rPr>
              <a:t>2025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100"/>
              </a:spcBef>
            </a:pPr>
            <a:r>
              <a:rPr dirty="0"/>
              <a:t>CONTRIBUTION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(Impact)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1878"/>
            <a:ext cx="10352405" cy="415988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241300" marR="5080" indent="-228600">
              <a:lnSpc>
                <a:spcPts val="3020"/>
              </a:lnSpc>
              <a:spcBef>
                <a:spcPts val="480"/>
              </a:spcBef>
              <a:buFont typeface="Segoe UI Symbol"/>
              <a:buChar char="➢"/>
              <a:tabLst>
                <a:tab pos="241300" algn="l"/>
                <a:tab pos="383540" algn="l"/>
              </a:tabLst>
            </a:pP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4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loan</a:t>
            </a:r>
            <a:r>
              <a:rPr dirty="0" sz="2800" spc="4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eligibility</a:t>
            </a:r>
            <a:r>
              <a:rPr dirty="0" sz="2800" spc="4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prediction</a:t>
            </a:r>
            <a:r>
              <a:rPr dirty="0" sz="2800" spc="4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4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contributes</a:t>
            </a:r>
            <a:r>
              <a:rPr dirty="0" sz="2800" spc="4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4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improving</a:t>
            </a:r>
            <a:r>
              <a:rPr dirty="0" sz="2800" spc="46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the </a:t>
            </a:r>
            <a:r>
              <a:rPr dirty="0" sz="2800">
                <a:latin typeface="Times New Roman"/>
                <a:cs typeface="Times New Roman"/>
              </a:rPr>
              <a:t>loan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approval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process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banks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by</a:t>
            </a:r>
            <a:r>
              <a:rPr dirty="0" sz="2800" spc="1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machine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learning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techniques. </a:t>
            </a:r>
            <a:r>
              <a:rPr dirty="0" sz="2800">
                <a:latin typeface="Times New Roman"/>
                <a:cs typeface="Times New Roman"/>
              </a:rPr>
              <a:t>It</a:t>
            </a:r>
            <a:r>
              <a:rPr dirty="0" sz="2800" spc="1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helps</a:t>
            </a:r>
            <a:r>
              <a:rPr dirty="0" sz="2800" spc="1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financial</a:t>
            </a:r>
            <a:r>
              <a:rPr dirty="0" sz="2800" spc="1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institutions</a:t>
            </a:r>
            <a:r>
              <a:rPr dirty="0" sz="2800" spc="1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analyse</a:t>
            </a:r>
            <a:r>
              <a:rPr dirty="0" sz="2800" spc="1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customer</a:t>
            </a:r>
            <a:r>
              <a:rPr dirty="0" sz="2800" spc="1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information</a:t>
            </a:r>
            <a:r>
              <a:rPr dirty="0" sz="2800" spc="17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efficiently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make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accurate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loan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approval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decisions.</a:t>
            </a:r>
            <a:endParaRPr sz="2800">
              <a:latin typeface="Times New Roman"/>
              <a:cs typeface="Times New Roman"/>
            </a:endParaRPr>
          </a:p>
          <a:p>
            <a:pPr marL="383540" indent="-370840">
              <a:lnSpc>
                <a:spcPct val="100000"/>
              </a:lnSpc>
              <a:spcBef>
                <a:spcPts val="635"/>
              </a:spcBef>
              <a:buFont typeface="Segoe UI Symbol"/>
              <a:buChar char="➢"/>
              <a:tabLst>
                <a:tab pos="383540" algn="l"/>
              </a:tabLst>
            </a:pPr>
            <a:r>
              <a:rPr dirty="0" sz="2800" b="1">
                <a:latin typeface="Times New Roman"/>
                <a:cs typeface="Times New Roman"/>
              </a:rPr>
              <a:t>Improved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Decision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Making.</a:t>
            </a:r>
            <a:endParaRPr sz="2800">
              <a:latin typeface="Times New Roman"/>
              <a:cs typeface="Times New Roman"/>
            </a:endParaRPr>
          </a:p>
          <a:p>
            <a:pPr marL="383540" indent="-370840">
              <a:lnSpc>
                <a:spcPct val="100000"/>
              </a:lnSpc>
              <a:spcBef>
                <a:spcPts val="665"/>
              </a:spcBef>
              <a:buFont typeface="Segoe UI Symbol"/>
              <a:buChar char="➢"/>
              <a:tabLst>
                <a:tab pos="383540" algn="l"/>
              </a:tabLst>
            </a:pPr>
            <a:r>
              <a:rPr dirty="0" sz="2800" b="1">
                <a:latin typeface="Times New Roman"/>
                <a:cs typeface="Times New Roman"/>
              </a:rPr>
              <a:t>Reduction</a:t>
            </a:r>
            <a:r>
              <a:rPr dirty="0" sz="2800" spc="-8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of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Manual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Work.</a:t>
            </a:r>
            <a:endParaRPr sz="2800">
              <a:latin typeface="Times New Roman"/>
              <a:cs typeface="Times New Roman"/>
            </a:endParaRPr>
          </a:p>
          <a:p>
            <a:pPr marL="383540" indent="-370840">
              <a:lnSpc>
                <a:spcPct val="100000"/>
              </a:lnSpc>
              <a:spcBef>
                <a:spcPts val="660"/>
              </a:spcBef>
              <a:buFont typeface="Segoe UI Symbol"/>
              <a:buChar char="➢"/>
              <a:tabLst>
                <a:tab pos="383540" algn="l"/>
              </a:tabLst>
            </a:pPr>
            <a:r>
              <a:rPr dirty="0" sz="2800" b="1">
                <a:latin typeface="Times New Roman"/>
                <a:cs typeface="Times New Roman"/>
              </a:rPr>
              <a:t>Faster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Loan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Processing.</a:t>
            </a:r>
            <a:endParaRPr sz="2800">
              <a:latin typeface="Times New Roman"/>
              <a:cs typeface="Times New Roman"/>
            </a:endParaRPr>
          </a:p>
          <a:p>
            <a:pPr marL="383540" indent="-370840">
              <a:lnSpc>
                <a:spcPct val="100000"/>
              </a:lnSpc>
              <a:spcBef>
                <a:spcPts val="665"/>
              </a:spcBef>
              <a:buFont typeface="Segoe UI Symbol"/>
              <a:buChar char="➢"/>
              <a:tabLst>
                <a:tab pos="383540" algn="l"/>
              </a:tabLst>
            </a:pPr>
            <a:r>
              <a:rPr dirty="0" sz="2800" b="1">
                <a:latin typeface="Times New Roman"/>
                <a:cs typeface="Times New Roman"/>
              </a:rPr>
              <a:t>Risk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Reduction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for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Banks.</a:t>
            </a:r>
            <a:endParaRPr sz="2800">
              <a:latin typeface="Times New Roman"/>
              <a:cs typeface="Times New Roman"/>
            </a:endParaRPr>
          </a:p>
          <a:p>
            <a:pPr marL="383540" indent="-370840">
              <a:lnSpc>
                <a:spcPct val="100000"/>
              </a:lnSpc>
              <a:spcBef>
                <a:spcPts val="665"/>
              </a:spcBef>
              <a:buFont typeface="Segoe UI Symbol"/>
              <a:buChar char="➢"/>
              <a:tabLst>
                <a:tab pos="383540" algn="l"/>
              </a:tabLst>
            </a:pPr>
            <a:r>
              <a:rPr dirty="0" sz="2800" spc="-25" b="1">
                <a:latin typeface="Times New Roman"/>
                <a:cs typeface="Times New Roman"/>
              </a:rPr>
              <a:t>Data-</a:t>
            </a:r>
            <a:r>
              <a:rPr dirty="0" sz="2800" b="1">
                <a:latin typeface="Times New Roman"/>
                <a:cs typeface="Times New Roman"/>
              </a:rPr>
              <a:t>Driven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Insights.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13485">
              <a:lnSpc>
                <a:spcPct val="100000"/>
              </a:lnSpc>
              <a:spcBef>
                <a:spcPts val="100"/>
              </a:spcBef>
            </a:pPr>
            <a:r>
              <a:rPr dirty="0"/>
              <a:t>100%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Code</a:t>
            </a:r>
            <a:r>
              <a:rPr dirty="0" spc="-35"/>
              <a:t> </a:t>
            </a:r>
            <a:r>
              <a:rPr dirty="0"/>
              <a:t>Implementation</a:t>
            </a:r>
            <a:r>
              <a:rPr dirty="0" spc="-40"/>
              <a:t> </a:t>
            </a:r>
            <a:r>
              <a:rPr dirty="0" spc="-10"/>
              <a:t>(Demo)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225" y="1690687"/>
            <a:ext cx="8591550" cy="43513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68697" y="3102787"/>
            <a:ext cx="26536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QUERIES</a:t>
            </a:r>
            <a:r>
              <a:rPr dirty="0" spc="-15"/>
              <a:t> </a:t>
            </a:r>
            <a:r>
              <a:rPr dirty="0" spc="-25"/>
              <a:t>??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80077" y="3102787"/>
            <a:ext cx="28314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dirty="0" spc="-10"/>
              <a:t> </a:t>
            </a:r>
            <a:r>
              <a:rPr dirty="0" spc="-25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2026-08-13T14:41:39Z</dcterms:created>
  <dcterms:modified xsi:type="dcterms:W3CDTF">2026-08-13T14:41:39Z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2026-08-13T00:00:00Z</vt:filetime>
  </property>
  <property fmtid="{D5CDD505-2E9C-101B-9397-08002B2CF9AE}" pid="4" name="LastSaved">
    <vt:filetime>2026-08-13T00:00:00Z</vt:filetime>
  </property>
  <property fmtid="{D5CDD505-2E9C-101B-9397-08002B2CF9AE}" pid="5" name="Producer">
    <vt:lpwstr>3-Heights(TM) PDF Security Shell 4.8.25.2 (http://www.pdf-tools.com)</vt:lpwstr>
  </property>
</Properties>
</file>