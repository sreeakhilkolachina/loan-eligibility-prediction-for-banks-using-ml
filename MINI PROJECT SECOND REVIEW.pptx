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779" r:id="rId2"/>
    <p:sldId id="795" r:id="rId3"/>
    <p:sldId id="794" r:id="rId4"/>
    <p:sldId id="796" r:id="rId5"/>
    <p:sldId id="797" r:id="rId6"/>
    <p:sldId id="798" r:id="rId7"/>
    <p:sldId id="801" r:id="rId8"/>
    <p:sldId id="802" r:id="rId9"/>
    <p:sldId id="799" r:id="rId10"/>
    <p:sldId id="800" r:id="rId11"/>
    <p:sldId id="803" r:id="rId12"/>
    <p:sldId id="804" r:id="rId13"/>
    <p:sldId id="805" r:id="rId14"/>
    <p:sldId id="806" r:id="rId15"/>
    <p:sldId id="793" r:id="rId16"/>
    <p:sldId id="78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85C8B5-61F1-6347-B3DD-D349137B4E8D}" v="11" dt="2026-02-08T15:10:14.7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32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200" y="6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HKURI RAJESH" userId="938a5ba3-a373-4cc1-8f91-3d8a23045f4d" providerId="ADAL" clId="{FB6625DE-5704-5C68-A374-D527ACA158B2}"/>
    <pc:docChg chg="undo custSel modSld">
      <pc:chgData name="MACHKURI RAJESH" userId="938a5ba3-a373-4cc1-8f91-3d8a23045f4d" providerId="ADAL" clId="{FB6625DE-5704-5C68-A374-D527ACA158B2}" dt="2026-02-08T15:13:02.577" v="229" actId="1076"/>
      <pc:docMkLst>
        <pc:docMk/>
      </pc:docMkLst>
      <pc:sldChg chg="modSp mod">
        <pc:chgData name="MACHKURI RAJESH" userId="938a5ba3-a373-4cc1-8f91-3d8a23045f4d" providerId="ADAL" clId="{FB6625DE-5704-5C68-A374-D527ACA158B2}" dt="2026-02-08T15:13:02.577" v="229" actId="1076"/>
        <pc:sldMkLst>
          <pc:docMk/>
          <pc:sldMk cId="2377180271" sldId="799"/>
        </pc:sldMkLst>
        <pc:spChg chg="mod">
          <ac:chgData name="MACHKURI RAJESH" userId="938a5ba3-a373-4cc1-8f91-3d8a23045f4d" providerId="ADAL" clId="{FB6625DE-5704-5C68-A374-D527ACA158B2}" dt="2026-02-08T15:13:02.577" v="229" actId="1076"/>
          <ac:spMkLst>
            <pc:docMk/>
            <pc:sldMk cId="2377180271" sldId="799"/>
            <ac:spMk id="3" creationId="{36021E9E-C4C4-507E-2E95-3A621213447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4F1D50-B6A2-4019-9617-B0BA6E91FF9B}" type="datetimeFigureOut">
              <a:rPr lang="en-IN" smtClean="0"/>
              <a:pPr/>
              <a:t>21/02/26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760D06-E71C-4CF6-B4AC-B8B6AF0BE46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849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2439-1400-4871-A1E8-C7474D447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3264D-B01A-4290-A82E-7727F4A13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C1F4C-564C-456D-BF72-8037A3716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C200F-3AD5-488B-A90C-E22EC162B81D}" type="datetime1">
              <a:rPr lang="en-IN" smtClean="0"/>
              <a:pPr/>
              <a:t>21/02/26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C422B-5E07-4115-9932-3FA2E7B0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0577A-0E47-4E38-A660-FC0D76D72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83BA4-7B10-4BE3-A0B2-A48721054ED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17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FC8F7-1408-4E03-9E4D-89F36571F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CEAC2-EDD9-4A1B-8E30-3AB3CE54F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494BC-2B5F-4933-96F3-C02C7484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BDB05-E2D4-4D29-8882-DE25842599A2}" type="datetime1">
              <a:rPr lang="en-IN" smtClean="0"/>
              <a:pPr/>
              <a:t>21/02/26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B0BB-7BCF-4959-B22F-283F7527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7FB52-389D-429A-827B-5EA4CA249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83BA4-7B10-4BE3-A0B2-A48721054ED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497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59E0A-F353-45A7-9D3D-4197FDEB5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8B4B3-9A58-47AF-892D-7B145EFA2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CD6A9-D5B1-4AEF-BE15-B459414C0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2B590-2B55-4604-B193-5B6D0EBB3818}" type="datetime1">
              <a:rPr lang="en-IN" smtClean="0"/>
              <a:pPr/>
              <a:t>21/02/26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4FE73-2575-46E0-9292-232302734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F333C-0E24-431D-8BEA-6EC3E032D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83BA4-7B10-4BE3-A0B2-A48721054ED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025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0DEF8-2B7E-4274-9CCB-70BD370F6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C7C84-E9A9-4607-92DC-EFE2B8EB71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1AD39-BC46-468D-AD9D-6C9C7A244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748D0-6615-4EB1-8559-162BC9E68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046D-FD36-421D-B0B6-CF2E6F2F7E01}" type="datetime1">
              <a:rPr lang="en-IN" smtClean="0"/>
              <a:pPr/>
              <a:t>21/02/26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1EDC9-53F7-46CE-9B1C-B999BCF22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FECE7-D4F8-4E13-B22B-3E69193E1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83BA4-7B10-4BE3-A0B2-A48721054ED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402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53E51-6FED-4252-AE8D-10E9ADE8E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3A8CB-0EAC-4DFD-A825-F1A89E07E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B81793-EEE5-4B36-AB68-A56A3253E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B7E480-0365-40E1-BBF5-F594D108A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EFA48-5012-4D51-B8C0-91BF319E94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D1D2DF-7DFA-4CF0-BC4B-72FFBFAA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9C6A-C228-4666-85AF-BFCAEE8D9375}" type="datetime1">
              <a:rPr lang="en-IN" smtClean="0"/>
              <a:pPr/>
              <a:t>21/02/26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739B97-6D68-4A91-A511-2AE65BFA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6BD875-8D41-458D-8FE8-BE926E35D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83BA4-7B10-4BE3-A0B2-A48721054ED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475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6007-8559-4DDA-ADB5-24066989C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EE19D-7F57-4B73-B755-C39F7A12E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76AC4-8DFC-4A25-AB02-3BCD901770ED}" type="datetime1">
              <a:rPr lang="en-IN" smtClean="0"/>
              <a:pPr/>
              <a:t>21/02/26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AAA0DE-AFC5-477D-9E07-FD8BD826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B54AAA-3535-4C14-8166-FB6EACD31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83BA4-7B10-4BE3-A0B2-A48721054ED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10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B6E093-DDDC-4C60-AEF1-EA4F544AD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A7FA7-F693-4DFB-AEDA-FE633EEC95AF}" type="datetime1">
              <a:rPr lang="en-IN" smtClean="0"/>
              <a:pPr/>
              <a:t>21/02/26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C2FED-4935-43BE-9345-59669AE02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24748-2BAB-49A8-95A7-B4AD77E4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83BA4-7B10-4BE3-A0B2-A48721054ED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68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2EA04-776C-4163-B584-044C333D8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C04F9-E6C0-4D16-8852-953534E20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72862F-7160-4A67-8704-C47A0C879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65858-28DA-46E5-9508-74636F89D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56386-F633-4E6A-B8A1-EED31EF84510}" type="datetime1">
              <a:rPr lang="en-IN" smtClean="0"/>
              <a:pPr/>
              <a:t>21/02/26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17B50-2DD1-4DB8-B8B8-0BAE9C952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1DAEE-A292-4277-BDC0-0070E249C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83BA4-7B10-4BE3-A0B2-A48721054ED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977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C3873-316E-4899-8153-7086CCE4E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B67437-F6CB-4767-9B90-77B1BC10B1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1625E-C2D4-4EC5-8F44-FBF944F65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B6A3B-16DE-4E18-A332-29669A10B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880F4-BE75-409D-AF89-489FEC0B9E5F}" type="datetime1">
              <a:rPr lang="en-IN" smtClean="0"/>
              <a:pPr/>
              <a:t>21/02/26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5B289-D318-4A9C-BD6D-C44A84929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FA0E2-2C8D-4D74-B06E-178C555F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83BA4-7B10-4BE3-A0B2-A48721054ED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004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190BA-7554-4D42-B48C-58DD0CF43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F3D475-FB0E-4B81-B116-9EF55A904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76E95-0183-4750-AF5B-7618B5693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F6F4-037B-4332-9282-471FE71B5F7F}" type="datetime1">
              <a:rPr lang="en-IN" smtClean="0"/>
              <a:pPr/>
              <a:t>21/02/26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E9BCE-0963-403B-9D25-E460EE59B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EF912-9095-430D-8535-5BD3E4EF8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83BA4-7B10-4BE3-A0B2-A48721054ED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654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CF8ED9-F70E-4EB1-8828-BC267D05C3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D1639-EE11-4E0F-9935-5EE4029CB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C24BC-5C21-463E-8224-EEBB474F4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ABC32-C334-4B49-A727-D2C2C2E2FFFE}" type="datetime1">
              <a:rPr lang="en-IN" smtClean="0"/>
              <a:pPr/>
              <a:t>21/02/26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17959-F41C-4265-B950-CE05B800F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3A482-8769-4E02-B46E-565987B03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83BA4-7B10-4BE3-A0B2-A48721054ED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96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167512-9A59-4F80-BDE3-E2EC9081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B3164-25AA-4E2F-9CBD-64DBB8BCE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E2F16-F4BC-4CDE-9BA1-3FF94AA15E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12017-EE5D-4064-B320-4434A6A5A13F}" type="datetime1">
              <a:rPr lang="en-IN" smtClean="0"/>
              <a:pPr/>
              <a:t>21/02/26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6BA1D-C155-4BD7-98A4-5C4CD141F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FD399-70D5-46C3-AF05-F083473AF3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83BA4-7B10-4BE3-A0B2-A48721054ED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878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" TargetMode="External"/><Relationship Id="rId2" Type="http://schemas.openxmlformats.org/officeDocument/2006/relationships/hyperlink" Target="https://www.rbi.org.i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ikit-learn.org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image2.jpg">
            <a:extLst>
              <a:ext uri="{FF2B5EF4-FFF2-40B4-BE49-F238E27FC236}">
                <a16:creationId xmlns:a16="http://schemas.microsoft.com/office/drawing/2014/main" id="{663F759D-B900-42CE-B030-8F4D88C8D3C0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2386" y="0"/>
            <a:ext cx="2029613" cy="163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171B3D-41F2-4B45-860B-5E3607A31D49}"/>
              </a:ext>
            </a:extLst>
          </p:cNvPr>
          <p:cNvSpPr txBox="1"/>
          <p:nvPr/>
        </p:nvSpPr>
        <p:spPr>
          <a:xfrm>
            <a:off x="2398217" y="94410"/>
            <a:ext cx="7095897" cy="1454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6510" algn="ctr">
              <a:spcBef>
                <a:spcPts val="365"/>
              </a:spcBef>
              <a:spcAft>
                <a:spcPts val="250"/>
              </a:spcAft>
            </a:pPr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St. MARTIN’S ENGINEERING COLLEGE</a:t>
            </a:r>
            <a:endParaRPr lang="en-IN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1085850" indent="-2540" algn="ctr">
              <a:spcBef>
                <a:spcPts val="240"/>
              </a:spcBef>
              <a:spcAft>
                <a:spcPts val="250"/>
              </a:spcAft>
            </a:pPr>
            <a:r>
              <a:rPr lang="en-IN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UGC Autonomous </a:t>
            </a:r>
          </a:p>
          <a:p>
            <a:pPr marL="1143000" marR="1085850" indent="-2540" algn="ctr">
              <a:spcBef>
                <a:spcPts val="240"/>
              </a:spcBef>
              <a:spcAft>
                <a:spcPts val="250"/>
              </a:spcAft>
            </a:pPr>
            <a:r>
              <a:rPr lang="en-IN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NBA &amp; NAAC A+ ACCREDITED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143000" marR="1085850" indent="-2540" algn="ctr">
              <a:spcBef>
                <a:spcPts val="240"/>
              </a:spcBef>
              <a:spcAft>
                <a:spcPts val="250"/>
              </a:spcAft>
            </a:pPr>
            <a:r>
              <a:rPr lang="en-IN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Dhulapally, Secunderabad – 500 100 </a:t>
            </a:r>
            <a:endParaRPr lang="en-IN" sz="1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76D3B75-5278-4020-9209-060C511363F8}"/>
              </a:ext>
            </a:extLst>
          </p:cNvPr>
          <p:cNvSpPr txBox="1">
            <a:spLocks/>
          </p:cNvSpPr>
          <p:nvPr/>
        </p:nvSpPr>
        <p:spPr>
          <a:xfrm>
            <a:off x="-1" y="2190941"/>
            <a:ext cx="12192000" cy="110050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on</a:t>
            </a:r>
          </a:p>
          <a:p>
            <a:pPr marL="0" indent="0" algn="ctr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Loan Eligibility Prediction for Banks using Machine Learning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E8A074-7A92-49E2-B981-AE2FCEAEB324}"/>
              </a:ext>
            </a:extLst>
          </p:cNvPr>
          <p:cNvSpPr txBox="1"/>
          <p:nvPr/>
        </p:nvSpPr>
        <p:spPr>
          <a:xfrm>
            <a:off x="2891786" y="3339576"/>
            <a:ext cx="64084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Batch No: 13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1. M. Rajesh                                 (23K81A7296)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2. K. Sree Akhil                            (23K81A7292)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3. CH. Ram Mahideep Varma    (23K81A7279)</a:t>
            </a:r>
          </a:p>
          <a:p>
            <a:pPr algn="ctr"/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4846BF-F4EE-4ADF-8E6D-318E4ACE8748}"/>
              </a:ext>
            </a:extLst>
          </p:cNvPr>
          <p:cNvSpPr txBox="1"/>
          <p:nvPr/>
        </p:nvSpPr>
        <p:spPr>
          <a:xfrm>
            <a:off x="-149835" y="5193930"/>
            <a:ext cx="12191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V. Vishnu Vardhan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&amp; Data Science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34" y="94410"/>
            <a:ext cx="1460912" cy="124012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" y="1579432"/>
            <a:ext cx="12191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Department of </a:t>
            </a:r>
          </a:p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ARTIFICIAL INTELLIGENCE &amp; DATA SCIENCE</a:t>
            </a:r>
          </a:p>
        </p:txBody>
      </p:sp>
    </p:spTree>
    <p:extLst>
      <p:ext uri="{BB962C8B-B14F-4D97-AF65-F5344CB8AC3E}">
        <p14:creationId xmlns:p14="http://schemas.microsoft.com/office/powerpoint/2010/main" val="737780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3B23A-95F2-3C95-8743-882C2DEF0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68A28-9F29-ADE3-43B2-81BC6E41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spcBef>
                <a:spcPts val="415"/>
              </a:spcBef>
              <a:buSzPct val="80000"/>
              <a:buFont typeface="+mj-lt"/>
              <a:buAutoNum type="arabicPeriod"/>
              <a:tabLst>
                <a:tab pos="367030" algn="l"/>
              </a:tabLst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Abstract.</a:t>
            </a:r>
          </a:p>
          <a:p>
            <a:pPr marL="457200" indent="-457200" algn="just">
              <a:lnSpc>
                <a:spcPct val="150000"/>
              </a:lnSpc>
              <a:spcBef>
                <a:spcPts val="415"/>
              </a:spcBef>
              <a:buSzPct val="80000"/>
              <a:buFont typeface="+mj-lt"/>
              <a:buAutoNum type="arabicPeriod"/>
              <a:tabLst>
                <a:tab pos="367030" algn="l"/>
              </a:tabLst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Detailed Design.</a:t>
            </a:r>
          </a:p>
          <a:p>
            <a:pPr marL="457200" indent="-457200" algn="just">
              <a:lnSpc>
                <a:spcPct val="150000"/>
              </a:lnSpc>
              <a:spcBef>
                <a:spcPts val="415"/>
              </a:spcBef>
              <a:buSzPct val="80000"/>
              <a:buFont typeface="+mj-lt"/>
              <a:buAutoNum type="arabicPeriod"/>
              <a:tabLst>
                <a:tab pos="367030" algn="l"/>
              </a:tabLst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Contribution of the Candidate.</a:t>
            </a:r>
          </a:p>
          <a:p>
            <a:pPr marL="457200" indent="-457200" algn="just">
              <a:lnSpc>
                <a:spcPct val="150000"/>
              </a:lnSpc>
              <a:spcBef>
                <a:spcPts val="415"/>
              </a:spcBef>
              <a:buSzPct val="80000"/>
              <a:buFont typeface="+mj-lt"/>
              <a:buAutoNum type="arabicPeriod"/>
              <a:tabLst>
                <a:tab pos="367030" algn="l"/>
              </a:tabLst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Results Obtained.</a:t>
            </a:r>
          </a:p>
          <a:p>
            <a:pPr marL="457200" indent="-457200" algn="just">
              <a:lnSpc>
                <a:spcPct val="150000"/>
              </a:lnSpc>
              <a:spcBef>
                <a:spcPts val="415"/>
              </a:spcBef>
              <a:buSzPct val="80000"/>
              <a:buFont typeface="+mj-lt"/>
              <a:buAutoNum type="arabicPeriod"/>
              <a:tabLst>
                <a:tab pos="367030" algn="l"/>
              </a:tabLst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References.</a:t>
            </a:r>
          </a:p>
          <a:p>
            <a:pPr marL="457200" indent="-457200" algn="just">
              <a:lnSpc>
                <a:spcPct val="150000"/>
              </a:lnSpc>
              <a:spcBef>
                <a:spcPts val="415"/>
              </a:spcBef>
              <a:buSzPct val="80000"/>
              <a:buFont typeface="+mj-lt"/>
              <a:buAutoNum type="arabicPeriod"/>
              <a:tabLst>
                <a:tab pos="367030" algn="l"/>
              </a:tabLst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80% of Code Implementation.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50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EBF48-C3DE-5DFC-884B-EE10A6769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7D93E-D42B-38AA-BF00-89363A827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366"/>
            <a:ext cx="10515600" cy="480218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demand for loans has increased significantly for both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and business purposes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Due to limited assets, banks cannot grant loans to every applicant. And the Loan approval processes in banks often depend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process, which leads to delays, biases, and high default risks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So, In this  project we introduces a machine learning - based system to predict loan eligibility accurately and efficiently and within less time. Using a datasets including features like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income, credit history, employment status, loan amount, and tenure.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we applied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algorithms including Logistic Regression, Decision Trees, Random Forest, and Support Vector Machines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Data preprocessing involves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values, encoding categorical variables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44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89C7A-3784-4096-2C50-990B2EC66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DETAILED DESIGN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Content Placeholder 15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51037B9C-DA99-EE57-AD46-438D10BCD2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091" y="1690688"/>
            <a:ext cx="7337815" cy="4663930"/>
          </a:xfrm>
        </p:spPr>
      </p:pic>
    </p:spTree>
    <p:extLst>
      <p:ext uri="{BB962C8B-B14F-4D97-AF65-F5344CB8AC3E}">
        <p14:creationId xmlns:p14="http://schemas.microsoft.com/office/powerpoint/2010/main" val="2541125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3F2DC-C532-8906-99E5-EFD3787CD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CONTRIBUTION OF THE CANDIDATE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346E1-ED67-67E9-2226-1290B40E0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6717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K. SREE AKHIL CONTRIBUTION TOWARDS: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and Problem Selection, System design (Architecture, ER Diagram, Flowcharts) and Documentation / Presentation.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M. RAJESH CONTRIBUTION TOWARDS: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(Frontend / Backend / ML Model), Testing and Debugging and Result Analysis.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CH. RAM MAHIDEEP VARMA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TOWARDS: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and Research, Proposed System and Existing System and Algorithms / Techniques.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068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8BD70-6FFD-0DD1-1DFF-52DD1B513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RESULTS OBTAINED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Content Placeholder 12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8E406DE9-9DE8-4197-34A9-F16B60F04A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09669"/>
            <a:ext cx="3478923" cy="3038662"/>
          </a:xfrm>
        </p:spPr>
      </p:pic>
      <p:pic>
        <p:nvPicPr>
          <p:cNvPr id="15" name="Picture 14" descr="A pie chart with numbers and a number&#10;&#10;AI-generated content may be incorrect.">
            <a:extLst>
              <a:ext uri="{FF2B5EF4-FFF2-40B4-BE49-F238E27FC236}">
                <a16:creationId xmlns:a16="http://schemas.microsoft.com/office/drawing/2014/main" id="{C0BAC6A7-A8EB-D9B6-5AC9-86032E8A1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013" y="1909669"/>
            <a:ext cx="3018866" cy="3038662"/>
          </a:xfrm>
          <a:prstGeom prst="rect">
            <a:avLst/>
          </a:prstGeom>
        </p:spPr>
      </p:pic>
      <p:pic>
        <p:nvPicPr>
          <p:cNvPr id="17" name="Picture 16" descr="A graph of a bar chart&#10;&#10;AI-generated content may be incorrect.">
            <a:extLst>
              <a:ext uri="{FF2B5EF4-FFF2-40B4-BE49-F238E27FC236}">
                <a16:creationId xmlns:a16="http://schemas.microsoft.com/office/drawing/2014/main" id="{D1AB8FC5-216B-055B-D1B0-44BA6400A2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483" y="1909669"/>
            <a:ext cx="3115317" cy="320245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919709B-5E5C-6F43-B049-70B898F81257}"/>
              </a:ext>
            </a:extLst>
          </p:cNvPr>
          <p:cNvSpPr txBox="1"/>
          <p:nvPr/>
        </p:nvSpPr>
        <p:spPr>
          <a:xfrm>
            <a:off x="1844640" y="5112128"/>
            <a:ext cx="1466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STATUS 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(Bar Graph)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9DD33C-F06E-A6C8-C255-261AD8C89283}"/>
              </a:ext>
            </a:extLst>
          </p:cNvPr>
          <p:cNvSpPr txBox="1"/>
          <p:nvPr/>
        </p:nvSpPr>
        <p:spPr>
          <a:xfrm>
            <a:off x="4863656" y="5112128"/>
            <a:ext cx="3003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DEPENDENTS 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(Pie Chart)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FBD5E6-3806-4090-948B-4EDDBE3934D0}"/>
              </a:ext>
            </a:extLst>
          </p:cNvPr>
          <p:cNvSpPr txBox="1"/>
          <p:nvPr/>
        </p:nvSpPr>
        <p:spPr>
          <a:xfrm>
            <a:off x="8443451" y="5158295"/>
            <a:ext cx="29103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COMPARISION IN EDUCATION 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Stacked Bar Chart)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599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bar graph&#10;&#10;AI-generated content may be incorrect.">
            <a:extLst>
              <a:ext uri="{FF2B5EF4-FFF2-40B4-BE49-F238E27FC236}">
                <a16:creationId xmlns:a16="http://schemas.microsoft.com/office/drawing/2014/main" id="{4C9D0D5A-50CF-DC18-07C8-36712DBCE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05" y="1659339"/>
            <a:ext cx="3138967" cy="3188529"/>
          </a:xfrm>
          <a:prstGeom prst="rect">
            <a:avLst/>
          </a:prstGeom>
        </p:spPr>
      </p:pic>
      <p:pic>
        <p:nvPicPr>
          <p:cNvPr id="7" name="Picture 6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398DAA86-19D6-4AD4-F527-0CCFC6C86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98" y="1659339"/>
            <a:ext cx="3138967" cy="3130596"/>
          </a:xfrm>
          <a:prstGeom prst="rect">
            <a:avLst/>
          </a:prstGeom>
        </p:spPr>
      </p:pic>
      <p:pic>
        <p:nvPicPr>
          <p:cNvPr id="9" name="Picture 8" descr="A graph with blue squares&#10;&#10;AI-generated content may be incorrect.">
            <a:extLst>
              <a:ext uri="{FF2B5EF4-FFF2-40B4-BE49-F238E27FC236}">
                <a16:creationId xmlns:a16="http://schemas.microsoft.com/office/drawing/2014/main" id="{F27A70E3-888F-90FA-E2EC-215D2DA6C7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3991" y="1659339"/>
            <a:ext cx="3610374" cy="31138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BC0053-8C39-E25D-BCD8-3BA081E16609}"/>
              </a:ext>
            </a:extLst>
          </p:cNvPr>
          <p:cNvSpPr txBox="1"/>
          <p:nvPr/>
        </p:nvSpPr>
        <p:spPr>
          <a:xfrm>
            <a:off x="206005" y="5198661"/>
            <a:ext cx="33498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COMPARISION IN SELF EMPLOYED 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Stacked Bar Chart)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B6805F-AC43-87C9-EE2A-06669E71E27D}"/>
              </a:ext>
            </a:extLst>
          </p:cNvPr>
          <p:cNvSpPr txBox="1"/>
          <p:nvPr/>
        </p:nvSpPr>
        <p:spPr>
          <a:xfrm>
            <a:off x="4875013" y="5198661"/>
            <a:ext cx="2039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OF DEPENDENTS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(Stacked Bar Chart)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3C6467-E84D-E5B1-6C49-A245F07D7C88}"/>
              </a:ext>
            </a:extLst>
          </p:cNvPr>
          <p:cNvSpPr txBox="1"/>
          <p:nvPr/>
        </p:nvSpPr>
        <p:spPr>
          <a:xfrm>
            <a:off x="8233278" y="5198661"/>
            <a:ext cx="3291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THE VARIABLES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Histogram)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052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22A0C00F-9CE5-3C8A-6B85-7052EA176F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25" y="419648"/>
            <a:ext cx="4060997" cy="2361103"/>
          </a:xfrm>
          <a:prstGeom prst="rect">
            <a:avLst/>
          </a:prstGeom>
        </p:spPr>
      </p:pic>
      <p:pic>
        <p:nvPicPr>
          <p:cNvPr id="7" name="Picture 6" descr="A graph of different sizes and shapes&#10;&#10;AI-generated content may be incorrect.">
            <a:extLst>
              <a:ext uri="{FF2B5EF4-FFF2-40B4-BE49-F238E27FC236}">
                <a16:creationId xmlns:a16="http://schemas.microsoft.com/office/drawing/2014/main" id="{A9D02260-A35C-1601-3538-6AEF795BB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577" y="2287102"/>
            <a:ext cx="4540169" cy="2283795"/>
          </a:xfrm>
          <a:prstGeom prst="rect">
            <a:avLst/>
          </a:prstGeom>
        </p:spPr>
      </p:pic>
      <p:pic>
        <p:nvPicPr>
          <p:cNvPr id="9" name="Picture 8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BDE12C7A-EB2C-DA95-B6BC-F7D611CDCC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25" y="4077250"/>
            <a:ext cx="4266260" cy="23611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65E7BF-DA18-DCDE-0C5A-AFADA26CA226}"/>
              </a:ext>
            </a:extLst>
          </p:cNvPr>
          <p:cNvSpPr txBox="1"/>
          <p:nvPr/>
        </p:nvSpPr>
        <p:spPr>
          <a:xfrm>
            <a:off x="4323522" y="1076979"/>
            <a:ext cx="4709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OUTLIERS FOR NUMERICAL COLUMNS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Plot)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C52B65-FEEE-6BC6-58AB-F08A36BCAA3A}"/>
              </a:ext>
            </a:extLst>
          </p:cNvPr>
          <p:cNvSpPr txBox="1"/>
          <p:nvPr/>
        </p:nvSpPr>
        <p:spPr>
          <a:xfrm>
            <a:off x="2773272" y="3167390"/>
            <a:ext cx="3511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OF ALL DATA SETS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(Histogram)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FAA5C6-4DD4-0C23-D780-18D439960F59}"/>
              </a:ext>
            </a:extLst>
          </p:cNvPr>
          <p:cNvSpPr txBox="1"/>
          <p:nvPr/>
        </p:nvSpPr>
        <p:spPr>
          <a:xfrm>
            <a:off x="4528785" y="4996190"/>
            <a:ext cx="2924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ALL MODELS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Grouped Bar Chart)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471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631C0-BB62-646A-14A5-4FE00618C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21E9E-C4C4-507E-2E95-3A6212134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 algn="just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Reserve Bank of India - Credit Risk Management Guidelines:-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https://www.rbi.org.in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- Loan Prediction Dataset:-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https://www.kaggle.com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- Documentation:-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https://scikit-learn.org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AutoNum type="arabicPeriod" startAt="4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 M. Mitchell - Machine Learning - McGraw-Hill:-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1997 (Education Company)</a:t>
            </a:r>
          </a:p>
          <a:p>
            <a:pPr marL="514350" indent="-514350" algn="just">
              <a:buAutoNum type="arabicPeriod" startAt="4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Eligibility Prediction Using Machine Learning - Sanketika Vidya Parishad Engineering College:-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July, 2025 </a:t>
            </a:r>
          </a:p>
        </p:txBody>
      </p:sp>
    </p:spTree>
    <p:extLst>
      <p:ext uri="{BB962C8B-B14F-4D97-AF65-F5344CB8AC3E}">
        <p14:creationId xmlns:p14="http://schemas.microsoft.com/office/powerpoint/2010/main" val="2377180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43F3-5FF8-2ED2-04E2-D91E52322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80% of Code Implementation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Content Placeholder 3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0C1C02-1C1E-3D0C-B611-21F10BC44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915" y="1637408"/>
            <a:ext cx="9124169" cy="4855467"/>
          </a:xfrm>
        </p:spPr>
      </p:pic>
    </p:spTree>
    <p:extLst>
      <p:ext uri="{BB962C8B-B14F-4D97-AF65-F5344CB8AC3E}">
        <p14:creationId xmlns:p14="http://schemas.microsoft.com/office/powerpoint/2010/main" val="3878370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468622-ECC5-A2AB-C33E-E54A192BB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957828"/>
            <a:ext cx="7772400" cy="494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90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77A530-3D39-7D29-4613-D245FE8BC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721487"/>
            <a:ext cx="7772400" cy="541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031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F11F50-A95F-B4E3-2C69-68E66FBE4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258" y="1205615"/>
            <a:ext cx="8145483" cy="444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79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8E6F00-3505-5735-4B4C-86C53C7D5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006" y="1148355"/>
            <a:ext cx="8287987" cy="456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26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76D2E-3A19-4D6C-8ADD-F94385C56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27175"/>
            <a:ext cx="12192000" cy="1203649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 ??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273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76D2E-3A19-4D6C-8ADD-F94385C56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27175"/>
            <a:ext cx="12192000" cy="1203649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411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2470</TotalTime>
  <Words>485</Words>
  <Application>Microsoft Macintosh PowerPoint</Application>
  <PresentationFormat>Widescreen</PresentationFormat>
  <Paragraphs>61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OUTLINE</vt:lpstr>
      <vt:lpstr>ABSTRACT</vt:lpstr>
      <vt:lpstr>DETAILED DESIGN</vt:lpstr>
      <vt:lpstr>CONTRIBUTION OF THE CANDIDATE</vt:lpstr>
      <vt:lpstr>RESULTS OBTAINED</vt:lpstr>
      <vt:lpstr>PowerPoint Presentation</vt:lpstr>
      <vt:lpstr>PowerPoint Presentation</vt:lpstr>
      <vt:lpstr>REFERENCES</vt:lpstr>
      <vt:lpstr>80% of Code Implementation</vt:lpstr>
      <vt:lpstr>PowerPoint Presentation</vt:lpstr>
      <vt:lpstr>PowerPoint Presentation</vt:lpstr>
      <vt:lpstr>PowerPoint Presentation</vt:lpstr>
      <vt:lpstr>PowerPoint Presentation</vt:lpstr>
      <vt:lpstr>QUERIES ??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Pravallika Reddy</dc:creator>
  <cp:lastModifiedBy>MACHKURI RAJESH</cp:lastModifiedBy>
  <cp:revision>96</cp:revision>
  <dcterms:created xsi:type="dcterms:W3CDTF">2021-05-18T14:01:25Z</dcterms:created>
  <dcterms:modified xsi:type="dcterms:W3CDTF">2026-02-21T05:09:41Z</dcterms:modified>
</cp:coreProperties>
</file>