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iDT/WAWTwr/FNsQcRcQJySB8t4x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8D79F7-C436-3646-8088-E7CA8DB75B5A}" v="2" dt="2026-01-08T09:33:25.9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62"/>
    <p:restoredTop sz="96699"/>
  </p:normalViewPr>
  <p:slideViewPr>
    <p:cSldViewPr snapToGrid="0">
      <p:cViewPr>
        <p:scale>
          <a:sx n="115" d="100"/>
          <a:sy n="115" d="100"/>
        </p:scale>
        <p:origin x="464" y="1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microsoft.com/office/2016/11/relationships/changesInfo" Target="changesInfos/changesInfo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CHKURI RAJESH" userId="938a5ba3-a373-4cc1-8f91-3d8a23045f4d" providerId="ADAL" clId="{FB6625DE-5704-5C68-A374-D527ACA158B2}"/>
    <pc:docChg chg="undo custSel delSld modSld">
      <pc:chgData name="MACHKURI RAJESH" userId="938a5ba3-a373-4cc1-8f91-3d8a23045f4d" providerId="ADAL" clId="{FB6625DE-5704-5C68-A374-D527ACA158B2}" dt="2026-01-08T09:37:26.607" v="148" actId="14100"/>
      <pc:docMkLst>
        <pc:docMk/>
      </pc:docMkLst>
      <pc:sldChg chg="modSp mod">
        <pc:chgData name="MACHKURI RAJESH" userId="938a5ba3-a373-4cc1-8f91-3d8a23045f4d" providerId="ADAL" clId="{FB6625DE-5704-5C68-A374-D527ACA158B2}" dt="2026-01-08T09:37:26.607" v="148" actId="14100"/>
        <pc:sldMkLst>
          <pc:docMk/>
          <pc:sldMk cId="0" sldId="256"/>
        </pc:sldMkLst>
        <pc:picChg chg="mod">
          <ac:chgData name="MACHKURI RAJESH" userId="938a5ba3-a373-4cc1-8f91-3d8a23045f4d" providerId="ADAL" clId="{FB6625DE-5704-5C68-A374-D527ACA158B2}" dt="2026-01-08T09:37:26.607" v="148" actId="14100"/>
          <ac:picMkLst>
            <pc:docMk/>
            <pc:sldMk cId="0" sldId="256"/>
            <ac:picMk id="88" creationId="{00000000-0000-0000-0000-000000000000}"/>
          </ac:picMkLst>
        </pc:picChg>
      </pc:sldChg>
      <pc:sldChg chg="delSp modSp mod">
        <pc:chgData name="MACHKURI RAJESH" userId="938a5ba3-a373-4cc1-8f91-3d8a23045f4d" providerId="ADAL" clId="{FB6625DE-5704-5C68-A374-D527ACA158B2}" dt="2026-01-08T08:21:35.133" v="124" actId="1076"/>
        <pc:sldMkLst>
          <pc:docMk/>
          <pc:sldMk cId="0" sldId="257"/>
        </pc:sldMkLst>
        <pc:spChg chg="mod">
          <ac:chgData name="MACHKURI RAJESH" userId="938a5ba3-a373-4cc1-8f91-3d8a23045f4d" providerId="ADAL" clId="{FB6625DE-5704-5C68-A374-D527ACA158B2}" dt="2026-01-08T08:21:35.133" v="124" actId="1076"/>
          <ac:spMkLst>
            <pc:docMk/>
            <pc:sldMk cId="0" sldId="257"/>
            <ac:spMk id="100" creationId="{00000000-0000-0000-0000-000000000000}"/>
          </ac:spMkLst>
        </pc:spChg>
        <pc:spChg chg="del mod">
          <ac:chgData name="MACHKURI RAJESH" userId="938a5ba3-a373-4cc1-8f91-3d8a23045f4d" providerId="ADAL" clId="{FB6625DE-5704-5C68-A374-D527ACA158B2}" dt="2026-01-08T08:09:09.913" v="3" actId="478"/>
          <ac:spMkLst>
            <pc:docMk/>
            <pc:sldMk cId="0" sldId="257"/>
            <ac:spMk id="101" creationId="{00000000-0000-0000-0000-000000000000}"/>
          </ac:spMkLst>
        </pc:spChg>
      </pc:sldChg>
      <pc:sldChg chg="delSp modSp mod">
        <pc:chgData name="MACHKURI RAJESH" userId="938a5ba3-a373-4cc1-8f91-3d8a23045f4d" providerId="ADAL" clId="{FB6625DE-5704-5C68-A374-D527ACA158B2}" dt="2026-01-08T08:14:20.994" v="36" actId="1076"/>
        <pc:sldMkLst>
          <pc:docMk/>
          <pc:sldMk cId="0" sldId="258"/>
        </pc:sldMkLst>
        <pc:spChg chg="mod">
          <ac:chgData name="MACHKURI RAJESH" userId="938a5ba3-a373-4cc1-8f91-3d8a23045f4d" providerId="ADAL" clId="{FB6625DE-5704-5C68-A374-D527ACA158B2}" dt="2026-01-08T08:14:20.994" v="36" actId="1076"/>
          <ac:spMkLst>
            <pc:docMk/>
            <pc:sldMk cId="0" sldId="258"/>
            <ac:spMk id="107" creationId="{00000000-0000-0000-0000-000000000000}"/>
          </ac:spMkLst>
        </pc:spChg>
        <pc:spChg chg="mod">
          <ac:chgData name="MACHKURI RAJESH" userId="938a5ba3-a373-4cc1-8f91-3d8a23045f4d" providerId="ADAL" clId="{FB6625DE-5704-5C68-A374-D527ACA158B2}" dt="2026-01-08T08:13:45.411" v="34" actId="14100"/>
          <ac:spMkLst>
            <pc:docMk/>
            <pc:sldMk cId="0" sldId="258"/>
            <ac:spMk id="108" creationId="{00000000-0000-0000-0000-000000000000}"/>
          </ac:spMkLst>
        </pc:spChg>
        <pc:spChg chg="del">
          <ac:chgData name="MACHKURI RAJESH" userId="938a5ba3-a373-4cc1-8f91-3d8a23045f4d" providerId="ADAL" clId="{FB6625DE-5704-5C68-A374-D527ACA158B2}" dt="2026-01-08T08:09:15.705" v="4" actId="478"/>
          <ac:spMkLst>
            <pc:docMk/>
            <pc:sldMk cId="0" sldId="258"/>
            <ac:spMk id="109" creationId="{00000000-0000-0000-0000-000000000000}"/>
          </ac:spMkLst>
        </pc:spChg>
      </pc:sldChg>
      <pc:sldChg chg="delSp modSp mod">
        <pc:chgData name="MACHKURI RAJESH" userId="938a5ba3-a373-4cc1-8f91-3d8a23045f4d" providerId="ADAL" clId="{FB6625DE-5704-5C68-A374-D527ACA158B2}" dt="2026-01-08T08:18:16.698" v="107" actId="1076"/>
        <pc:sldMkLst>
          <pc:docMk/>
          <pc:sldMk cId="0" sldId="259"/>
        </pc:sldMkLst>
        <pc:spChg chg="mod">
          <ac:chgData name="MACHKURI RAJESH" userId="938a5ba3-a373-4cc1-8f91-3d8a23045f4d" providerId="ADAL" clId="{FB6625DE-5704-5C68-A374-D527ACA158B2}" dt="2026-01-08T08:15:11.877" v="71" actId="1076"/>
          <ac:spMkLst>
            <pc:docMk/>
            <pc:sldMk cId="0" sldId="259"/>
            <ac:spMk id="115" creationId="{00000000-0000-0000-0000-000000000000}"/>
          </ac:spMkLst>
        </pc:spChg>
        <pc:spChg chg="mod">
          <ac:chgData name="MACHKURI RAJESH" userId="938a5ba3-a373-4cc1-8f91-3d8a23045f4d" providerId="ADAL" clId="{FB6625DE-5704-5C68-A374-D527ACA158B2}" dt="2026-01-08T08:18:16.698" v="107" actId="1076"/>
          <ac:spMkLst>
            <pc:docMk/>
            <pc:sldMk cId="0" sldId="259"/>
            <ac:spMk id="116" creationId="{00000000-0000-0000-0000-000000000000}"/>
          </ac:spMkLst>
        </pc:spChg>
        <pc:spChg chg="del mod">
          <ac:chgData name="MACHKURI RAJESH" userId="938a5ba3-a373-4cc1-8f91-3d8a23045f4d" providerId="ADAL" clId="{FB6625DE-5704-5C68-A374-D527ACA158B2}" dt="2026-01-08T08:09:26.217" v="13" actId="478"/>
          <ac:spMkLst>
            <pc:docMk/>
            <pc:sldMk cId="0" sldId="259"/>
            <ac:spMk id="117" creationId="{00000000-0000-0000-0000-000000000000}"/>
          </ac:spMkLst>
        </pc:spChg>
      </pc:sldChg>
      <pc:sldChg chg="delSp modSp mod">
        <pc:chgData name="MACHKURI RAJESH" userId="938a5ba3-a373-4cc1-8f91-3d8a23045f4d" providerId="ADAL" clId="{FB6625DE-5704-5C68-A374-D527ACA158B2}" dt="2026-01-08T08:16:45.046" v="90" actId="14100"/>
        <pc:sldMkLst>
          <pc:docMk/>
          <pc:sldMk cId="0" sldId="260"/>
        </pc:sldMkLst>
        <pc:spChg chg="mod">
          <ac:chgData name="MACHKURI RAJESH" userId="938a5ba3-a373-4cc1-8f91-3d8a23045f4d" providerId="ADAL" clId="{FB6625DE-5704-5C68-A374-D527ACA158B2}" dt="2026-01-08T08:16:45.046" v="90" actId="14100"/>
          <ac:spMkLst>
            <pc:docMk/>
            <pc:sldMk cId="0" sldId="260"/>
            <ac:spMk id="124" creationId="{00000000-0000-0000-0000-000000000000}"/>
          </ac:spMkLst>
        </pc:spChg>
        <pc:spChg chg="del mod">
          <ac:chgData name="MACHKURI RAJESH" userId="938a5ba3-a373-4cc1-8f91-3d8a23045f4d" providerId="ADAL" clId="{FB6625DE-5704-5C68-A374-D527ACA158B2}" dt="2026-01-08T08:09:31.553" v="15" actId="478"/>
          <ac:spMkLst>
            <pc:docMk/>
            <pc:sldMk cId="0" sldId="260"/>
            <ac:spMk id="125" creationId="{00000000-0000-0000-0000-000000000000}"/>
          </ac:spMkLst>
        </pc:spChg>
      </pc:sldChg>
      <pc:sldChg chg="addSp delSp modSp mod">
        <pc:chgData name="MACHKURI RAJESH" userId="938a5ba3-a373-4cc1-8f91-3d8a23045f4d" providerId="ADAL" clId="{FB6625DE-5704-5C68-A374-D527ACA158B2}" dt="2026-01-08T08:28:25.966" v="130" actId="1076"/>
        <pc:sldMkLst>
          <pc:docMk/>
          <pc:sldMk cId="0" sldId="261"/>
        </pc:sldMkLst>
        <pc:picChg chg="add mod">
          <ac:chgData name="MACHKURI RAJESH" userId="938a5ba3-a373-4cc1-8f91-3d8a23045f4d" providerId="ADAL" clId="{FB6625DE-5704-5C68-A374-D527ACA158B2}" dt="2026-01-08T08:28:25.966" v="130" actId="1076"/>
          <ac:picMkLst>
            <pc:docMk/>
            <pc:sldMk cId="0" sldId="261"/>
            <ac:picMk id="3" creationId="{745A8CFE-0E59-2A9B-9F8F-4D7EB20EB477}"/>
          </ac:picMkLst>
        </pc:picChg>
        <pc:picChg chg="del mod">
          <ac:chgData name="MACHKURI RAJESH" userId="938a5ba3-a373-4cc1-8f91-3d8a23045f4d" providerId="ADAL" clId="{FB6625DE-5704-5C68-A374-D527ACA158B2}" dt="2026-01-08T08:27:58.886" v="125" actId="478"/>
          <ac:picMkLst>
            <pc:docMk/>
            <pc:sldMk cId="0" sldId="261"/>
            <ac:picMk id="133" creationId="{00000000-0000-0000-0000-000000000000}"/>
          </ac:picMkLst>
        </pc:picChg>
      </pc:sldChg>
      <pc:sldChg chg="modSp mod">
        <pc:chgData name="MACHKURI RAJESH" userId="938a5ba3-a373-4cc1-8f91-3d8a23045f4d" providerId="ADAL" clId="{FB6625DE-5704-5C68-A374-D527ACA158B2}" dt="2026-01-08T08:17:55.550" v="104" actId="1076"/>
        <pc:sldMkLst>
          <pc:docMk/>
          <pc:sldMk cId="0" sldId="262"/>
        </pc:sldMkLst>
        <pc:picChg chg="mod">
          <ac:chgData name="MACHKURI RAJESH" userId="938a5ba3-a373-4cc1-8f91-3d8a23045f4d" providerId="ADAL" clId="{FB6625DE-5704-5C68-A374-D527ACA158B2}" dt="2026-01-08T08:17:55.550" v="104" actId="1076"/>
          <ac:picMkLst>
            <pc:docMk/>
            <pc:sldMk cId="0" sldId="262"/>
            <ac:picMk id="141" creationId="{00000000-0000-0000-0000-000000000000}"/>
          </ac:picMkLst>
        </pc:picChg>
      </pc:sldChg>
      <pc:sldChg chg="modSp mod">
        <pc:chgData name="MACHKURI RAJESH" userId="938a5ba3-a373-4cc1-8f91-3d8a23045f4d" providerId="ADAL" clId="{FB6625DE-5704-5C68-A374-D527ACA158B2}" dt="2026-01-08T09:35:03.990" v="147" actId="113"/>
        <pc:sldMkLst>
          <pc:docMk/>
          <pc:sldMk cId="0" sldId="263"/>
        </pc:sldMkLst>
        <pc:spChg chg="mod">
          <ac:chgData name="MACHKURI RAJESH" userId="938a5ba3-a373-4cc1-8f91-3d8a23045f4d" providerId="ADAL" clId="{FB6625DE-5704-5C68-A374-D527ACA158B2}" dt="2026-01-08T09:35:03.990" v="147" actId="113"/>
          <ac:spMkLst>
            <pc:docMk/>
            <pc:sldMk cId="0" sldId="263"/>
            <ac:spMk id="149" creationId="{00000000-0000-0000-0000-000000000000}"/>
          </ac:spMkLst>
        </pc:spChg>
        <pc:spChg chg="mod">
          <ac:chgData name="MACHKURI RAJESH" userId="938a5ba3-a373-4cc1-8f91-3d8a23045f4d" providerId="ADAL" clId="{FB6625DE-5704-5C68-A374-D527ACA158B2}" dt="2026-01-08T08:19:25.733" v="114" actId="1076"/>
          <ac:spMkLst>
            <pc:docMk/>
            <pc:sldMk cId="0" sldId="263"/>
            <ac:spMk id="151" creationId="{00000000-0000-0000-0000-000000000000}"/>
          </ac:spMkLst>
        </pc:spChg>
      </pc:sldChg>
      <pc:sldChg chg="modSp mod">
        <pc:chgData name="MACHKURI RAJESH" userId="938a5ba3-a373-4cc1-8f91-3d8a23045f4d" providerId="ADAL" clId="{FB6625DE-5704-5C68-A374-D527ACA158B2}" dt="2026-01-08T08:19:42.533" v="115" actId="1076"/>
        <pc:sldMkLst>
          <pc:docMk/>
          <pc:sldMk cId="0" sldId="264"/>
        </pc:sldMkLst>
        <pc:spChg chg="mod">
          <ac:chgData name="MACHKURI RAJESH" userId="938a5ba3-a373-4cc1-8f91-3d8a23045f4d" providerId="ADAL" clId="{FB6625DE-5704-5C68-A374-D527ACA158B2}" dt="2026-01-08T08:19:42.533" v="115" actId="1076"/>
          <ac:spMkLst>
            <pc:docMk/>
            <pc:sldMk cId="0" sldId="264"/>
            <ac:spMk id="158" creationId="{00000000-0000-0000-0000-000000000000}"/>
          </ac:spMkLst>
        </pc:spChg>
      </pc:sldChg>
      <pc:sldChg chg="modSp mod">
        <pc:chgData name="MACHKURI RAJESH" userId="938a5ba3-a373-4cc1-8f91-3d8a23045f4d" providerId="ADAL" clId="{FB6625DE-5704-5C68-A374-D527ACA158B2}" dt="2026-01-08T08:21:00.232" v="119" actId="1076"/>
        <pc:sldMkLst>
          <pc:docMk/>
          <pc:sldMk cId="0" sldId="267"/>
        </pc:sldMkLst>
        <pc:picChg chg="mod">
          <ac:chgData name="MACHKURI RAJESH" userId="938a5ba3-a373-4cc1-8f91-3d8a23045f4d" providerId="ADAL" clId="{FB6625DE-5704-5C68-A374-D527ACA158B2}" dt="2026-01-08T08:21:00.232" v="119" actId="1076"/>
          <ac:picMkLst>
            <pc:docMk/>
            <pc:sldMk cId="0" sldId="267"/>
            <ac:picMk id="180" creationId="{00000000-0000-0000-0000-000000000000}"/>
          </ac:picMkLst>
        </pc:picChg>
      </pc:sldChg>
      <pc:sldChg chg="modSp mod">
        <pc:chgData name="MACHKURI RAJESH" userId="938a5ba3-a373-4cc1-8f91-3d8a23045f4d" providerId="ADAL" clId="{FB6625DE-5704-5C68-A374-D527ACA158B2}" dt="2026-01-08T08:20:33.286" v="118" actId="1076"/>
        <pc:sldMkLst>
          <pc:docMk/>
          <pc:sldMk cId="0" sldId="268"/>
        </pc:sldMkLst>
        <pc:spChg chg="mod">
          <ac:chgData name="MACHKURI RAJESH" userId="938a5ba3-a373-4cc1-8f91-3d8a23045f4d" providerId="ADAL" clId="{FB6625DE-5704-5C68-A374-D527ACA158B2}" dt="2026-01-08T08:20:33.286" v="118" actId="1076"/>
          <ac:spMkLst>
            <pc:docMk/>
            <pc:sldMk cId="0" sldId="268"/>
            <ac:spMk id="190" creationId="{00000000-0000-0000-0000-000000000000}"/>
          </ac:spMkLst>
        </pc:spChg>
      </pc:sldChg>
      <pc:sldChg chg="delSp del mod">
        <pc:chgData name="MACHKURI RAJESH" userId="938a5ba3-a373-4cc1-8f91-3d8a23045f4d" providerId="ADAL" clId="{FB6625DE-5704-5C68-A374-D527ACA158B2}" dt="2026-01-08T08:21:03.946" v="120" actId="2696"/>
        <pc:sldMkLst>
          <pc:docMk/>
          <pc:sldMk cId="0" sldId="269"/>
        </pc:sldMkLst>
        <pc:spChg chg="del">
          <ac:chgData name="MACHKURI RAJESH" userId="938a5ba3-a373-4cc1-8f91-3d8a23045f4d" providerId="ADAL" clId="{FB6625DE-5704-5C68-A374-D527ACA158B2}" dt="2026-01-08T08:09:57.080" v="16" actId="478"/>
          <ac:spMkLst>
            <pc:docMk/>
            <pc:sldMk cId="0" sldId="269"/>
            <ac:spMk id="196" creationId="{00000000-0000-0000-0000-000000000000}"/>
          </ac:spMkLst>
        </pc:spChg>
      </pc:sldChg>
      <pc:sldChg chg="delSp modSp mod">
        <pc:chgData name="MACHKURI RAJESH" userId="938a5ba3-a373-4cc1-8f91-3d8a23045f4d" providerId="ADAL" clId="{FB6625DE-5704-5C68-A374-D527ACA158B2}" dt="2026-01-08T08:10:01.939" v="20" actId="478"/>
        <pc:sldMkLst>
          <pc:docMk/>
          <pc:sldMk cId="0" sldId="270"/>
        </pc:sldMkLst>
        <pc:spChg chg="del mod">
          <ac:chgData name="MACHKURI RAJESH" userId="938a5ba3-a373-4cc1-8f91-3d8a23045f4d" providerId="ADAL" clId="{FB6625DE-5704-5C68-A374-D527ACA158B2}" dt="2026-01-08T08:10:01.939" v="20" actId="478"/>
          <ac:spMkLst>
            <pc:docMk/>
            <pc:sldMk cId="0" sldId="270"/>
            <ac:spMk id="20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b7567d4e30_1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b7567d4e30_1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g3b7567d4e30_1_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b7567d4e30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b7567d4e30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3b7567d4e30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b7567d4e30_1_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b7567d4e30_1_6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g3b7567d4e30_1_6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b7567d4e30_1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b7567d4e30_1_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3b7567d4e30_1_1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b7567d4e30_1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b7567d4e30_1_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g3b7567d4e30_1_4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b7567d4e30_1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b7567d4e30_1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g3b7567d4e30_1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b75806d82d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b75806d82d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g3b75806d82d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1"/>
          <p:cNvSpPr>
            <a:spLocks noGrp="1"/>
          </p:cNvSpPr>
          <p:nvPr>
            <p:ph type="pic" idx="2"/>
          </p:nvPr>
        </p:nvSpPr>
        <p:spPr>
          <a:xfrm>
            <a:off x="5183188" y="987425"/>
            <a:ext cx="6172200" cy="4873625"/>
          </a:xfrm>
          <a:prstGeom prst="rect">
            <a:avLst/>
          </a:prstGeom>
          <a:noFill/>
          <a:ln>
            <a:noFill/>
          </a:ln>
        </p:spPr>
      </p:sp>
      <p:sp>
        <p:nvSpPr>
          <p:cNvPr id="68" name="Google Shape;68;p2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a:stretch/>
        </p:blipFill>
        <p:spPr>
          <a:xfrm>
            <a:off x="10162385" y="34503"/>
            <a:ext cx="1879779" cy="1514151"/>
          </a:xfrm>
          <a:prstGeom prst="rect">
            <a:avLst/>
          </a:prstGeom>
          <a:noFill/>
          <a:ln>
            <a:noFill/>
          </a:ln>
        </p:spPr>
      </p:pic>
      <p:sp>
        <p:nvSpPr>
          <p:cNvPr id="89" name="Google Shape;89;p1"/>
          <p:cNvSpPr txBox="1"/>
          <p:nvPr/>
        </p:nvSpPr>
        <p:spPr>
          <a:xfrm>
            <a:off x="2398217" y="94410"/>
            <a:ext cx="7095897" cy="1454244"/>
          </a:xfrm>
          <a:prstGeom prst="rect">
            <a:avLst/>
          </a:prstGeom>
          <a:noFill/>
          <a:ln>
            <a:noFill/>
          </a:ln>
        </p:spPr>
        <p:txBody>
          <a:bodyPr spcFirstLastPara="1" wrap="square" lIns="91425" tIns="45700" rIns="91425" bIns="45700" anchor="t" anchorCtr="0">
            <a:spAutoFit/>
          </a:bodyPr>
          <a:lstStyle/>
          <a:p>
            <a:pPr marL="0" marR="16510" lvl="0" indent="0" algn="ctr" rtl="0">
              <a:spcBef>
                <a:spcPts val="0"/>
              </a:spcBef>
              <a:spcAft>
                <a:spcPts val="0"/>
              </a:spcAft>
              <a:buNone/>
            </a:pPr>
            <a:r>
              <a:rPr lang="en-IN" sz="2800" b="1" i="0" u="none" strike="noStrike" cap="none">
                <a:solidFill>
                  <a:schemeClr val="dk1"/>
                </a:solidFill>
                <a:latin typeface="Times New Roman"/>
                <a:ea typeface="Times New Roman"/>
                <a:cs typeface="Times New Roman"/>
                <a:sym typeface="Times New Roman"/>
              </a:rPr>
              <a:t> St. MARTIN’S ENGINEERING COLLEGE</a:t>
            </a:r>
            <a:endParaRPr sz="2800" b="1" i="0" u="none" strike="noStrike" cap="none">
              <a:solidFill>
                <a:schemeClr val="dk1"/>
              </a:solidFill>
              <a:latin typeface="Times New Roman"/>
              <a:ea typeface="Times New Roman"/>
              <a:cs typeface="Times New Roman"/>
              <a:sym typeface="Times New Roman"/>
            </a:endParaRPr>
          </a:p>
          <a:p>
            <a:pPr marL="1143000" marR="1085850" lvl="0" indent="-2539" algn="ctr" rtl="0">
              <a:spcBef>
                <a:spcPts val="490"/>
              </a:spcBef>
              <a:spcAft>
                <a:spcPts val="0"/>
              </a:spcAft>
              <a:buNone/>
            </a:pPr>
            <a:r>
              <a:rPr lang="en-IN" sz="1600" b="1" i="0" u="none" strike="noStrike" cap="none">
                <a:solidFill>
                  <a:schemeClr val="dk1"/>
                </a:solidFill>
                <a:latin typeface="Times New Roman"/>
                <a:ea typeface="Times New Roman"/>
                <a:cs typeface="Times New Roman"/>
                <a:sym typeface="Times New Roman"/>
              </a:rPr>
              <a:t>      UGC Autonomous </a:t>
            </a:r>
            <a:endParaRPr/>
          </a:p>
          <a:p>
            <a:pPr marL="1143000" marR="1085850" lvl="0" indent="-2539" algn="ctr" rtl="0">
              <a:spcBef>
                <a:spcPts val="490"/>
              </a:spcBef>
              <a:spcAft>
                <a:spcPts val="0"/>
              </a:spcAft>
              <a:buNone/>
            </a:pPr>
            <a:r>
              <a:rPr lang="en-IN" sz="1600" b="1" i="0" u="none" strike="noStrike" cap="none">
                <a:solidFill>
                  <a:schemeClr val="dk1"/>
                </a:solidFill>
                <a:latin typeface="Times New Roman"/>
                <a:ea typeface="Times New Roman"/>
                <a:cs typeface="Times New Roman"/>
                <a:sym typeface="Times New Roman"/>
              </a:rPr>
              <a:t>NBA &amp; NAAC A+ ACCREDITED</a:t>
            </a:r>
            <a:endParaRPr sz="1600" b="1" i="0" u="none" strike="noStrike" cap="none">
              <a:solidFill>
                <a:schemeClr val="dk1"/>
              </a:solidFill>
              <a:latin typeface="Calibri"/>
              <a:ea typeface="Calibri"/>
              <a:cs typeface="Calibri"/>
              <a:sym typeface="Calibri"/>
            </a:endParaRPr>
          </a:p>
          <a:p>
            <a:pPr marL="1143000" marR="1085850" lvl="0" indent="-2539" algn="ctr" rtl="0">
              <a:spcBef>
                <a:spcPts val="490"/>
              </a:spcBef>
              <a:spcAft>
                <a:spcPts val="0"/>
              </a:spcAft>
              <a:buNone/>
            </a:pPr>
            <a:r>
              <a:rPr lang="en-IN" sz="1600" b="1" i="0" u="none" strike="noStrike" cap="none">
                <a:solidFill>
                  <a:schemeClr val="dk1"/>
                </a:solidFill>
                <a:latin typeface="Times New Roman"/>
                <a:ea typeface="Times New Roman"/>
                <a:cs typeface="Times New Roman"/>
                <a:sym typeface="Times New Roman"/>
              </a:rPr>
              <a:t>Dhulapally, Secunderabad – 500 100 </a:t>
            </a:r>
            <a:endParaRPr sz="1600" b="1" i="0" u="none" strike="noStrike" cap="none">
              <a:solidFill>
                <a:schemeClr val="dk1"/>
              </a:solidFill>
              <a:latin typeface="Times New Roman"/>
              <a:ea typeface="Times New Roman"/>
              <a:cs typeface="Times New Roman"/>
              <a:sym typeface="Times New Roman"/>
            </a:endParaRPr>
          </a:p>
        </p:txBody>
      </p:sp>
      <p:sp>
        <p:nvSpPr>
          <p:cNvPr id="90" name="Google Shape;90;p1"/>
          <p:cNvSpPr txBox="1"/>
          <p:nvPr/>
        </p:nvSpPr>
        <p:spPr>
          <a:xfrm>
            <a:off x="-1" y="2100391"/>
            <a:ext cx="12192000" cy="1100400"/>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ctr" rtl="0">
              <a:lnSpc>
                <a:spcPct val="90000"/>
              </a:lnSpc>
              <a:spcBef>
                <a:spcPts val="0"/>
              </a:spcBef>
              <a:spcAft>
                <a:spcPts val="0"/>
              </a:spcAft>
              <a:buClr>
                <a:schemeClr val="dk1"/>
              </a:buClr>
              <a:buSzPct val="100000"/>
              <a:buFont typeface="Arial"/>
              <a:buNone/>
            </a:pPr>
            <a:endParaRPr sz="21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90000"/>
              </a:lnSpc>
              <a:spcBef>
                <a:spcPts val="1000"/>
              </a:spcBef>
              <a:spcAft>
                <a:spcPts val="0"/>
              </a:spcAft>
              <a:buClr>
                <a:schemeClr val="dk1"/>
              </a:buClr>
              <a:buSzPct val="100000"/>
              <a:buFont typeface="Arial"/>
              <a:buNone/>
            </a:pPr>
            <a:r>
              <a:rPr lang="en-IN" sz="2100" b="1" i="0" u="none" strike="noStrike" cap="none" dirty="0">
                <a:solidFill>
                  <a:schemeClr val="dk1"/>
                </a:solidFill>
                <a:latin typeface="Times New Roman"/>
                <a:ea typeface="Times New Roman"/>
                <a:cs typeface="Times New Roman"/>
                <a:sym typeface="Times New Roman"/>
              </a:rPr>
              <a:t>Mini Project on</a:t>
            </a:r>
            <a:endParaRPr dirty="0"/>
          </a:p>
          <a:p>
            <a:pPr marL="0" marR="0" lvl="0" indent="0" algn="ctr" rtl="0">
              <a:lnSpc>
                <a:spcPct val="90000"/>
              </a:lnSpc>
              <a:spcBef>
                <a:spcPts val="1000"/>
              </a:spcBef>
              <a:spcAft>
                <a:spcPts val="0"/>
              </a:spcAft>
              <a:buClr>
                <a:schemeClr val="dk1"/>
              </a:buClr>
              <a:buSzPct val="100000"/>
              <a:buFont typeface="Arial"/>
              <a:buNone/>
            </a:pPr>
            <a:r>
              <a:rPr lang="en-IN" sz="3000" b="1" i="0" u="none" strike="noStrike" cap="none" dirty="0">
                <a:solidFill>
                  <a:schemeClr val="dk1"/>
                </a:solidFill>
                <a:latin typeface="Times New Roman"/>
                <a:ea typeface="Times New Roman"/>
                <a:cs typeface="Times New Roman"/>
                <a:sym typeface="Times New Roman"/>
              </a:rPr>
              <a:t>  Loan Eligibility Prediction for Banks using Machine Learning</a:t>
            </a:r>
            <a:endParaRPr sz="3000" b="1" i="0" u="none" strike="noStrike" cap="none" dirty="0">
              <a:solidFill>
                <a:schemeClr val="dk1"/>
              </a:solidFill>
              <a:latin typeface="Times New Roman"/>
              <a:ea typeface="Times New Roman"/>
              <a:cs typeface="Times New Roman"/>
              <a:sym typeface="Times New Roman"/>
            </a:endParaRPr>
          </a:p>
        </p:txBody>
      </p:sp>
      <p:sp>
        <p:nvSpPr>
          <p:cNvPr id="91" name="Google Shape;91;p1"/>
          <p:cNvSpPr txBox="1"/>
          <p:nvPr/>
        </p:nvSpPr>
        <p:spPr>
          <a:xfrm>
            <a:off x="2891786" y="3339576"/>
            <a:ext cx="6408300" cy="1939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cap="none">
                <a:solidFill>
                  <a:schemeClr val="dk1"/>
                </a:solidFill>
                <a:latin typeface="Times New Roman"/>
                <a:ea typeface="Times New Roman"/>
                <a:cs typeface="Times New Roman"/>
                <a:sym typeface="Times New Roman"/>
              </a:rPr>
              <a:t>Batch No: 13</a:t>
            </a:r>
            <a:endParaRPr/>
          </a:p>
          <a:p>
            <a:pPr marL="0" marR="0" lvl="0" indent="0" algn="l" rtl="0">
              <a:spcBef>
                <a:spcPts val="0"/>
              </a:spcBef>
              <a:spcAft>
                <a:spcPts val="0"/>
              </a:spcAft>
              <a:buNone/>
            </a:pPr>
            <a:r>
              <a:rPr lang="en-IN" sz="2400" b="1" i="0" u="none" strike="noStrike" cap="none">
                <a:solidFill>
                  <a:schemeClr val="dk1"/>
                </a:solidFill>
                <a:latin typeface="Times New Roman"/>
                <a:ea typeface="Times New Roman"/>
                <a:cs typeface="Times New Roman"/>
                <a:sym typeface="Times New Roman"/>
              </a:rPr>
              <a:t>1. M. Rajesh                                 </a:t>
            </a:r>
            <a:r>
              <a:rPr lang="en-IN" sz="2400" b="1">
                <a:solidFill>
                  <a:schemeClr val="dk1"/>
                </a:solidFill>
                <a:latin typeface="Times New Roman"/>
                <a:ea typeface="Times New Roman"/>
                <a:cs typeface="Times New Roman"/>
                <a:sym typeface="Times New Roman"/>
              </a:rPr>
              <a:t> </a:t>
            </a:r>
            <a:r>
              <a:rPr lang="en-IN" sz="2400" b="1" i="0" u="none" strike="noStrike" cap="none">
                <a:solidFill>
                  <a:schemeClr val="dk1"/>
                </a:solidFill>
                <a:latin typeface="Times New Roman"/>
                <a:ea typeface="Times New Roman"/>
                <a:cs typeface="Times New Roman"/>
                <a:sym typeface="Times New Roman"/>
              </a:rPr>
              <a:t>(23K81A7296)</a:t>
            </a:r>
            <a:endParaRPr/>
          </a:p>
          <a:p>
            <a:pPr marL="0" marR="0" lvl="0" indent="0" algn="l" rtl="0">
              <a:spcBef>
                <a:spcPts val="0"/>
              </a:spcBef>
              <a:spcAft>
                <a:spcPts val="0"/>
              </a:spcAft>
              <a:buNone/>
            </a:pPr>
            <a:r>
              <a:rPr lang="en-IN" sz="2400" b="1">
                <a:solidFill>
                  <a:schemeClr val="dk1"/>
                </a:solidFill>
                <a:latin typeface="Times New Roman"/>
                <a:ea typeface="Times New Roman"/>
                <a:cs typeface="Times New Roman"/>
                <a:sym typeface="Times New Roman"/>
              </a:rPr>
              <a:t>2. K. Sree Akhil                            (23K81A7292)</a:t>
            </a:r>
            <a:endParaRPr/>
          </a:p>
          <a:p>
            <a:pPr marL="0" marR="0" lvl="0" indent="0" algn="l" rtl="0">
              <a:spcBef>
                <a:spcPts val="0"/>
              </a:spcBef>
              <a:spcAft>
                <a:spcPts val="0"/>
              </a:spcAft>
              <a:buNone/>
            </a:pPr>
            <a:r>
              <a:rPr lang="en-IN" sz="2400" b="1">
                <a:solidFill>
                  <a:schemeClr val="dk1"/>
                </a:solidFill>
                <a:latin typeface="Times New Roman"/>
                <a:ea typeface="Times New Roman"/>
                <a:cs typeface="Times New Roman"/>
                <a:sym typeface="Times New Roman"/>
              </a:rPr>
              <a:t>3. CH. Ram Mahideep Varma    (23K81A7279)</a:t>
            </a:r>
            <a:endParaRPr/>
          </a:p>
          <a:p>
            <a:pPr marL="0" marR="0" lvl="0" indent="0" algn="ctr" rtl="0">
              <a:spcBef>
                <a:spcPts val="0"/>
              </a:spcBef>
              <a:spcAft>
                <a:spcPts val="0"/>
              </a:spcAft>
              <a:buNone/>
            </a:pPr>
            <a:endParaRPr sz="2400" b="1">
              <a:solidFill>
                <a:schemeClr val="dk1"/>
              </a:solidFill>
              <a:latin typeface="Times New Roman"/>
              <a:ea typeface="Times New Roman"/>
              <a:cs typeface="Times New Roman"/>
              <a:sym typeface="Times New Roman"/>
            </a:endParaRPr>
          </a:p>
        </p:txBody>
      </p:sp>
      <p:sp>
        <p:nvSpPr>
          <p:cNvPr id="92" name="Google Shape;92;p1"/>
          <p:cNvSpPr txBox="1"/>
          <p:nvPr/>
        </p:nvSpPr>
        <p:spPr>
          <a:xfrm>
            <a:off x="-149835" y="5193930"/>
            <a:ext cx="12191999" cy="15696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a:solidFill>
                  <a:schemeClr val="dk1"/>
                </a:solidFill>
                <a:latin typeface="Times New Roman"/>
                <a:ea typeface="Times New Roman"/>
                <a:cs typeface="Times New Roman"/>
                <a:sym typeface="Times New Roman"/>
              </a:rPr>
              <a:t>Under the Guidance of</a:t>
            </a:r>
            <a:endParaRPr/>
          </a:p>
          <a:p>
            <a:pPr marL="0" marR="0" lvl="0" indent="0" algn="ctr" rtl="0">
              <a:spcBef>
                <a:spcPts val="0"/>
              </a:spcBef>
              <a:spcAft>
                <a:spcPts val="0"/>
              </a:spcAft>
              <a:buNone/>
            </a:pPr>
            <a:r>
              <a:rPr lang="en-IN" sz="2400" b="1">
                <a:solidFill>
                  <a:schemeClr val="dk1"/>
                </a:solidFill>
                <a:latin typeface="Times New Roman"/>
                <a:ea typeface="Times New Roman"/>
                <a:cs typeface="Times New Roman"/>
                <a:sym typeface="Times New Roman"/>
              </a:rPr>
              <a:t>Mr. V. Vishnu Vardhan</a:t>
            </a:r>
            <a:endParaRPr sz="2400" b="1">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IN" sz="2400" b="1">
                <a:solidFill>
                  <a:schemeClr val="dk1"/>
                </a:solidFill>
                <a:latin typeface="Times New Roman"/>
                <a:ea typeface="Times New Roman"/>
                <a:cs typeface="Times New Roman"/>
                <a:sym typeface="Times New Roman"/>
              </a:rPr>
              <a:t>Assistant Professor</a:t>
            </a:r>
            <a:endParaRPr/>
          </a:p>
          <a:p>
            <a:pPr marL="0" marR="0" lvl="0" indent="0" algn="ctr" rtl="0">
              <a:spcBef>
                <a:spcPts val="0"/>
              </a:spcBef>
              <a:spcAft>
                <a:spcPts val="0"/>
              </a:spcAft>
              <a:buNone/>
            </a:pPr>
            <a:r>
              <a:rPr lang="en-IN" sz="2400" b="1">
                <a:solidFill>
                  <a:schemeClr val="dk1"/>
                </a:solidFill>
                <a:latin typeface="Times New Roman"/>
                <a:ea typeface="Times New Roman"/>
                <a:cs typeface="Times New Roman"/>
                <a:sym typeface="Times New Roman"/>
              </a:rPr>
              <a:t>Department of Artificial Intelligence &amp; Data Science</a:t>
            </a:r>
            <a:endParaRPr sz="2400" b="1">
              <a:solidFill>
                <a:schemeClr val="dk1"/>
              </a:solidFill>
              <a:latin typeface="Times New Roman"/>
              <a:ea typeface="Times New Roman"/>
              <a:cs typeface="Times New Roman"/>
              <a:sym typeface="Times New Roman"/>
            </a:endParaRPr>
          </a:p>
        </p:txBody>
      </p:sp>
      <p:pic>
        <p:nvPicPr>
          <p:cNvPr id="93" name="Google Shape;93;p1"/>
          <p:cNvPicPr preferRelativeResize="0"/>
          <p:nvPr/>
        </p:nvPicPr>
        <p:blipFill rotWithShape="1">
          <a:blip r:embed="rId4">
            <a:alphaModFix/>
          </a:blip>
          <a:srcRect/>
          <a:stretch/>
        </p:blipFill>
        <p:spPr>
          <a:xfrm>
            <a:off x="269034" y="94410"/>
            <a:ext cx="1460912" cy="1240120"/>
          </a:xfrm>
          <a:prstGeom prst="rect">
            <a:avLst/>
          </a:prstGeom>
          <a:noFill/>
          <a:ln>
            <a:noFill/>
          </a:ln>
        </p:spPr>
      </p:pic>
      <p:sp>
        <p:nvSpPr>
          <p:cNvPr id="94" name="Google Shape;94;p1"/>
          <p:cNvSpPr txBox="1"/>
          <p:nvPr/>
        </p:nvSpPr>
        <p:spPr>
          <a:xfrm>
            <a:off x="1" y="1579432"/>
            <a:ext cx="12191998"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a:solidFill>
                  <a:schemeClr val="dk1"/>
                </a:solidFill>
                <a:latin typeface="Times New Roman"/>
                <a:ea typeface="Times New Roman"/>
                <a:cs typeface="Times New Roman"/>
                <a:sym typeface="Times New Roman"/>
              </a:rPr>
              <a:t>Department of </a:t>
            </a:r>
            <a:endParaRPr/>
          </a:p>
          <a:p>
            <a:pPr marL="0" marR="0" lvl="0" indent="0" algn="ctr" rtl="0">
              <a:spcBef>
                <a:spcPts val="0"/>
              </a:spcBef>
              <a:spcAft>
                <a:spcPts val="0"/>
              </a:spcAft>
              <a:buNone/>
            </a:pPr>
            <a:r>
              <a:rPr lang="en-IN" sz="2400" b="1">
                <a:solidFill>
                  <a:schemeClr val="dk1"/>
                </a:solidFill>
                <a:latin typeface="Times New Roman"/>
                <a:ea typeface="Times New Roman"/>
                <a:cs typeface="Times New Roman"/>
                <a:sym typeface="Times New Roman"/>
              </a:rPr>
              <a:t>ARTIFICIAL INTELLIGENCE &amp; DATA SCIENCE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title"/>
          </p:nvPr>
        </p:nvSpPr>
        <p:spPr>
          <a:xfrm>
            <a:off x="-79225" y="0"/>
            <a:ext cx="12271200" cy="984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600" b="1">
                <a:latin typeface="Times New Roman"/>
                <a:ea typeface="Times New Roman"/>
                <a:cs typeface="Times New Roman"/>
                <a:sym typeface="Times New Roman"/>
              </a:rPr>
              <a:t>OUTLINE </a:t>
            </a:r>
            <a:endParaRPr b="1">
              <a:latin typeface="Times New Roman"/>
              <a:ea typeface="Times New Roman"/>
              <a:cs typeface="Times New Roman"/>
              <a:sym typeface="Times New Roman"/>
            </a:endParaRPr>
          </a:p>
        </p:txBody>
      </p:sp>
      <p:sp>
        <p:nvSpPr>
          <p:cNvPr id="100" name="Google Shape;100;p2"/>
          <p:cNvSpPr txBox="1">
            <a:spLocks noGrp="1"/>
          </p:cNvSpPr>
          <p:nvPr>
            <p:ph type="body" idx="1"/>
          </p:nvPr>
        </p:nvSpPr>
        <p:spPr>
          <a:xfrm>
            <a:off x="0" y="750275"/>
            <a:ext cx="12192000" cy="5971200"/>
          </a:xfrm>
          <a:prstGeom prst="rect">
            <a:avLst/>
          </a:prstGeom>
          <a:noFill/>
          <a:ln>
            <a:noFill/>
          </a:ln>
        </p:spPr>
        <p:txBody>
          <a:bodyPr spcFirstLastPara="1" wrap="square" lIns="91425" tIns="45700" rIns="91425" bIns="45700" anchor="t" anchorCtr="0">
            <a:normAutofit/>
          </a:bodyPr>
          <a:lstStyle/>
          <a:p>
            <a:pPr marL="457200" lvl="0" indent="-342900" algn="just" rtl="0">
              <a:lnSpc>
                <a:spcPct val="150000"/>
              </a:lnSpc>
              <a:spcBef>
                <a:spcPts val="0"/>
              </a:spcBef>
              <a:spcAft>
                <a:spcPts val="0"/>
              </a:spcAft>
              <a:buSzPts val="1800"/>
              <a:buFont typeface="Times New Roman"/>
              <a:buAutoNum type="arabicPeriod"/>
            </a:pPr>
            <a:r>
              <a:rPr lang="en-IN" dirty="0">
                <a:latin typeface="Times New Roman"/>
                <a:ea typeface="Times New Roman"/>
                <a:cs typeface="Times New Roman"/>
                <a:sym typeface="Times New Roman"/>
              </a:rPr>
              <a:t>Abstract</a:t>
            </a:r>
            <a:endParaRPr dirty="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AutoNum type="arabicPeriod"/>
            </a:pPr>
            <a:r>
              <a:rPr lang="en-IN" dirty="0">
                <a:latin typeface="Times New Roman"/>
                <a:ea typeface="Times New Roman"/>
                <a:cs typeface="Times New Roman"/>
                <a:sym typeface="Times New Roman"/>
              </a:rPr>
              <a:t>Existing System</a:t>
            </a:r>
            <a:endParaRPr dirty="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AutoNum type="arabicPeriod"/>
            </a:pPr>
            <a:r>
              <a:rPr lang="en-IN" dirty="0">
                <a:latin typeface="Times New Roman"/>
                <a:ea typeface="Times New Roman"/>
                <a:cs typeface="Times New Roman"/>
                <a:sym typeface="Times New Roman"/>
              </a:rPr>
              <a:t>Proposed System</a:t>
            </a:r>
            <a:endParaRPr dirty="0"/>
          </a:p>
          <a:p>
            <a:pPr marL="457200" lvl="0" indent="-342900" algn="just" rtl="0">
              <a:lnSpc>
                <a:spcPct val="150000"/>
              </a:lnSpc>
              <a:spcBef>
                <a:spcPts val="0"/>
              </a:spcBef>
              <a:spcAft>
                <a:spcPts val="0"/>
              </a:spcAft>
              <a:buSzPts val="1800"/>
              <a:buFont typeface="Times New Roman"/>
              <a:buAutoNum type="arabicPeriod"/>
            </a:pPr>
            <a:r>
              <a:rPr lang="en-IN" dirty="0">
                <a:latin typeface="Times New Roman"/>
                <a:ea typeface="Times New Roman"/>
                <a:cs typeface="Times New Roman"/>
                <a:sym typeface="Times New Roman"/>
              </a:rPr>
              <a:t>Architectural Design for Proposed System</a:t>
            </a:r>
            <a:endParaRPr dirty="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AutoNum type="arabicPeriod"/>
            </a:pPr>
            <a:r>
              <a:rPr lang="en-IN" dirty="0">
                <a:latin typeface="Times New Roman"/>
                <a:ea typeface="Times New Roman"/>
                <a:cs typeface="Times New Roman"/>
                <a:sym typeface="Times New Roman"/>
              </a:rPr>
              <a:t>ER Diagram</a:t>
            </a:r>
            <a:endParaRPr dirty="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AutoNum type="arabicPeriod"/>
            </a:pPr>
            <a:r>
              <a:rPr lang="en-IN" dirty="0">
                <a:latin typeface="Times New Roman"/>
                <a:ea typeface="Times New Roman"/>
                <a:cs typeface="Times New Roman"/>
                <a:sym typeface="Times New Roman"/>
              </a:rPr>
              <a:t>Algorithms/ Techniques used </a:t>
            </a:r>
            <a:endParaRPr dirty="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AutoNum type="arabicPeriod"/>
            </a:pPr>
            <a:r>
              <a:rPr lang="en-IN" dirty="0">
                <a:latin typeface="Times New Roman"/>
                <a:ea typeface="Times New Roman"/>
                <a:cs typeface="Times New Roman"/>
                <a:sym typeface="Times New Roman"/>
              </a:rPr>
              <a:t>Implemented Code</a:t>
            </a:r>
            <a:endParaRPr dirty="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AutoNum type="arabicPeriod"/>
            </a:pPr>
            <a:r>
              <a:rPr lang="en-IN" dirty="0">
                <a:latin typeface="Times New Roman"/>
                <a:ea typeface="Times New Roman"/>
                <a:cs typeface="Times New Roman"/>
                <a:sym typeface="Times New Roman"/>
              </a:rPr>
              <a:t>Expected Outcomes</a:t>
            </a:r>
            <a:endParaRPr dirty="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AutoNum type="arabicPeriod"/>
            </a:pPr>
            <a:r>
              <a:rPr lang="en-IN" dirty="0">
                <a:latin typeface="Times New Roman"/>
                <a:ea typeface="Times New Roman"/>
                <a:cs typeface="Times New Roman"/>
                <a:sym typeface="Times New Roman"/>
              </a:rPr>
              <a:t>References</a:t>
            </a:r>
            <a:endParaRPr dirty="0">
              <a:latin typeface="Times New Roman"/>
              <a:ea typeface="Times New Roman"/>
              <a:cs typeface="Times New Roman"/>
              <a:sym typeface="Times New Roman"/>
            </a:endParaRPr>
          </a:p>
        </p:txBody>
      </p:sp>
      <p:sp>
        <p:nvSpPr>
          <p:cNvPr id="102" name="Google Shape;102;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0" y="0"/>
            <a:ext cx="12192000" cy="120364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600" b="1" dirty="0">
                <a:latin typeface="Times New Roman"/>
                <a:ea typeface="Times New Roman"/>
                <a:cs typeface="Times New Roman"/>
                <a:sym typeface="Times New Roman"/>
              </a:rPr>
              <a:t>ABSTRACT</a:t>
            </a:r>
            <a:endParaRPr b="1" dirty="0">
              <a:latin typeface="Times New Roman"/>
              <a:ea typeface="Times New Roman"/>
              <a:cs typeface="Times New Roman"/>
              <a:sym typeface="Times New Roman"/>
            </a:endParaRPr>
          </a:p>
        </p:txBody>
      </p:sp>
      <p:sp>
        <p:nvSpPr>
          <p:cNvPr id="108" name="Google Shape;108;p3"/>
          <p:cNvSpPr txBox="1">
            <a:spLocks noGrp="1"/>
          </p:cNvSpPr>
          <p:nvPr>
            <p:ph type="body" idx="1"/>
          </p:nvPr>
        </p:nvSpPr>
        <p:spPr>
          <a:xfrm>
            <a:off x="454240" y="1203649"/>
            <a:ext cx="11326428" cy="5152701"/>
          </a:xfrm>
          <a:prstGeom prst="rect">
            <a:avLst/>
          </a:prstGeom>
          <a:noFill/>
          <a:ln>
            <a:noFill/>
          </a:ln>
        </p:spPr>
        <p:txBody>
          <a:bodyPr spcFirstLastPara="1" wrap="square" lIns="91425" tIns="45700" rIns="91425" bIns="45700" anchor="t" anchorCtr="0">
            <a:normAutofit fontScale="47500" lnSpcReduction="20000"/>
          </a:bodyPr>
          <a:lstStyle/>
          <a:p>
            <a:pPr marL="0" lvl="0" indent="0" algn="just" rtl="0">
              <a:lnSpc>
                <a:spcPct val="160000"/>
              </a:lnSpc>
              <a:spcBef>
                <a:spcPts val="0"/>
              </a:spcBef>
              <a:spcAft>
                <a:spcPts val="0"/>
              </a:spcAft>
              <a:buClr>
                <a:schemeClr val="dk1"/>
              </a:buClr>
              <a:buSzPct val="100000"/>
              <a:buNone/>
            </a:pPr>
            <a:r>
              <a:rPr lang="en-IN" sz="3800" dirty="0">
                <a:latin typeface="Times New Roman" panose="02020603050405020304" pitchFamily="18" charset="0"/>
                <a:ea typeface="Times New Roman"/>
                <a:cs typeface="Times New Roman" panose="02020603050405020304" pitchFamily="18" charset="0"/>
                <a:sym typeface="Times New Roman"/>
              </a:rPr>
              <a:t>With technological advancements and the expansion of businesses, the demand for loans has increased significantly, both for personal and business purposes. Due to limited assets, banks cannot grant loans to every applicant. Identifying the right candidates for loans is a complex and time-consuming process. Banks aim to deliver loans to individuals who can repay them on time and provide maximum profit. Thus, there is a need for a system that can analyse and streamline this process, saving time and resources. This paper aims to develop a more accurate loan prediction model using machine learning to reduce the risk involved in selecting appropriate loan applicants. By mining previous loan records and using bank loan rules, we will train a machine learning model to predict loan eligibility. We will use the </a:t>
            </a:r>
            <a:r>
              <a:rPr lang="en-IN" sz="3800" dirty="0" err="1">
                <a:latin typeface="Times New Roman" panose="02020603050405020304" pitchFamily="18" charset="0"/>
                <a:ea typeface="Times New Roman"/>
                <a:cs typeface="Times New Roman" panose="02020603050405020304" pitchFamily="18" charset="0"/>
                <a:sym typeface="Times New Roman"/>
              </a:rPr>
              <a:t>sklearn</a:t>
            </a:r>
            <a:r>
              <a:rPr lang="en-IN" sz="3800" dirty="0">
                <a:latin typeface="Times New Roman" panose="02020603050405020304" pitchFamily="18" charset="0"/>
                <a:ea typeface="Times New Roman"/>
                <a:cs typeface="Times New Roman" panose="02020603050405020304" pitchFamily="18" charset="0"/>
                <a:sym typeface="Times New Roman"/>
              </a:rPr>
              <a:t> library for our model and the train - test-split method to split the dataset. Various models, including Logistic Regression, Decision Tree (DT), Random Forest (RF), and Support Vector Machine (SVM), will be employed to achieve accurate results. Our experiments indicate that the Random Forest classifier provides the best accuracy.</a:t>
            </a:r>
            <a:endParaRPr sz="3800" dirty="0">
              <a:latin typeface="Times New Roman" panose="02020603050405020304" pitchFamily="18" charset="0"/>
              <a:cs typeface="Times New Roman" panose="02020603050405020304" pitchFamily="18" charset="0"/>
            </a:endParaRPr>
          </a:p>
          <a:p>
            <a:pPr marL="0" lvl="0" indent="0" algn="just" rtl="0">
              <a:lnSpc>
                <a:spcPct val="90000"/>
              </a:lnSpc>
              <a:spcBef>
                <a:spcPts val="1000"/>
              </a:spcBef>
              <a:spcAft>
                <a:spcPts val="0"/>
              </a:spcAft>
              <a:buClr>
                <a:schemeClr val="dk1"/>
              </a:buClr>
              <a:buSzPct val="100000"/>
              <a:buNone/>
            </a:pPr>
            <a:endParaRPr dirty="0"/>
          </a:p>
        </p:txBody>
      </p:sp>
      <p:sp>
        <p:nvSpPr>
          <p:cNvPr id="110" name="Google Shape;11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6"/>
          <p:cNvSpPr txBox="1">
            <a:spLocks noGrp="1"/>
          </p:cNvSpPr>
          <p:nvPr>
            <p:ph type="title"/>
          </p:nvPr>
        </p:nvSpPr>
        <p:spPr>
          <a:xfrm>
            <a:off x="-1" y="0"/>
            <a:ext cx="12192000" cy="120364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600" b="1" dirty="0">
                <a:latin typeface="Times New Roman"/>
                <a:ea typeface="Times New Roman"/>
                <a:cs typeface="Times New Roman"/>
                <a:sym typeface="Times New Roman"/>
              </a:rPr>
              <a:t>EXISTING SYSTEM</a:t>
            </a:r>
            <a:endParaRPr dirty="0"/>
          </a:p>
        </p:txBody>
      </p:sp>
      <p:sp>
        <p:nvSpPr>
          <p:cNvPr id="116" name="Google Shape;116;p6"/>
          <p:cNvSpPr txBox="1">
            <a:spLocks noGrp="1"/>
          </p:cNvSpPr>
          <p:nvPr>
            <p:ph type="body" idx="1"/>
          </p:nvPr>
        </p:nvSpPr>
        <p:spPr>
          <a:xfrm>
            <a:off x="447039" y="938215"/>
            <a:ext cx="11297920" cy="5600697"/>
          </a:xfrm>
          <a:prstGeom prst="rect">
            <a:avLst/>
          </a:prstGeom>
          <a:noFill/>
          <a:ln>
            <a:noFill/>
          </a:ln>
        </p:spPr>
        <p:txBody>
          <a:bodyPr spcFirstLastPara="1" wrap="square" lIns="91425" tIns="45700" rIns="91425" bIns="45700" anchor="t" anchorCtr="0">
            <a:noAutofit/>
          </a:bodyPr>
          <a:lstStyle/>
          <a:p>
            <a:pPr marL="0" lvl="0" indent="0" algn="just" rtl="0">
              <a:lnSpc>
                <a:spcPct val="160000"/>
              </a:lnSpc>
              <a:spcBef>
                <a:spcPts val="0"/>
              </a:spcBef>
              <a:spcAft>
                <a:spcPts val="0"/>
              </a:spcAft>
              <a:buClr>
                <a:schemeClr val="dk1"/>
              </a:buClr>
              <a:buSzPts val="1800"/>
              <a:buNone/>
            </a:pPr>
            <a:r>
              <a:rPr lang="en-IN" sz="1800" dirty="0">
                <a:latin typeface="Times New Roman"/>
                <a:ea typeface="Times New Roman"/>
                <a:cs typeface="Times New Roman"/>
                <a:sym typeface="Times New Roman"/>
              </a:rPr>
              <a:t>1. In the existing loan approval system, banks follow a </a:t>
            </a:r>
            <a:r>
              <a:rPr lang="en-IN" sz="1800" b="1" dirty="0">
                <a:latin typeface="Times New Roman"/>
                <a:ea typeface="Times New Roman"/>
                <a:cs typeface="Times New Roman"/>
                <a:sym typeface="Times New Roman"/>
              </a:rPr>
              <a:t>manual and rule-based process </a:t>
            </a:r>
            <a:r>
              <a:rPr lang="en-IN" sz="1800" dirty="0">
                <a:latin typeface="Times New Roman"/>
                <a:ea typeface="Times New Roman"/>
                <a:cs typeface="Times New Roman"/>
                <a:sym typeface="Times New Roman"/>
              </a:rPr>
              <a:t>to evaluate whether a customer is eligible for a loan. Loan officers review the applicant’s documents, verify financial information, and make decisions based on fixed guidelines and personal judgment.</a:t>
            </a:r>
            <a:endParaRPr dirty="0"/>
          </a:p>
          <a:p>
            <a:pPr marL="0" lvl="0" indent="0" algn="just" rtl="0">
              <a:lnSpc>
                <a:spcPct val="160000"/>
              </a:lnSpc>
              <a:spcBef>
                <a:spcPts val="1000"/>
              </a:spcBef>
              <a:spcAft>
                <a:spcPts val="0"/>
              </a:spcAft>
              <a:buClr>
                <a:schemeClr val="dk1"/>
              </a:buClr>
              <a:buSzPts val="1800"/>
              <a:buNone/>
            </a:pPr>
            <a:r>
              <a:rPr lang="en-IN" sz="1800" dirty="0">
                <a:latin typeface="Times New Roman"/>
                <a:ea typeface="Times New Roman"/>
                <a:cs typeface="Times New Roman"/>
                <a:sym typeface="Times New Roman"/>
              </a:rPr>
              <a:t>2. Manual Verification of Documents.</a:t>
            </a:r>
            <a:endParaRPr dirty="0"/>
          </a:p>
          <a:p>
            <a:pPr marL="0" lvl="0" indent="0" algn="just" rtl="0">
              <a:lnSpc>
                <a:spcPct val="160000"/>
              </a:lnSpc>
              <a:spcBef>
                <a:spcPts val="1000"/>
              </a:spcBef>
              <a:spcAft>
                <a:spcPts val="0"/>
              </a:spcAft>
              <a:buClr>
                <a:schemeClr val="dk1"/>
              </a:buClr>
              <a:buSzPts val="1800"/>
              <a:buNone/>
            </a:pPr>
            <a:r>
              <a:rPr lang="en-IN" sz="1800" dirty="0">
                <a:latin typeface="Times New Roman"/>
                <a:ea typeface="Times New Roman"/>
                <a:cs typeface="Times New Roman"/>
                <a:sym typeface="Times New Roman"/>
              </a:rPr>
              <a:t>3. Rule-Based Decision Making.</a:t>
            </a:r>
            <a:endParaRPr dirty="0"/>
          </a:p>
          <a:p>
            <a:pPr marL="0" lvl="0" indent="0" algn="just" rtl="0">
              <a:lnSpc>
                <a:spcPct val="160000"/>
              </a:lnSpc>
              <a:spcBef>
                <a:spcPts val="1000"/>
              </a:spcBef>
              <a:spcAft>
                <a:spcPts val="0"/>
              </a:spcAft>
              <a:buClr>
                <a:schemeClr val="dk1"/>
              </a:buClr>
              <a:buSzPts val="1800"/>
              <a:buNone/>
            </a:pPr>
            <a:r>
              <a:rPr lang="en-IN" sz="1800" dirty="0">
                <a:latin typeface="Times New Roman"/>
                <a:ea typeface="Times New Roman"/>
                <a:cs typeface="Times New Roman"/>
                <a:sym typeface="Times New Roman"/>
              </a:rPr>
              <a:t>4. High Dependency on Human Judgment.</a:t>
            </a:r>
            <a:endParaRPr dirty="0"/>
          </a:p>
          <a:p>
            <a:pPr marL="0" lvl="0" indent="0" algn="just" rtl="0">
              <a:lnSpc>
                <a:spcPct val="160000"/>
              </a:lnSpc>
              <a:spcBef>
                <a:spcPts val="1000"/>
              </a:spcBef>
              <a:spcAft>
                <a:spcPts val="0"/>
              </a:spcAft>
              <a:buClr>
                <a:schemeClr val="dk1"/>
              </a:buClr>
              <a:buSzPts val="1800"/>
              <a:buNone/>
            </a:pPr>
            <a:r>
              <a:rPr lang="en-IN" sz="1800" dirty="0">
                <a:latin typeface="Times New Roman"/>
                <a:ea typeface="Times New Roman"/>
                <a:cs typeface="Times New Roman"/>
                <a:sym typeface="Times New Roman"/>
              </a:rPr>
              <a:t>5. Slow and Inefficient Process.</a:t>
            </a:r>
            <a:endParaRPr dirty="0"/>
          </a:p>
          <a:p>
            <a:pPr marL="0" lvl="0" indent="0" algn="l" rtl="0">
              <a:lnSpc>
                <a:spcPct val="160000"/>
              </a:lnSpc>
              <a:spcBef>
                <a:spcPts val="1000"/>
              </a:spcBef>
              <a:spcAft>
                <a:spcPts val="0"/>
              </a:spcAft>
              <a:buClr>
                <a:schemeClr val="dk1"/>
              </a:buClr>
              <a:buSzPts val="1800"/>
              <a:buNone/>
            </a:pPr>
            <a:r>
              <a:rPr lang="en-IN" sz="1800" b="1" dirty="0">
                <a:latin typeface="Times New Roman"/>
                <a:ea typeface="Times New Roman"/>
                <a:cs typeface="Times New Roman"/>
                <a:sym typeface="Times New Roman"/>
              </a:rPr>
              <a:t>DISADVANTAGES:</a:t>
            </a:r>
            <a:endParaRPr dirty="0"/>
          </a:p>
          <a:p>
            <a:pPr marL="0" lvl="0" indent="0" algn="just" rtl="0">
              <a:lnSpc>
                <a:spcPct val="160000"/>
              </a:lnSpc>
              <a:spcBef>
                <a:spcPts val="1000"/>
              </a:spcBef>
              <a:spcAft>
                <a:spcPts val="0"/>
              </a:spcAft>
              <a:buClr>
                <a:schemeClr val="dk1"/>
              </a:buClr>
              <a:buSzPts val="1800"/>
              <a:buNone/>
            </a:pPr>
            <a:r>
              <a:rPr lang="en-IN" sz="1800" dirty="0">
                <a:latin typeface="Times New Roman"/>
                <a:ea typeface="Times New Roman"/>
                <a:cs typeface="Times New Roman"/>
                <a:sym typeface="Times New Roman"/>
              </a:rPr>
              <a:t>1. Time-consuming manual work.</a:t>
            </a:r>
            <a:endParaRPr dirty="0"/>
          </a:p>
          <a:p>
            <a:pPr marL="0" lvl="0" indent="0" algn="just" rtl="0">
              <a:lnSpc>
                <a:spcPct val="160000"/>
              </a:lnSpc>
              <a:spcBef>
                <a:spcPts val="1000"/>
              </a:spcBef>
              <a:spcAft>
                <a:spcPts val="0"/>
              </a:spcAft>
              <a:buClr>
                <a:schemeClr val="dk1"/>
              </a:buClr>
              <a:buSzPts val="1800"/>
              <a:buNone/>
            </a:pPr>
            <a:r>
              <a:rPr lang="en-IN" sz="1800" dirty="0">
                <a:latin typeface="Times New Roman"/>
                <a:ea typeface="Times New Roman"/>
                <a:cs typeface="Times New Roman"/>
                <a:sym typeface="Times New Roman"/>
              </a:rPr>
              <a:t>2. Possibility of human bias and error.</a:t>
            </a:r>
            <a:endParaRPr dirty="0"/>
          </a:p>
        </p:txBody>
      </p:sp>
      <p:sp>
        <p:nvSpPr>
          <p:cNvPr id="118" name="Google Shape;11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7"/>
          <p:cNvSpPr txBox="1">
            <a:spLocks noGrp="1"/>
          </p:cNvSpPr>
          <p:nvPr>
            <p:ph type="title"/>
          </p:nvPr>
        </p:nvSpPr>
        <p:spPr>
          <a:xfrm>
            <a:off x="0" y="0"/>
            <a:ext cx="12192000" cy="120364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600" b="1" dirty="0">
                <a:latin typeface="Times New Roman"/>
                <a:ea typeface="Times New Roman"/>
                <a:cs typeface="Times New Roman"/>
                <a:sym typeface="Times New Roman"/>
              </a:rPr>
              <a:t>PROPOSED SYSTEM</a:t>
            </a:r>
            <a:endParaRPr dirty="0"/>
          </a:p>
        </p:txBody>
      </p:sp>
      <p:sp>
        <p:nvSpPr>
          <p:cNvPr id="124" name="Google Shape;124;p7"/>
          <p:cNvSpPr txBox="1">
            <a:spLocks noGrp="1"/>
          </p:cNvSpPr>
          <p:nvPr>
            <p:ph type="body" idx="1"/>
          </p:nvPr>
        </p:nvSpPr>
        <p:spPr>
          <a:xfrm>
            <a:off x="426720" y="964411"/>
            <a:ext cx="11338560" cy="5391939"/>
          </a:xfrm>
          <a:prstGeom prst="rect">
            <a:avLst/>
          </a:prstGeom>
          <a:noFill/>
          <a:ln>
            <a:noFill/>
          </a:ln>
        </p:spPr>
        <p:txBody>
          <a:bodyPr spcFirstLastPara="1" wrap="square" lIns="91425" tIns="45700" rIns="91425" bIns="45700" anchor="t" anchorCtr="0">
            <a:noAutofit/>
          </a:bodyPr>
          <a:lstStyle/>
          <a:p>
            <a:pPr marL="342900" lvl="0" algn="just" rtl="0">
              <a:lnSpc>
                <a:spcPct val="170000"/>
              </a:lnSpc>
              <a:spcBef>
                <a:spcPts val="0"/>
              </a:spcBef>
              <a:spcAft>
                <a:spcPts val="0"/>
              </a:spcAft>
              <a:buClr>
                <a:schemeClr val="dk1"/>
              </a:buClr>
              <a:buSzPts val="1800"/>
              <a:buFont typeface="+mj-lt"/>
              <a:buAutoNum type="arabicPeriod"/>
            </a:pPr>
            <a:r>
              <a:rPr lang="en-IN" sz="1800" dirty="0">
                <a:latin typeface="Times New Roman"/>
                <a:ea typeface="Times New Roman"/>
                <a:cs typeface="Times New Roman"/>
                <a:sym typeface="Times New Roman"/>
              </a:rPr>
              <a:t>The proposed system introduces an </a:t>
            </a:r>
            <a:r>
              <a:rPr lang="en-IN" sz="1800" b="1" dirty="0">
                <a:latin typeface="Times New Roman"/>
                <a:ea typeface="Times New Roman"/>
                <a:cs typeface="Times New Roman"/>
                <a:sym typeface="Times New Roman"/>
              </a:rPr>
              <a:t>automated, machine-learning–based loan eligibility prediction model </a:t>
            </a:r>
            <a:r>
              <a:rPr lang="en-IN" sz="1800" dirty="0">
                <a:latin typeface="Times New Roman"/>
                <a:ea typeface="Times New Roman"/>
                <a:cs typeface="Times New Roman"/>
                <a:sym typeface="Times New Roman"/>
              </a:rPr>
              <a:t>that assists banks in making faster, more accurate, and data-driven loan decisions. Instead of relying on manual verification and judgement-based approval, the system analyses historical loan data and identifies patterns that indicate whether a customer is likely to repay the loan.</a:t>
            </a:r>
            <a:endParaRPr dirty="0"/>
          </a:p>
          <a:p>
            <a:pPr marL="342900" lvl="0" algn="just" rtl="0">
              <a:lnSpc>
                <a:spcPct val="170000"/>
              </a:lnSpc>
              <a:spcBef>
                <a:spcPts val="1000"/>
              </a:spcBef>
              <a:spcAft>
                <a:spcPts val="0"/>
              </a:spcAft>
              <a:buClr>
                <a:schemeClr val="dk1"/>
              </a:buClr>
              <a:buSzPts val="1800"/>
              <a:buFont typeface="+mj-lt"/>
              <a:buAutoNum type="arabicPeriod"/>
            </a:pPr>
            <a:r>
              <a:rPr lang="en-IN" sz="1800" dirty="0">
                <a:latin typeface="Times New Roman"/>
                <a:ea typeface="Times New Roman"/>
                <a:cs typeface="Times New Roman"/>
                <a:sym typeface="Times New Roman"/>
              </a:rPr>
              <a:t>Automated Decision Making.</a:t>
            </a:r>
            <a:endParaRPr dirty="0"/>
          </a:p>
          <a:p>
            <a:pPr marL="342900" lvl="0" algn="just" rtl="0">
              <a:lnSpc>
                <a:spcPct val="170000"/>
              </a:lnSpc>
              <a:spcBef>
                <a:spcPts val="1000"/>
              </a:spcBef>
              <a:spcAft>
                <a:spcPts val="0"/>
              </a:spcAft>
              <a:buClr>
                <a:schemeClr val="dk1"/>
              </a:buClr>
              <a:buSzPts val="1800"/>
              <a:buFont typeface="+mj-lt"/>
              <a:buAutoNum type="arabicPeriod"/>
            </a:pPr>
            <a:r>
              <a:rPr lang="en-IN" sz="1800" dirty="0">
                <a:latin typeface="Times New Roman"/>
                <a:ea typeface="Times New Roman"/>
                <a:cs typeface="Times New Roman"/>
                <a:sym typeface="Times New Roman"/>
              </a:rPr>
              <a:t>Data Preprocessing and Feature Engineering.</a:t>
            </a:r>
            <a:endParaRPr dirty="0"/>
          </a:p>
          <a:p>
            <a:pPr marL="342900" lvl="0" algn="just" rtl="0">
              <a:lnSpc>
                <a:spcPct val="170000"/>
              </a:lnSpc>
              <a:spcBef>
                <a:spcPts val="1000"/>
              </a:spcBef>
              <a:spcAft>
                <a:spcPts val="0"/>
              </a:spcAft>
              <a:buClr>
                <a:schemeClr val="dk1"/>
              </a:buClr>
              <a:buSzPts val="1800"/>
              <a:buFont typeface="+mj-lt"/>
              <a:buAutoNum type="arabicPeriod"/>
            </a:pPr>
            <a:r>
              <a:rPr lang="en-IN" sz="1800" dirty="0">
                <a:latin typeface="Times New Roman"/>
                <a:ea typeface="Times New Roman"/>
                <a:cs typeface="Times New Roman"/>
                <a:sym typeface="Times New Roman"/>
              </a:rPr>
              <a:t>Machine Learning-Based Prediction.</a:t>
            </a:r>
            <a:endParaRPr dirty="0"/>
          </a:p>
          <a:p>
            <a:pPr marL="0" lvl="0" indent="0" algn="just" rtl="0">
              <a:lnSpc>
                <a:spcPct val="170000"/>
              </a:lnSpc>
              <a:spcBef>
                <a:spcPts val="1000"/>
              </a:spcBef>
              <a:spcAft>
                <a:spcPts val="0"/>
              </a:spcAft>
              <a:buClr>
                <a:schemeClr val="dk1"/>
              </a:buClr>
              <a:buSzPts val="1800"/>
              <a:buNone/>
            </a:pPr>
            <a:r>
              <a:rPr lang="en-IN" sz="1800" b="1" dirty="0">
                <a:latin typeface="Times New Roman"/>
                <a:ea typeface="Times New Roman"/>
                <a:cs typeface="Times New Roman"/>
                <a:sym typeface="Times New Roman"/>
              </a:rPr>
              <a:t>ADVANTAGES:</a:t>
            </a:r>
            <a:endParaRPr sz="1800" dirty="0">
              <a:latin typeface="Times New Roman"/>
              <a:ea typeface="Times New Roman"/>
              <a:cs typeface="Times New Roman"/>
              <a:sym typeface="Times New Roman"/>
            </a:endParaRPr>
          </a:p>
          <a:p>
            <a:pPr marL="342900" lvl="0" algn="just" rtl="0">
              <a:lnSpc>
                <a:spcPct val="170000"/>
              </a:lnSpc>
              <a:spcBef>
                <a:spcPts val="1000"/>
              </a:spcBef>
              <a:spcAft>
                <a:spcPts val="0"/>
              </a:spcAft>
              <a:buClr>
                <a:schemeClr val="dk1"/>
              </a:buClr>
              <a:buSzPts val="1800"/>
              <a:buFont typeface="+mj-lt"/>
              <a:buAutoNum type="arabicPeriod"/>
            </a:pPr>
            <a:r>
              <a:rPr lang="en-IN" sz="1800" dirty="0">
                <a:latin typeface="Times New Roman"/>
                <a:ea typeface="Times New Roman"/>
                <a:cs typeface="Times New Roman"/>
                <a:sym typeface="Times New Roman"/>
              </a:rPr>
              <a:t>Faster loan processing.</a:t>
            </a:r>
            <a:endParaRPr dirty="0"/>
          </a:p>
          <a:p>
            <a:pPr marL="342900" lvl="0" algn="just" rtl="0">
              <a:lnSpc>
                <a:spcPct val="170000"/>
              </a:lnSpc>
              <a:spcBef>
                <a:spcPts val="1000"/>
              </a:spcBef>
              <a:spcAft>
                <a:spcPts val="0"/>
              </a:spcAft>
              <a:buClr>
                <a:schemeClr val="dk1"/>
              </a:buClr>
              <a:buSzPts val="1800"/>
              <a:buFont typeface="+mj-lt"/>
              <a:buAutoNum type="arabicPeriod"/>
            </a:pPr>
            <a:r>
              <a:rPr lang="en-IN" sz="1800" dirty="0">
                <a:latin typeface="Times New Roman"/>
                <a:ea typeface="Times New Roman"/>
                <a:cs typeface="Times New Roman"/>
                <a:sym typeface="Times New Roman"/>
              </a:rPr>
              <a:t>Higher accuracy due to data-driven decisions.</a:t>
            </a:r>
            <a:endParaRPr dirty="0"/>
          </a:p>
        </p:txBody>
      </p:sp>
      <p:sp>
        <p:nvSpPr>
          <p:cNvPr id="126" name="Google Shape;12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g3b7567d4e30_1_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6</a:t>
            </a:fld>
            <a:endParaRPr/>
          </a:p>
        </p:txBody>
      </p:sp>
      <p:sp>
        <p:nvSpPr>
          <p:cNvPr id="134" name="Google Shape;134;g3b7567d4e30_1_9"/>
          <p:cNvSpPr txBox="1"/>
          <p:nvPr/>
        </p:nvSpPr>
        <p:spPr>
          <a:xfrm>
            <a:off x="0" y="0"/>
            <a:ext cx="12192000" cy="73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IN" sz="3600" b="1">
                <a:solidFill>
                  <a:schemeClr val="dk1"/>
                </a:solidFill>
                <a:latin typeface="Times New Roman"/>
                <a:ea typeface="Times New Roman"/>
                <a:cs typeface="Times New Roman"/>
                <a:sym typeface="Times New Roman"/>
              </a:rPr>
              <a:t>ARCHITECTURE DESIGN FOR PROPOSED SYSTEM</a:t>
            </a:r>
            <a:endParaRPr sz="3600" b="1">
              <a:solidFill>
                <a:schemeClr val="dk1"/>
              </a:solidFill>
              <a:latin typeface="Times New Roman"/>
              <a:ea typeface="Times New Roman"/>
              <a:cs typeface="Times New Roman"/>
              <a:sym typeface="Times New Roman"/>
            </a:endParaRPr>
          </a:p>
        </p:txBody>
      </p:sp>
      <p:pic>
        <p:nvPicPr>
          <p:cNvPr id="3" name="Picture 2" descr="A diagram of a software development&#10;&#10;AI-generated content may be incorrect.">
            <a:extLst>
              <a:ext uri="{FF2B5EF4-FFF2-40B4-BE49-F238E27FC236}">
                <a16:creationId xmlns:a16="http://schemas.microsoft.com/office/drawing/2014/main" id="{745A8CFE-0E59-2A9B-9F8F-4D7EB20EB477}"/>
              </a:ext>
            </a:extLst>
          </p:cNvPr>
          <p:cNvPicPr>
            <a:picLocks noChangeAspect="1"/>
          </p:cNvPicPr>
          <p:nvPr/>
        </p:nvPicPr>
        <p:blipFill>
          <a:blip r:embed="rId3"/>
          <a:stretch>
            <a:fillRect/>
          </a:stretch>
        </p:blipFill>
        <p:spPr>
          <a:xfrm>
            <a:off x="2865120" y="820776"/>
            <a:ext cx="6461760" cy="55355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3b7567d4e30_1_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7</a:t>
            </a:fld>
            <a:endParaRPr/>
          </a:p>
        </p:txBody>
      </p:sp>
      <p:pic>
        <p:nvPicPr>
          <p:cNvPr id="141" name="Google Shape;141;g3b7567d4e30_1_0"/>
          <p:cNvPicPr preferRelativeResize="0"/>
          <p:nvPr/>
        </p:nvPicPr>
        <p:blipFill>
          <a:blip r:embed="rId3">
            <a:alphaModFix/>
          </a:blip>
          <a:stretch>
            <a:fillRect/>
          </a:stretch>
        </p:blipFill>
        <p:spPr>
          <a:xfrm>
            <a:off x="2914043" y="884731"/>
            <a:ext cx="6363914" cy="5088538"/>
          </a:xfrm>
          <a:prstGeom prst="rect">
            <a:avLst/>
          </a:prstGeom>
          <a:noFill/>
          <a:ln>
            <a:noFill/>
          </a:ln>
        </p:spPr>
      </p:pic>
      <p:sp>
        <p:nvSpPr>
          <p:cNvPr id="142" name="Google Shape;142;g3b7567d4e30_1_0"/>
          <p:cNvSpPr txBox="1"/>
          <p:nvPr/>
        </p:nvSpPr>
        <p:spPr>
          <a:xfrm>
            <a:off x="1" y="0"/>
            <a:ext cx="12192000" cy="73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IN" sz="3600" b="1">
                <a:solidFill>
                  <a:schemeClr val="dk1"/>
                </a:solidFill>
                <a:latin typeface="Times New Roman"/>
                <a:ea typeface="Times New Roman"/>
                <a:cs typeface="Times New Roman"/>
                <a:sym typeface="Times New Roman"/>
              </a:rPr>
              <a:t>ER DIAGRAM/ FLOW DIAGRAM</a:t>
            </a:r>
            <a:r>
              <a:rPr lang="en-IN" sz="2800" b="1">
                <a:solidFill>
                  <a:schemeClr val="dk1"/>
                </a:solidFill>
                <a:latin typeface="Times New Roman"/>
                <a:ea typeface="Times New Roman"/>
                <a:cs typeface="Times New Roman"/>
                <a:sym typeface="Times New Roman"/>
              </a:rPr>
              <a:t>  </a:t>
            </a:r>
            <a:r>
              <a:rPr lang="en-IN" sz="2800" b="1">
                <a:solidFill>
                  <a:schemeClr val="dk1"/>
                </a:solidFill>
                <a:latin typeface="Calibri"/>
                <a:ea typeface="Calibri"/>
                <a:cs typeface="Calibri"/>
                <a:sym typeface="Calibri"/>
              </a:rPr>
              <a:t>  </a:t>
            </a:r>
            <a:endParaRPr sz="2800" b="1">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b7567d4e30_1_6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8</a:t>
            </a:fld>
            <a:endParaRPr/>
          </a:p>
        </p:txBody>
      </p:sp>
      <p:sp>
        <p:nvSpPr>
          <p:cNvPr id="149" name="Google Shape;149;g3b7567d4e30_1_68"/>
          <p:cNvSpPr txBox="1"/>
          <p:nvPr/>
        </p:nvSpPr>
        <p:spPr>
          <a:xfrm>
            <a:off x="278472" y="1393475"/>
            <a:ext cx="11635056" cy="514542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None/>
            </a:pPr>
            <a:r>
              <a:rPr lang="en-IN" sz="1800" b="1" dirty="0">
                <a:solidFill>
                  <a:schemeClr val="dk1"/>
                </a:solidFill>
                <a:latin typeface="Times New Roman"/>
                <a:ea typeface="Times New Roman"/>
                <a:cs typeface="Times New Roman"/>
                <a:sym typeface="Times New Roman"/>
              </a:rPr>
              <a:t>1. Core Machine Learning Algorithms</a:t>
            </a:r>
            <a:endParaRPr sz="1800" b="1" dirty="0">
              <a:solidFill>
                <a:schemeClr val="dk1"/>
              </a:solidFill>
              <a:latin typeface="Times New Roman"/>
              <a:ea typeface="Times New Roman"/>
              <a:cs typeface="Times New Roman"/>
              <a:sym typeface="Times New Roman"/>
            </a:endParaRPr>
          </a:p>
          <a:p>
            <a:pPr marL="457200" lvl="0" indent="-342900" algn="l" rtl="0">
              <a:lnSpc>
                <a:spcPct val="115000"/>
              </a:lnSpc>
              <a:spcBef>
                <a:spcPts val="1800"/>
              </a:spcBef>
              <a:spcAft>
                <a:spcPts val="0"/>
              </a:spcAft>
              <a:buClr>
                <a:schemeClr val="dk1"/>
              </a:buClr>
              <a:buSzPts val="1800"/>
              <a:buFont typeface="Times New Roman"/>
              <a:buChar char="●"/>
            </a:pPr>
            <a:r>
              <a:rPr lang="en-IN" sz="1800" b="1" dirty="0">
                <a:solidFill>
                  <a:schemeClr val="dk1"/>
                </a:solidFill>
                <a:latin typeface="Times New Roman"/>
                <a:ea typeface="Times New Roman"/>
                <a:cs typeface="Times New Roman"/>
                <a:sym typeface="Times New Roman"/>
              </a:rPr>
              <a:t>Random forest: </a:t>
            </a:r>
            <a:r>
              <a:rPr lang="en-IN" sz="1800" dirty="0">
                <a:solidFill>
                  <a:schemeClr val="dk1"/>
                </a:solidFill>
                <a:latin typeface="Times New Roman"/>
                <a:ea typeface="Times New Roman"/>
                <a:cs typeface="Times New Roman"/>
                <a:sym typeface="Times New Roman"/>
              </a:rPr>
              <a:t>It creates hundreds of individual “Decision Trees” and lets them vote on the outcome. </a:t>
            </a:r>
            <a:endParaRPr sz="1800" dirty="0">
              <a:solidFill>
                <a:schemeClr val="dk1"/>
              </a:solidFill>
              <a:latin typeface="Times New Roman"/>
              <a:ea typeface="Times New Roman"/>
              <a:cs typeface="Times New Roman"/>
              <a:sym typeface="Times New Roman"/>
            </a:endParaRPr>
          </a:p>
          <a:p>
            <a:pPr marL="457200" lvl="0" indent="-342900">
              <a:lnSpc>
                <a:spcPct val="115000"/>
              </a:lnSpc>
              <a:buClr>
                <a:schemeClr val="dk1"/>
              </a:buClr>
              <a:buSzPts val="1800"/>
              <a:buFont typeface="Times New Roman"/>
              <a:buChar char="●"/>
            </a:pPr>
            <a:r>
              <a:rPr lang="en-IN" sz="1800" b="1" dirty="0" err="1">
                <a:solidFill>
                  <a:schemeClr val="dk1"/>
                </a:solidFill>
                <a:latin typeface="Times New Roman"/>
                <a:ea typeface="Times New Roman"/>
                <a:cs typeface="Times New Roman"/>
                <a:sym typeface="Times New Roman"/>
              </a:rPr>
              <a:t>XGBoost</a:t>
            </a:r>
            <a:r>
              <a:rPr lang="en-IN" sz="1800" b="1" dirty="0">
                <a:solidFill>
                  <a:schemeClr val="dk1"/>
                </a:solidFill>
                <a:latin typeface="Times New Roman"/>
                <a:ea typeface="Times New Roman"/>
                <a:cs typeface="Times New Roman"/>
                <a:sym typeface="Times New Roman"/>
              </a:rPr>
              <a:t> </a:t>
            </a:r>
            <a:r>
              <a:rPr lang="en-IN" sz="1800" b="1" dirty="0">
                <a:latin typeface="Times New Roman" panose="02020603050405020304" pitchFamily="18" charset="0"/>
                <a:cs typeface="Times New Roman" panose="02020603050405020304" pitchFamily="18" charset="0"/>
              </a:rPr>
              <a:t>(Extreme Gradient Boosting)</a:t>
            </a:r>
            <a:r>
              <a:rPr lang="en-IN"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IN" sz="1800" dirty="0">
                <a:solidFill>
                  <a:schemeClr val="dk1"/>
                </a:solidFill>
                <a:latin typeface="Times New Roman"/>
                <a:ea typeface="Times New Roman"/>
                <a:cs typeface="Times New Roman"/>
                <a:sym typeface="Times New Roman"/>
              </a:rPr>
              <a:t>It built trees sequentially, where each new tree specifically tries to correct the errors made by the previous ones.</a:t>
            </a:r>
            <a:endParaRPr sz="1800" dirty="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n-IN" sz="1800" b="1" dirty="0">
                <a:solidFill>
                  <a:schemeClr val="dk1"/>
                </a:solidFill>
                <a:latin typeface="Times New Roman"/>
                <a:ea typeface="Times New Roman"/>
                <a:cs typeface="Times New Roman"/>
                <a:sym typeface="Times New Roman"/>
              </a:rPr>
              <a:t>Logistic Regression: </a:t>
            </a:r>
            <a:r>
              <a:rPr lang="en-IN" sz="1800" dirty="0">
                <a:solidFill>
                  <a:schemeClr val="dk1"/>
                </a:solidFill>
                <a:latin typeface="Times New Roman"/>
                <a:ea typeface="Times New Roman"/>
                <a:cs typeface="Times New Roman"/>
                <a:sym typeface="Times New Roman"/>
              </a:rPr>
              <a:t>A statistical model that calculates the probability of a binary event using a sigmoid function.</a:t>
            </a:r>
            <a:endParaRPr sz="1800" dirty="0">
              <a:solidFill>
                <a:schemeClr val="dk1"/>
              </a:solidFill>
              <a:latin typeface="Times New Roman"/>
              <a:ea typeface="Times New Roman"/>
              <a:cs typeface="Times New Roman"/>
              <a:sym typeface="Times New Roman"/>
            </a:endParaRPr>
          </a:p>
          <a:p>
            <a:pPr marL="0" lvl="0" indent="0" algn="l" rtl="0">
              <a:lnSpc>
                <a:spcPct val="115000"/>
              </a:lnSpc>
              <a:spcBef>
                <a:spcPts val="1800"/>
              </a:spcBef>
              <a:spcAft>
                <a:spcPts val="0"/>
              </a:spcAft>
              <a:buNone/>
            </a:pPr>
            <a:r>
              <a:rPr lang="en-IN" sz="1800" b="1" dirty="0">
                <a:solidFill>
                  <a:schemeClr val="dk1"/>
                </a:solidFill>
                <a:latin typeface="Times New Roman"/>
                <a:ea typeface="Times New Roman"/>
                <a:cs typeface="Times New Roman"/>
                <a:sym typeface="Times New Roman"/>
              </a:rPr>
              <a:t>2. Key Data Science Techniques </a:t>
            </a:r>
            <a:endParaRPr sz="1800" b="1" dirty="0">
              <a:solidFill>
                <a:schemeClr val="dk1"/>
              </a:solidFill>
              <a:latin typeface="Times New Roman"/>
              <a:ea typeface="Times New Roman"/>
              <a:cs typeface="Times New Roman"/>
              <a:sym typeface="Times New Roman"/>
            </a:endParaRPr>
          </a:p>
          <a:p>
            <a:pPr marL="457200" lvl="0" indent="-342900" algn="l" rtl="0">
              <a:lnSpc>
                <a:spcPct val="115000"/>
              </a:lnSpc>
              <a:spcBef>
                <a:spcPts val="1800"/>
              </a:spcBef>
              <a:spcAft>
                <a:spcPts val="0"/>
              </a:spcAft>
              <a:buClr>
                <a:schemeClr val="dk1"/>
              </a:buClr>
              <a:buSzPts val="1800"/>
              <a:buFont typeface="Times New Roman"/>
              <a:buChar char="●"/>
            </a:pPr>
            <a:r>
              <a:rPr lang="en-IN" sz="1800" dirty="0">
                <a:solidFill>
                  <a:schemeClr val="dk1"/>
                </a:solidFill>
                <a:latin typeface="Times New Roman"/>
                <a:ea typeface="Times New Roman"/>
                <a:cs typeface="Times New Roman"/>
                <a:sym typeface="Times New Roman"/>
              </a:rPr>
              <a:t>Handling Class Imbalance (SMOTE)</a:t>
            </a:r>
            <a:endParaRPr sz="1800" dirty="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n-IN" sz="1800" dirty="0">
                <a:solidFill>
                  <a:schemeClr val="dk1"/>
                </a:solidFill>
                <a:latin typeface="Times New Roman"/>
                <a:ea typeface="Times New Roman"/>
                <a:cs typeface="Times New Roman"/>
                <a:sym typeface="Times New Roman"/>
              </a:rPr>
              <a:t>Feature Scaling (Normalisation)</a:t>
            </a:r>
            <a:endParaRPr sz="1800" dirty="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n-IN" sz="1800" dirty="0">
                <a:solidFill>
                  <a:schemeClr val="dk1"/>
                </a:solidFill>
                <a:latin typeface="Times New Roman"/>
                <a:ea typeface="Times New Roman"/>
                <a:cs typeface="Times New Roman"/>
                <a:sym typeface="Times New Roman"/>
              </a:rPr>
              <a:t>Categorical Encoding</a:t>
            </a:r>
            <a:endParaRPr sz="1800" dirty="0">
              <a:solidFill>
                <a:schemeClr val="dk1"/>
              </a:solidFill>
              <a:latin typeface="Times New Roman"/>
              <a:ea typeface="Times New Roman"/>
              <a:cs typeface="Times New Roman"/>
              <a:sym typeface="Times New Roman"/>
            </a:endParaRPr>
          </a:p>
          <a:p>
            <a:pPr marL="0" lvl="0" indent="0" algn="l" rtl="0">
              <a:lnSpc>
                <a:spcPct val="115000"/>
              </a:lnSpc>
              <a:spcBef>
                <a:spcPts val="1800"/>
              </a:spcBef>
              <a:spcAft>
                <a:spcPts val="0"/>
              </a:spcAft>
              <a:buNone/>
            </a:pPr>
            <a:endParaRPr sz="1800" dirty="0">
              <a:solidFill>
                <a:schemeClr val="dk1"/>
              </a:solidFill>
              <a:latin typeface="Times New Roman"/>
              <a:ea typeface="Times New Roman"/>
              <a:cs typeface="Times New Roman"/>
              <a:sym typeface="Times New Roman"/>
            </a:endParaRPr>
          </a:p>
        </p:txBody>
      </p:sp>
      <p:sp>
        <p:nvSpPr>
          <p:cNvPr id="150" name="Google Shape;150;g3b7567d4e30_1_68"/>
          <p:cNvSpPr txBox="1"/>
          <p:nvPr/>
        </p:nvSpPr>
        <p:spPr>
          <a:xfrm>
            <a:off x="22625" y="45275"/>
            <a:ext cx="158400" cy="36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
        <p:nvSpPr>
          <p:cNvPr id="151" name="Google Shape;151;g3b7567d4e30_1_68"/>
          <p:cNvSpPr txBox="1"/>
          <p:nvPr/>
        </p:nvSpPr>
        <p:spPr>
          <a:xfrm>
            <a:off x="0" y="282765"/>
            <a:ext cx="12192000" cy="73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IN" sz="3600" b="1" dirty="0">
                <a:solidFill>
                  <a:schemeClr val="dk1"/>
                </a:solidFill>
                <a:latin typeface="Times New Roman"/>
                <a:ea typeface="Times New Roman"/>
                <a:cs typeface="Times New Roman"/>
                <a:sym typeface="Times New Roman"/>
              </a:rPr>
              <a:t>ALGORITHMS AND TECHNIQUES USED</a:t>
            </a:r>
            <a:endParaRPr sz="36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3b7567d4e30_1_1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9</a:t>
            </a:fld>
            <a:endParaRPr/>
          </a:p>
        </p:txBody>
      </p:sp>
      <p:sp>
        <p:nvSpPr>
          <p:cNvPr id="158" name="Google Shape;158;g3b7567d4e30_1_18"/>
          <p:cNvSpPr txBox="1"/>
          <p:nvPr/>
        </p:nvSpPr>
        <p:spPr>
          <a:xfrm>
            <a:off x="325120" y="1145950"/>
            <a:ext cx="10705800" cy="55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import pandas as pd</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import </a:t>
            </a:r>
            <a:r>
              <a:rPr lang="en-IN" sz="1800" dirty="0" err="1">
                <a:solidFill>
                  <a:schemeClr val="dk1"/>
                </a:solidFill>
                <a:latin typeface="Times New Roman"/>
                <a:ea typeface="Times New Roman"/>
                <a:cs typeface="Times New Roman"/>
                <a:sym typeface="Times New Roman"/>
              </a:rPr>
              <a:t>numpy</a:t>
            </a:r>
            <a:r>
              <a:rPr lang="en-IN" sz="1800" dirty="0">
                <a:solidFill>
                  <a:schemeClr val="dk1"/>
                </a:solidFill>
                <a:latin typeface="Times New Roman"/>
                <a:ea typeface="Times New Roman"/>
                <a:cs typeface="Times New Roman"/>
                <a:sym typeface="Times New Roman"/>
              </a:rPr>
              <a:t> as np</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from </a:t>
            </a:r>
            <a:r>
              <a:rPr lang="en-IN" sz="1800" dirty="0" err="1">
                <a:solidFill>
                  <a:schemeClr val="dk1"/>
                </a:solidFill>
                <a:latin typeface="Times New Roman"/>
                <a:ea typeface="Times New Roman"/>
                <a:cs typeface="Times New Roman"/>
                <a:sym typeface="Times New Roman"/>
              </a:rPr>
              <a:t>sklearn.model_selection</a:t>
            </a:r>
            <a:r>
              <a:rPr lang="en-IN" sz="1800" dirty="0">
                <a:solidFill>
                  <a:schemeClr val="dk1"/>
                </a:solidFill>
                <a:latin typeface="Times New Roman"/>
                <a:ea typeface="Times New Roman"/>
                <a:cs typeface="Times New Roman"/>
                <a:sym typeface="Times New Roman"/>
              </a:rPr>
              <a:t> import </a:t>
            </a:r>
            <a:r>
              <a:rPr lang="en-IN" sz="1800" dirty="0" err="1">
                <a:solidFill>
                  <a:schemeClr val="dk1"/>
                </a:solidFill>
                <a:latin typeface="Times New Roman"/>
                <a:ea typeface="Times New Roman"/>
                <a:cs typeface="Times New Roman"/>
                <a:sym typeface="Times New Roman"/>
              </a:rPr>
              <a:t>train_test_split</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from </a:t>
            </a:r>
            <a:r>
              <a:rPr lang="en-IN" sz="1800" dirty="0" err="1">
                <a:solidFill>
                  <a:schemeClr val="dk1"/>
                </a:solidFill>
                <a:latin typeface="Times New Roman"/>
                <a:ea typeface="Times New Roman"/>
                <a:cs typeface="Times New Roman"/>
                <a:sym typeface="Times New Roman"/>
              </a:rPr>
              <a:t>sklearn.preprocessing</a:t>
            </a:r>
            <a:r>
              <a:rPr lang="en-IN" sz="1800" dirty="0">
                <a:solidFill>
                  <a:schemeClr val="dk1"/>
                </a:solidFill>
                <a:latin typeface="Times New Roman"/>
                <a:ea typeface="Times New Roman"/>
                <a:cs typeface="Times New Roman"/>
                <a:sym typeface="Times New Roman"/>
              </a:rPr>
              <a:t> import </a:t>
            </a:r>
            <a:r>
              <a:rPr lang="en-IN" sz="1800" dirty="0" err="1">
                <a:solidFill>
                  <a:schemeClr val="dk1"/>
                </a:solidFill>
                <a:latin typeface="Times New Roman"/>
                <a:ea typeface="Times New Roman"/>
                <a:cs typeface="Times New Roman"/>
                <a:sym typeface="Times New Roman"/>
              </a:rPr>
              <a:t>LabelEncoder</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from </a:t>
            </a:r>
            <a:r>
              <a:rPr lang="en-IN" sz="1800" dirty="0" err="1">
                <a:solidFill>
                  <a:schemeClr val="dk1"/>
                </a:solidFill>
                <a:latin typeface="Times New Roman"/>
                <a:ea typeface="Times New Roman"/>
                <a:cs typeface="Times New Roman"/>
                <a:sym typeface="Times New Roman"/>
              </a:rPr>
              <a:t>sklearn.ensemble</a:t>
            </a:r>
            <a:r>
              <a:rPr lang="en-IN" sz="1800" dirty="0">
                <a:solidFill>
                  <a:schemeClr val="dk1"/>
                </a:solidFill>
                <a:latin typeface="Times New Roman"/>
                <a:ea typeface="Times New Roman"/>
                <a:cs typeface="Times New Roman"/>
                <a:sym typeface="Times New Roman"/>
              </a:rPr>
              <a:t> import </a:t>
            </a:r>
            <a:r>
              <a:rPr lang="en-IN" sz="1800" dirty="0" err="1">
                <a:solidFill>
                  <a:schemeClr val="dk1"/>
                </a:solidFill>
                <a:latin typeface="Times New Roman"/>
                <a:ea typeface="Times New Roman"/>
                <a:cs typeface="Times New Roman"/>
                <a:sym typeface="Times New Roman"/>
              </a:rPr>
              <a:t>RandomForestClassifier</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from </a:t>
            </a:r>
            <a:r>
              <a:rPr lang="en-IN" sz="1800" dirty="0" err="1">
                <a:solidFill>
                  <a:schemeClr val="dk1"/>
                </a:solidFill>
                <a:latin typeface="Times New Roman"/>
                <a:ea typeface="Times New Roman"/>
                <a:cs typeface="Times New Roman"/>
                <a:sym typeface="Times New Roman"/>
              </a:rPr>
              <a:t>sklearn.metrics</a:t>
            </a:r>
            <a:r>
              <a:rPr lang="en-IN" sz="1800" dirty="0">
                <a:solidFill>
                  <a:schemeClr val="dk1"/>
                </a:solidFill>
                <a:latin typeface="Times New Roman"/>
                <a:ea typeface="Times New Roman"/>
                <a:cs typeface="Times New Roman"/>
                <a:sym typeface="Times New Roman"/>
              </a:rPr>
              <a:t> import </a:t>
            </a:r>
            <a:r>
              <a:rPr lang="en-IN" sz="1800" dirty="0" err="1">
                <a:solidFill>
                  <a:schemeClr val="dk1"/>
                </a:solidFill>
                <a:latin typeface="Times New Roman"/>
                <a:ea typeface="Times New Roman"/>
                <a:cs typeface="Times New Roman"/>
                <a:sym typeface="Times New Roman"/>
              </a:rPr>
              <a:t>accuracy_score</a:t>
            </a: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classification_report</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1. LOAD DATASET</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Replace '</a:t>
            </a:r>
            <a:r>
              <a:rPr lang="en-IN" sz="1800" dirty="0" err="1">
                <a:solidFill>
                  <a:schemeClr val="dk1"/>
                </a:solidFill>
                <a:latin typeface="Times New Roman"/>
                <a:ea typeface="Times New Roman"/>
                <a:cs typeface="Times New Roman"/>
                <a:sym typeface="Times New Roman"/>
              </a:rPr>
              <a:t>loan_data.csv</a:t>
            </a:r>
            <a:r>
              <a:rPr lang="en-IN" sz="1800" dirty="0">
                <a:solidFill>
                  <a:schemeClr val="dk1"/>
                </a:solidFill>
                <a:latin typeface="Times New Roman"/>
                <a:ea typeface="Times New Roman"/>
                <a:cs typeface="Times New Roman"/>
                <a:sym typeface="Times New Roman"/>
              </a:rPr>
              <a:t>' with your actual dataset file path</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def </a:t>
            </a:r>
            <a:r>
              <a:rPr lang="en-IN" sz="1800" dirty="0" err="1">
                <a:solidFill>
                  <a:schemeClr val="dk1"/>
                </a:solidFill>
                <a:latin typeface="Times New Roman"/>
                <a:ea typeface="Times New Roman"/>
                <a:cs typeface="Times New Roman"/>
                <a:sym typeface="Times New Roman"/>
              </a:rPr>
              <a:t>load_and_preprocess_data</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file_path</a:t>
            </a:r>
            <a:r>
              <a:rPr lang="en-IN" sz="1800" dirty="0">
                <a:solidFill>
                  <a:schemeClr val="dk1"/>
                </a:solidFill>
                <a:latin typeface="Times New Roman"/>
                <a:ea typeface="Times New Roman"/>
                <a:cs typeface="Times New Roman"/>
                <a:sym typeface="Times New Roman"/>
              </a:rPr>
              <a:t>):</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 = </a:t>
            </a:r>
            <a:r>
              <a:rPr lang="en-IN" sz="1800" dirty="0" err="1">
                <a:solidFill>
                  <a:schemeClr val="dk1"/>
                </a:solidFill>
                <a:latin typeface="Times New Roman"/>
                <a:ea typeface="Times New Roman"/>
                <a:cs typeface="Times New Roman"/>
                <a:sym typeface="Times New Roman"/>
              </a:rPr>
              <a:t>pd.read_csv</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file_path</a:t>
            </a:r>
            <a:r>
              <a:rPr lang="en-IN" sz="1800" dirty="0">
                <a:solidFill>
                  <a:schemeClr val="dk1"/>
                </a:solidFill>
                <a:latin typeface="Times New Roman"/>
                <a:ea typeface="Times New Roman"/>
                <a:cs typeface="Times New Roman"/>
                <a:sym typeface="Times New Roman"/>
              </a:rPr>
              <a:t>)</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 2. DATA PREPROCESSING (Handling Missing Values)</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 Fill categorical missing values with Mode</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['Gender'].</a:t>
            </a:r>
            <a:r>
              <a:rPr lang="en-IN" sz="1800" dirty="0" err="1">
                <a:solidFill>
                  <a:schemeClr val="dk1"/>
                </a:solidFill>
                <a:latin typeface="Times New Roman"/>
                <a:ea typeface="Times New Roman"/>
                <a:cs typeface="Times New Roman"/>
                <a:sym typeface="Times New Roman"/>
              </a:rPr>
              <a:t>fillna</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['Gender'].mode()[0], </a:t>
            </a:r>
            <a:r>
              <a:rPr lang="en-IN" sz="1800" dirty="0" err="1">
                <a:solidFill>
                  <a:schemeClr val="dk1"/>
                </a:solidFill>
                <a:latin typeface="Times New Roman"/>
                <a:ea typeface="Times New Roman"/>
                <a:cs typeface="Times New Roman"/>
                <a:sym typeface="Times New Roman"/>
              </a:rPr>
              <a:t>inplace</a:t>
            </a:r>
            <a:r>
              <a:rPr lang="en-IN" sz="1800" dirty="0">
                <a:solidFill>
                  <a:schemeClr val="dk1"/>
                </a:solidFill>
                <a:latin typeface="Times New Roman"/>
                <a:ea typeface="Times New Roman"/>
                <a:cs typeface="Times New Roman"/>
                <a:sym typeface="Times New Roman"/>
              </a:rPr>
              <a:t>=True)</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['Married'].</a:t>
            </a:r>
            <a:r>
              <a:rPr lang="en-IN" sz="1800" dirty="0" err="1">
                <a:solidFill>
                  <a:schemeClr val="dk1"/>
                </a:solidFill>
                <a:latin typeface="Times New Roman"/>
                <a:ea typeface="Times New Roman"/>
                <a:cs typeface="Times New Roman"/>
                <a:sym typeface="Times New Roman"/>
              </a:rPr>
              <a:t>fillna</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['Married'].mode()[0], </a:t>
            </a:r>
            <a:r>
              <a:rPr lang="en-IN" sz="1800" dirty="0" err="1">
                <a:solidFill>
                  <a:schemeClr val="dk1"/>
                </a:solidFill>
                <a:latin typeface="Times New Roman"/>
                <a:ea typeface="Times New Roman"/>
                <a:cs typeface="Times New Roman"/>
                <a:sym typeface="Times New Roman"/>
              </a:rPr>
              <a:t>inplace</a:t>
            </a:r>
            <a:r>
              <a:rPr lang="en-IN" sz="1800" dirty="0">
                <a:solidFill>
                  <a:schemeClr val="dk1"/>
                </a:solidFill>
                <a:latin typeface="Times New Roman"/>
                <a:ea typeface="Times New Roman"/>
                <a:cs typeface="Times New Roman"/>
                <a:sym typeface="Times New Roman"/>
              </a:rPr>
              <a:t>=True)</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['Dependents'].</a:t>
            </a:r>
            <a:r>
              <a:rPr lang="en-IN" sz="1800" dirty="0" err="1">
                <a:solidFill>
                  <a:schemeClr val="dk1"/>
                </a:solidFill>
                <a:latin typeface="Times New Roman"/>
                <a:ea typeface="Times New Roman"/>
                <a:cs typeface="Times New Roman"/>
                <a:sym typeface="Times New Roman"/>
              </a:rPr>
              <a:t>fillna</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['Dependents'].mode()[0], </a:t>
            </a:r>
            <a:r>
              <a:rPr lang="en-IN" sz="1800" dirty="0" err="1">
                <a:solidFill>
                  <a:schemeClr val="dk1"/>
                </a:solidFill>
                <a:latin typeface="Times New Roman"/>
                <a:ea typeface="Times New Roman"/>
                <a:cs typeface="Times New Roman"/>
                <a:sym typeface="Times New Roman"/>
              </a:rPr>
              <a:t>inplace</a:t>
            </a:r>
            <a:r>
              <a:rPr lang="en-IN" sz="1800" dirty="0">
                <a:solidFill>
                  <a:schemeClr val="dk1"/>
                </a:solidFill>
                <a:latin typeface="Times New Roman"/>
                <a:ea typeface="Times New Roman"/>
                <a:cs typeface="Times New Roman"/>
                <a:sym typeface="Times New Roman"/>
              </a:rPr>
              <a:t>=True)</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Self_Employed</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fillna</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Self_Employed</a:t>
            </a:r>
            <a:r>
              <a:rPr lang="en-IN" sz="1800" dirty="0">
                <a:solidFill>
                  <a:schemeClr val="dk1"/>
                </a:solidFill>
                <a:latin typeface="Times New Roman"/>
                <a:ea typeface="Times New Roman"/>
                <a:cs typeface="Times New Roman"/>
                <a:sym typeface="Times New Roman"/>
              </a:rPr>
              <a:t>'].mode()[0], </a:t>
            </a:r>
            <a:r>
              <a:rPr lang="en-IN" sz="1800" dirty="0" err="1">
                <a:solidFill>
                  <a:schemeClr val="dk1"/>
                </a:solidFill>
                <a:latin typeface="Times New Roman"/>
                <a:ea typeface="Times New Roman"/>
                <a:cs typeface="Times New Roman"/>
                <a:sym typeface="Times New Roman"/>
              </a:rPr>
              <a:t>inplace</a:t>
            </a:r>
            <a:r>
              <a:rPr lang="en-IN" sz="1800" dirty="0">
                <a:solidFill>
                  <a:schemeClr val="dk1"/>
                </a:solidFill>
                <a:latin typeface="Times New Roman"/>
                <a:ea typeface="Times New Roman"/>
                <a:cs typeface="Times New Roman"/>
                <a:sym typeface="Times New Roman"/>
              </a:rPr>
              <a:t>=True)</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Credit_History</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fillna</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Credit_History</a:t>
            </a:r>
            <a:r>
              <a:rPr lang="en-IN" sz="1800" dirty="0">
                <a:solidFill>
                  <a:schemeClr val="dk1"/>
                </a:solidFill>
                <a:latin typeface="Times New Roman"/>
                <a:ea typeface="Times New Roman"/>
                <a:cs typeface="Times New Roman"/>
                <a:sym typeface="Times New Roman"/>
              </a:rPr>
              <a:t>'].mode()[0], </a:t>
            </a:r>
            <a:r>
              <a:rPr lang="en-IN" sz="1800" dirty="0" err="1">
                <a:solidFill>
                  <a:schemeClr val="dk1"/>
                </a:solidFill>
                <a:latin typeface="Times New Roman"/>
                <a:ea typeface="Times New Roman"/>
                <a:cs typeface="Times New Roman"/>
                <a:sym typeface="Times New Roman"/>
              </a:rPr>
              <a:t>inplace</a:t>
            </a:r>
            <a:r>
              <a:rPr lang="en-IN" sz="1800" dirty="0">
                <a:solidFill>
                  <a:schemeClr val="dk1"/>
                </a:solidFill>
                <a:latin typeface="Times New Roman"/>
                <a:ea typeface="Times New Roman"/>
                <a:cs typeface="Times New Roman"/>
                <a:sym typeface="Times New Roman"/>
              </a:rPr>
              <a:t>=True)</a:t>
            </a:r>
            <a:endParaRPr sz="1800" dirty="0">
              <a:solidFill>
                <a:schemeClr val="dk1"/>
              </a:solidFill>
              <a:latin typeface="Times New Roman"/>
              <a:ea typeface="Times New Roman"/>
              <a:cs typeface="Times New Roman"/>
              <a:sym typeface="Times New Roman"/>
            </a:endParaRPr>
          </a:p>
        </p:txBody>
      </p:sp>
      <p:sp>
        <p:nvSpPr>
          <p:cNvPr id="159" name="Google Shape;159;g3b7567d4e30_1_18"/>
          <p:cNvSpPr txBox="1"/>
          <p:nvPr/>
        </p:nvSpPr>
        <p:spPr>
          <a:xfrm>
            <a:off x="25" y="430050"/>
            <a:ext cx="12192000" cy="73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IN" sz="3800" b="1">
                <a:solidFill>
                  <a:schemeClr val="dk1"/>
                </a:solidFill>
                <a:latin typeface="Times New Roman"/>
                <a:ea typeface="Times New Roman"/>
                <a:cs typeface="Times New Roman"/>
                <a:sym typeface="Times New Roman"/>
              </a:rPr>
              <a:t>IMPLEMENTED CODE</a:t>
            </a:r>
            <a:endParaRPr sz="3800" b="1">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b7567d4e30_1_4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10</a:t>
            </a:fld>
            <a:endParaRPr/>
          </a:p>
        </p:txBody>
      </p:sp>
      <p:sp>
        <p:nvSpPr>
          <p:cNvPr id="166" name="Google Shape;166;g3b7567d4e30_1_44"/>
          <p:cNvSpPr txBox="1"/>
          <p:nvPr/>
        </p:nvSpPr>
        <p:spPr>
          <a:xfrm>
            <a:off x="0" y="125"/>
            <a:ext cx="12143100" cy="685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Fill numerical missing values with Median</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LoanAmount</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fillna</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LoanAmount</a:t>
            </a:r>
            <a:r>
              <a:rPr lang="en-IN" sz="1800" dirty="0">
                <a:solidFill>
                  <a:schemeClr val="dk1"/>
                </a:solidFill>
                <a:latin typeface="Times New Roman"/>
                <a:ea typeface="Times New Roman"/>
                <a:cs typeface="Times New Roman"/>
                <a:sym typeface="Times New Roman"/>
              </a:rPr>
              <a:t>'].median(), </a:t>
            </a:r>
            <a:r>
              <a:rPr lang="en-IN" sz="1800" dirty="0" err="1">
                <a:solidFill>
                  <a:schemeClr val="dk1"/>
                </a:solidFill>
                <a:latin typeface="Times New Roman"/>
                <a:ea typeface="Times New Roman"/>
                <a:cs typeface="Times New Roman"/>
                <a:sym typeface="Times New Roman"/>
              </a:rPr>
              <a:t>inplace</a:t>
            </a:r>
            <a:r>
              <a:rPr lang="en-IN" sz="1800" dirty="0">
                <a:solidFill>
                  <a:schemeClr val="dk1"/>
                </a:solidFill>
                <a:latin typeface="Times New Roman"/>
                <a:ea typeface="Times New Roman"/>
                <a:cs typeface="Times New Roman"/>
                <a:sym typeface="Times New Roman"/>
              </a:rPr>
              <a:t>=True)</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Loan_Amount_Term</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fillna</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Loan_Amount_Term</a:t>
            </a:r>
            <a:r>
              <a:rPr lang="en-IN" sz="1800" dirty="0">
                <a:solidFill>
                  <a:schemeClr val="dk1"/>
                </a:solidFill>
                <a:latin typeface="Times New Roman"/>
                <a:ea typeface="Times New Roman"/>
                <a:cs typeface="Times New Roman"/>
                <a:sym typeface="Times New Roman"/>
              </a:rPr>
              <a:t>'].median(), </a:t>
            </a:r>
            <a:r>
              <a:rPr lang="en-IN" sz="1800" dirty="0" err="1">
                <a:solidFill>
                  <a:schemeClr val="dk1"/>
                </a:solidFill>
                <a:latin typeface="Times New Roman"/>
                <a:ea typeface="Times New Roman"/>
                <a:cs typeface="Times New Roman"/>
                <a:sym typeface="Times New Roman"/>
              </a:rPr>
              <a:t>inplace</a:t>
            </a:r>
            <a:r>
              <a:rPr lang="en-IN" sz="1800" dirty="0">
                <a:solidFill>
                  <a:schemeClr val="dk1"/>
                </a:solidFill>
                <a:latin typeface="Times New Roman"/>
                <a:ea typeface="Times New Roman"/>
                <a:cs typeface="Times New Roman"/>
                <a:sym typeface="Times New Roman"/>
              </a:rPr>
              <a:t>=True)</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 3. FEATURE ENGINEERING (Label Encoding)</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 Convert categorical strings to numeric values for the ML model</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le = </a:t>
            </a:r>
            <a:r>
              <a:rPr lang="en-IN" sz="1800" dirty="0" err="1">
                <a:solidFill>
                  <a:schemeClr val="dk1"/>
                </a:solidFill>
                <a:latin typeface="Times New Roman"/>
                <a:ea typeface="Times New Roman"/>
                <a:cs typeface="Times New Roman"/>
                <a:sym typeface="Times New Roman"/>
              </a:rPr>
              <a:t>LabelEncoder</a:t>
            </a:r>
            <a:r>
              <a:rPr lang="en-IN" sz="1800" dirty="0">
                <a:solidFill>
                  <a:schemeClr val="dk1"/>
                </a:solidFill>
                <a:latin typeface="Times New Roman"/>
                <a:ea typeface="Times New Roman"/>
                <a:cs typeface="Times New Roman"/>
                <a:sym typeface="Times New Roman"/>
              </a:rPr>
              <a:t>()</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categorical_cols</a:t>
            </a:r>
            <a:r>
              <a:rPr lang="en-IN" sz="1800" dirty="0">
                <a:solidFill>
                  <a:schemeClr val="dk1"/>
                </a:solidFill>
                <a:latin typeface="Times New Roman"/>
                <a:ea typeface="Times New Roman"/>
                <a:cs typeface="Times New Roman"/>
                <a:sym typeface="Times New Roman"/>
              </a:rPr>
              <a:t> = ['Gender', 'Married', 'Education', '</a:t>
            </a:r>
            <a:r>
              <a:rPr lang="en-IN" sz="1800" dirty="0" err="1">
                <a:solidFill>
                  <a:schemeClr val="dk1"/>
                </a:solidFill>
                <a:latin typeface="Times New Roman"/>
                <a:ea typeface="Times New Roman"/>
                <a:cs typeface="Times New Roman"/>
                <a:sym typeface="Times New Roman"/>
              </a:rPr>
              <a:t>Self_Employed</a:t>
            </a: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Property_Area</a:t>
            </a: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Loan_Status</a:t>
            </a:r>
            <a:r>
              <a:rPr lang="en-IN" sz="1800" dirty="0">
                <a:solidFill>
                  <a:schemeClr val="dk1"/>
                </a:solidFill>
                <a:latin typeface="Times New Roman"/>
                <a:ea typeface="Times New Roman"/>
                <a:cs typeface="Times New Roman"/>
                <a:sym typeface="Times New Roman"/>
              </a:rPr>
              <a:t>']</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for col in </a:t>
            </a:r>
            <a:r>
              <a:rPr lang="en-IN" sz="1800" dirty="0" err="1">
                <a:solidFill>
                  <a:schemeClr val="dk1"/>
                </a:solidFill>
                <a:latin typeface="Times New Roman"/>
                <a:ea typeface="Times New Roman"/>
                <a:cs typeface="Times New Roman"/>
                <a:sym typeface="Times New Roman"/>
              </a:rPr>
              <a:t>categorical_cols</a:t>
            </a:r>
            <a:r>
              <a:rPr lang="en-IN" sz="1800" dirty="0">
                <a:solidFill>
                  <a:schemeClr val="dk1"/>
                </a:solidFill>
                <a:latin typeface="Times New Roman"/>
                <a:ea typeface="Times New Roman"/>
                <a:cs typeface="Times New Roman"/>
                <a:sym typeface="Times New Roman"/>
              </a:rPr>
              <a:t>:</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[col] = </a:t>
            </a:r>
            <a:r>
              <a:rPr lang="en-IN" sz="1800" dirty="0" err="1">
                <a:solidFill>
                  <a:schemeClr val="dk1"/>
                </a:solidFill>
                <a:latin typeface="Times New Roman"/>
                <a:ea typeface="Times New Roman"/>
                <a:cs typeface="Times New Roman"/>
                <a:sym typeface="Times New Roman"/>
              </a:rPr>
              <a:t>le.fit_transform</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[col])</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return </a:t>
            </a:r>
            <a:r>
              <a:rPr lang="en-IN" sz="1800" dirty="0" err="1">
                <a:solidFill>
                  <a:schemeClr val="dk1"/>
                </a:solidFill>
                <a:latin typeface="Times New Roman"/>
                <a:ea typeface="Times New Roman"/>
                <a:cs typeface="Times New Roman"/>
                <a:sym typeface="Times New Roman"/>
              </a:rPr>
              <a:t>df</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4. MODEL TRAINING</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def </a:t>
            </a:r>
            <a:r>
              <a:rPr lang="en-IN" sz="1800" dirty="0" err="1">
                <a:solidFill>
                  <a:schemeClr val="dk1"/>
                </a:solidFill>
                <a:latin typeface="Times New Roman"/>
                <a:ea typeface="Times New Roman"/>
                <a:cs typeface="Times New Roman"/>
                <a:sym typeface="Times New Roman"/>
              </a:rPr>
              <a:t>train_loan_model</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 Drop </a:t>
            </a:r>
            <a:r>
              <a:rPr lang="en-IN" sz="1800" dirty="0" err="1">
                <a:solidFill>
                  <a:schemeClr val="dk1"/>
                </a:solidFill>
                <a:latin typeface="Times New Roman"/>
                <a:ea typeface="Times New Roman"/>
                <a:cs typeface="Times New Roman"/>
                <a:sym typeface="Times New Roman"/>
              </a:rPr>
              <a:t>Loan_ID</a:t>
            </a:r>
            <a:r>
              <a:rPr lang="en-IN" sz="1800" dirty="0">
                <a:solidFill>
                  <a:schemeClr val="dk1"/>
                </a:solidFill>
                <a:latin typeface="Times New Roman"/>
                <a:ea typeface="Times New Roman"/>
                <a:cs typeface="Times New Roman"/>
                <a:sym typeface="Times New Roman"/>
              </a:rPr>
              <a:t> as it doesn't contribute to prediction</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X = </a:t>
            </a:r>
            <a:r>
              <a:rPr lang="en-IN" sz="1800" dirty="0" err="1">
                <a:solidFill>
                  <a:schemeClr val="dk1"/>
                </a:solidFill>
                <a:latin typeface="Times New Roman"/>
                <a:ea typeface="Times New Roman"/>
                <a:cs typeface="Times New Roman"/>
                <a:sym typeface="Times New Roman"/>
              </a:rPr>
              <a:t>df.drop</a:t>
            </a:r>
            <a:r>
              <a:rPr lang="en-IN" sz="1800" dirty="0">
                <a:solidFill>
                  <a:schemeClr val="dk1"/>
                </a:solidFill>
                <a:latin typeface="Times New Roman"/>
                <a:ea typeface="Times New Roman"/>
                <a:cs typeface="Times New Roman"/>
                <a:sym typeface="Times New Roman"/>
              </a:rPr>
              <a:t>(columns=['</a:t>
            </a:r>
            <a:r>
              <a:rPr lang="en-IN" sz="1800" dirty="0" err="1">
                <a:solidFill>
                  <a:schemeClr val="dk1"/>
                </a:solidFill>
                <a:latin typeface="Times New Roman"/>
                <a:ea typeface="Times New Roman"/>
                <a:cs typeface="Times New Roman"/>
                <a:sym typeface="Times New Roman"/>
              </a:rPr>
              <a:t>Loan_ID</a:t>
            </a: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Loan_Status</a:t>
            </a:r>
            <a:r>
              <a:rPr lang="en-IN" sz="1800" dirty="0">
                <a:solidFill>
                  <a:schemeClr val="dk1"/>
                </a:solidFill>
                <a:latin typeface="Times New Roman"/>
                <a:ea typeface="Times New Roman"/>
                <a:cs typeface="Times New Roman"/>
                <a:sym typeface="Times New Roman"/>
              </a:rPr>
              <a:t>'])</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y = </a:t>
            </a:r>
            <a:r>
              <a:rPr lang="en-IN" sz="1800" dirty="0" err="1">
                <a:solidFill>
                  <a:schemeClr val="dk1"/>
                </a:solidFill>
                <a:latin typeface="Times New Roman"/>
                <a:ea typeface="Times New Roman"/>
                <a:cs typeface="Times New Roman"/>
                <a:sym typeface="Times New Roman"/>
              </a:rPr>
              <a:t>df</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Loan_Status</a:t>
            </a:r>
            <a:r>
              <a:rPr lang="en-IN" sz="1800" dirty="0">
                <a:solidFill>
                  <a:schemeClr val="dk1"/>
                </a:solidFill>
                <a:latin typeface="Times New Roman"/>
                <a:ea typeface="Times New Roman"/>
                <a:cs typeface="Times New Roman"/>
                <a:sym typeface="Times New Roman"/>
              </a:rPr>
              <a:t>']</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IN" sz="1800" dirty="0">
                <a:solidFill>
                  <a:schemeClr val="dk1"/>
                </a:solidFill>
                <a:latin typeface="Times New Roman"/>
                <a:ea typeface="Times New Roman"/>
                <a:cs typeface="Times New Roman"/>
                <a:sym typeface="Times New Roman"/>
              </a:rPr>
              <a:t>    # Split data: 80% Training, 20% Testing</a:t>
            </a:r>
            <a:endParaRPr sz="22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IN" sz="22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X_train</a:t>
            </a: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X_test</a:t>
            </a: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y_train</a:t>
            </a: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y_test</a:t>
            </a:r>
            <a:r>
              <a:rPr lang="en-IN" sz="1800" dirty="0">
                <a:solidFill>
                  <a:schemeClr val="dk1"/>
                </a:solidFill>
                <a:latin typeface="Times New Roman"/>
                <a:ea typeface="Times New Roman"/>
                <a:cs typeface="Times New Roman"/>
                <a:sym typeface="Times New Roman"/>
              </a:rPr>
              <a:t> = </a:t>
            </a:r>
            <a:r>
              <a:rPr lang="en-IN" sz="1800" dirty="0" err="1">
                <a:solidFill>
                  <a:schemeClr val="dk1"/>
                </a:solidFill>
                <a:latin typeface="Times New Roman"/>
                <a:ea typeface="Times New Roman"/>
                <a:cs typeface="Times New Roman"/>
                <a:sym typeface="Times New Roman"/>
              </a:rPr>
              <a:t>train_test_split</a:t>
            </a:r>
            <a:r>
              <a:rPr lang="en-IN" sz="1800" dirty="0">
                <a:solidFill>
                  <a:schemeClr val="dk1"/>
                </a:solidFill>
                <a:latin typeface="Times New Roman"/>
                <a:ea typeface="Times New Roman"/>
                <a:cs typeface="Times New Roman"/>
                <a:sym typeface="Times New Roman"/>
              </a:rPr>
              <a:t>(X, y, </a:t>
            </a:r>
            <a:r>
              <a:rPr lang="en-IN" sz="1800" dirty="0" err="1">
                <a:solidFill>
                  <a:schemeClr val="dk1"/>
                </a:solidFill>
                <a:latin typeface="Times New Roman"/>
                <a:ea typeface="Times New Roman"/>
                <a:cs typeface="Times New Roman"/>
                <a:sym typeface="Times New Roman"/>
              </a:rPr>
              <a:t>test_size</a:t>
            </a:r>
            <a:r>
              <a:rPr lang="en-IN" sz="1800" dirty="0">
                <a:solidFill>
                  <a:schemeClr val="dk1"/>
                </a:solidFill>
                <a:latin typeface="Times New Roman"/>
                <a:ea typeface="Times New Roman"/>
                <a:cs typeface="Times New Roman"/>
                <a:sym typeface="Times New Roman"/>
              </a:rPr>
              <a:t>=0.2, </a:t>
            </a:r>
            <a:r>
              <a:rPr lang="en-IN" sz="1800" dirty="0" err="1">
                <a:solidFill>
                  <a:schemeClr val="dk1"/>
                </a:solidFill>
                <a:latin typeface="Times New Roman"/>
                <a:ea typeface="Times New Roman"/>
                <a:cs typeface="Times New Roman"/>
                <a:sym typeface="Times New Roman"/>
              </a:rPr>
              <a:t>random_state</a:t>
            </a:r>
            <a:r>
              <a:rPr lang="en-IN" sz="1800" dirty="0">
                <a:solidFill>
                  <a:schemeClr val="dk1"/>
                </a:solidFill>
                <a:latin typeface="Times New Roman"/>
                <a:ea typeface="Times New Roman"/>
                <a:cs typeface="Times New Roman"/>
                <a:sym typeface="Times New Roman"/>
              </a:rPr>
              <a:t>=42)</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IN" sz="1800" dirty="0">
                <a:solidFill>
                  <a:schemeClr val="dk1"/>
                </a:solidFill>
                <a:latin typeface="Times New Roman"/>
                <a:ea typeface="Times New Roman"/>
                <a:cs typeface="Times New Roman"/>
                <a:sym typeface="Times New Roman"/>
              </a:rPr>
              <a:t>    # Initialize Random Forest Classifier</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IN" sz="1800" dirty="0">
                <a:solidFill>
                  <a:schemeClr val="dk1"/>
                </a:solidFill>
                <a:latin typeface="Times New Roman"/>
                <a:ea typeface="Times New Roman"/>
                <a:cs typeface="Times New Roman"/>
                <a:sym typeface="Times New Roman"/>
              </a:rPr>
              <a:t>    model = </a:t>
            </a:r>
            <a:r>
              <a:rPr lang="en-IN" sz="1800" dirty="0" err="1">
                <a:solidFill>
                  <a:schemeClr val="dk1"/>
                </a:solidFill>
                <a:latin typeface="Times New Roman"/>
                <a:ea typeface="Times New Roman"/>
                <a:cs typeface="Times New Roman"/>
                <a:sym typeface="Times New Roman"/>
              </a:rPr>
              <a:t>RandomForestClassifier</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n_estimators</a:t>
            </a:r>
            <a:r>
              <a:rPr lang="en-IN" sz="1800" dirty="0">
                <a:solidFill>
                  <a:schemeClr val="dk1"/>
                </a:solidFill>
                <a:latin typeface="Times New Roman"/>
                <a:ea typeface="Times New Roman"/>
                <a:cs typeface="Times New Roman"/>
                <a:sym typeface="Times New Roman"/>
              </a:rPr>
              <a:t>=100, </a:t>
            </a:r>
            <a:r>
              <a:rPr lang="en-IN" sz="1800" dirty="0" err="1">
                <a:solidFill>
                  <a:schemeClr val="dk1"/>
                </a:solidFill>
                <a:latin typeface="Times New Roman"/>
                <a:ea typeface="Times New Roman"/>
                <a:cs typeface="Times New Roman"/>
                <a:sym typeface="Times New Roman"/>
              </a:rPr>
              <a:t>random_state</a:t>
            </a:r>
            <a:r>
              <a:rPr lang="en-IN" sz="1800" dirty="0">
                <a:solidFill>
                  <a:schemeClr val="dk1"/>
                </a:solidFill>
                <a:latin typeface="Times New Roman"/>
                <a:ea typeface="Times New Roman"/>
                <a:cs typeface="Times New Roman"/>
                <a:sym typeface="Times New Roman"/>
              </a:rPr>
              <a:t>=42)</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model.fit</a:t>
            </a:r>
            <a:r>
              <a:rPr lang="en-IN" sz="1800" dirty="0">
                <a:solidFill>
                  <a:schemeClr val="dk1"/>
                </a:solidFill>
                <a:latin typeface="Times New Roman"/>
                <a:ea typeface="Times New Roman"/>
                <a:cs typeface="Times New Roman"/>
                <a:sym typeface="Times New Roman"/>
              </a:rPr>
              <a:t>(</a:t>
            </a:r>
            <a:r>
              <a:rPr lang="en-IN" sz="1800" dirty="0" err="1">
                <a:solidFill>
                  <a:schemeClr val="dk1"/>
                </a:solidFill>
                <a:latin typeface="Times New Roman"/>
                <a:ea typeface="Times New Roman"/>
                <a:cs typeface="Times New Roman"/>
                <a:sym typeface="Times New Roman"/>
              </a:rPr>
              <a:t>X_train</a:t>
            </a:r>
            <a:r>
              <a:rPr lang="en-IN" sz="1800" dirty="0">
                <a:solidFill>
                  <a:schemeClr val="dk1"/>
                </a:solidFill>
                <a:latin typeface="Times New Roman"/>
                <a:ea typeface="Times New Roman"/>
                <a:cs typeface="Times New Roman"/>
                <a:sym typeface="Times New Roman"/>
              </a:rPr>
              <a:t>, </a:t>
            </a:r>
            <a:r>
              <a:rPr lang="en-IN" sz="1800" dirty="0" err="1">
                <a:solidFill>
                  <a:schemeClr val="dk1"/>
                </a:solidFill>
                <a:latin typeface="Times New Roman"/>
                <a:ea typeface="Times New Roman"/>
                <a:cs typeface="Times New Roman"/>
                <a:sym typeface="Times New Roman"/>
              </a:rPr>
              <a:t>y_train</a:t>
            </a:r>
            <a:r>
              <a:rPr lang="en-IN" sz="1800" dirty="0">
                <a:solidFill>
                  <a:schemeClr val="dk1"/>
                </a:solidFill>
                <a:latin typeface="Times New Roman"/>
                <a:ea typeface="Times New Roman"/>
                <a:cs typeface="Times New Roman"/>
                <a:sym typeface="Times New Roman"/>
              </a:rPr>
              <a:t>)</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dirty="0">
                <a:solidFill>
                  <a:schemeClr val="dk1"/>
                </a:solidFill>
                <a:latin typeface="Times New Roman"/>
                <a:ea typeface="Times New Roman"/>
                <a:cs typeface="Times New Roman"/>
                <a:sym typeface="Times New Roman"/>
              </a:rPr>
              <a:t>    </a:t>
            </a: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3b7567d4e30_1_5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11</a:t>
            </a:fld>
            <a:endParaRPr/>
          </a:p>
        </p:txBody>
      </p:sp>
      <p:sp>
        <p:nvSpPr>
          <p:cNvPr id="173" name="Google Shape;173;g3b7567d4e30_1_53"/>
          <p:cNvSpPr txBox="1"/>
          <p:nvPr/>
        </p:nvSpPr>
        <p:spPr>
          <a:xfrm>
            <a:off x="22625" y="56575"/>
            <a:ext cx="12120300" cy="685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 Predictions and Evaluation</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y_pred = model.predict(X_test)</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print(f"Model Accuracy: {accuracy_score(y_test, y_pred) * 100:.2f}%")</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print("\nClassification Report:\n", classification_report(y_test, y_pred))</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return model</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5. AUTOMATED DECISION MAKING (Prediction Function)</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def predict_eligibility(model, input_data):</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input_data: list of values [Gender, Married, Dependents, Education, Self_Employed, </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Applicant Income, Co applicant Income, LoanAmount, </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Loan_Amount_Term, Credit_History, Property_Area]</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prediction = model.predict([input_data])</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return "Eligible" if prediction[0] == 1 else "Not Eligible"</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Execution Example</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data = load_and_preprocess_data('loan_data.csv')</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 trained_model = train_loan_model(data)</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g3b75806d82d_1_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12</a:t>
            </a:fld>
            <a:endParaRPr/>
          </a:p>
        </p:txBody>
      </p:sp>
      <p:pic>
        <p:nvPicPr>
          <p:cNvPr id="180" name="Google Shape;180;g3b75806d82d_1_0" title="Gemini_Generated_Image_fql501fql501fql5.png"/>
          <p:cNvPicPr preferRelativeResize="0"/>
          <p:nvPr/>
        </p:nvPicPr>
        <p:blipFill>
          <a:blip r:embed="rId3">
            <a:alphaModFix/>
          </a:blip>
          <a:stretch>
            <a:fillRect/>
          </a:stretch>
        </p:blipFill>
        <p:spPr>
          <a:xfrm>
            <a:off x="876605" y="751195"/>
            <a:ext cx="10477195" cy="5605155"/>
          </a:xfrm>
          <a:prstGeom prst="rect">
            <a:avLst/>
          </a:prstGeom>
          <a:noFill/>
          <a:ln>
            <a:noFill/>
          </a:ln>
        </p:spPr>
      </p:pic>
      <p:sp>
        <p:nvSpPr>
          <p:cNvPr id="181" name="Google Shape;181;g3b75806d82d_1_0"/>
          <p:cNvSpPr txBox="1"/>
          <p:nvPr/>
        </p:nvSpPr>
        <p:spPr>
          <a:xfrm>
            <a:off x="2383350" y="0"/>
            <a:ext cx="7425300" cy="73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IN" sz="3600" b="1">
                <a:latin typeface="Times New Roman"/>
                <a:ea typeface="Times New Roman"/>
                <a:cs typeface="Times New Roman"/>
                <a:sym typeface="Times New Roman"/>
              </a:rPr>
              <a:t>EXPECTED OUTCOMES</a:t>
            </a:r>
            <a:endParaRPr sz="3600" b="1">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9"/>
          <p:cNvSpPr txBox="1">
            <a:spLocks noGrp="1"/>
          </p:cNvSpPr>
          <p:nvPr>
            <p:ph type="title"/>
          </p:nvPr>
        </p:nvSpPr>
        <p:spPr>
          <a:xfrm>
            <a:off x="0" y="0"/>
            <a:ext cx="12192000" cy="120364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600" b="1">
                <a:latin typeface="Times New Roman"/>
                <a:ea typeface="Times New Roman"/>
                <a:cs typeface="Times New Roman"/>
                <a:sym typeface="Times New Roman"/>
              </a:rPr>
              <a:t>REFERENCES </a:t>
            </a:r>
            <a:endParaRPr b="1">
              <a:latin typeface="Times New Roman"/>
              <a:ea typeface="Times New Roman"/>
              <a:cs typeface="Times New Roman"/>
              <a:sym typeface="Times New Roman"/>
            </a:endParaRPr>
          </a:p>
        </p:txBody>
      </p:sp>
      <p:sp>
        <p:nvSpPr>
          <p:cNvPr id="187" name="Google Shape;187;p9"/>
          <p:cNvSpPr txBox="1">
            <a:spLocks noGrp="1"/>
          </p:cNvSpPr>
          <p:nvPr>
            <p:ph type="body" idx="1"/>
          </p:nvPr>
        </p:nvSpPr>
        <p:spPr>
          <a:xfrm>
            <a:off x="-10495720" y="6205445"/>
            <a:ext cx="7911547" cy="607179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
        <p:nvSpPr>
          <p:cNvPr id="188" name="Google Shape;18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a:t>10/12/25</a:t>
            </a:r>
            <a:endParaRPr/>
          </a:p>
        </p:txBody>
      </p:sp>
      <p:sp>
        <p:nvSpPr>
          <p:cNvPr id="189" name="Google Shape;18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190" name="Google Shape;190;p9"/>
          <p:cNvSpPr/>
          <p:nvPr/>
        </p:nvSpPr>
        <p:spPr>
          <a:xfrm>
            <a:off x="513080" y="860475"/>
            <a:ext cx="10840720" cy="5678437"/>
          </a:xfrm>
          <a:prstGeom prst="rect">
            <a:avLst/>
          </a:prstGeom>
          <a:noFill/>
          <a:ln>
            <a:noFill/>
          </a:ln>
        </p:spPr>
        <p:txBody>
          <a:bodyPr spcFirstLastPara="1" wrap="square" lIns="91425" tIns="45700" rIns="91425" bIns="45700" anchor="ctr" anchorCtr="0">
            <a:spAutoFit/>
          </a:bodyPr>
          <a:lstStyle/>
          <a:p>
            <a:pPr marL="0" marR="0" lvl="0" indent="0" algn="l" rtl="0">
              <a:lnSpc>
                <a:spcPct val="150000"/>
              </a:lnSpc>
              <a:spcBef>
                <a:spcPts val="0"/>
              </a:spcBef>
              <a:spcAft>
                <a:spcPts val="0"/>
              </a:spcAft>
              <a:buNone/>
            </a:pPr>
            <a:r>
              <a:rPr lang="en-IN" sz="2200" b="1" dirty="0">
                <a:solidFill>
                  <a:schemeClr val="dk1"/>
                </a:solidFill>
                <a:latin typeface="Times New Roman"/>
                <a:ea typeface="Times New Roman"/>
                <a:cs typeface="Times New Roman"/>
                <a:sym typeface="Times New Roman"/>
              </a:rPr>
              <a:t>1. </a:t>
            </a:r>
            <a:r>
              <a:rPr lang="en-IN" sz="2200" b="1" i="0" u="none" strike="noStrike" cap="none" dirty="0">
                <a:solidFill>
                  <a:schemeClr val="dk1"/>
                </a:solidFill>
                <a:latin typeface="Times New Roman"/>
                <a:ea typeface="Times New Roman"/>
                <a:cs typeface="Times New Roman"/>
                <a:sym typeface="Times New Roman"/>
              </a:rPr>
              <a:t>Loan Eligibility Prediction Using Machine Learning</a:t>
            </a:r>
            <a:r>
              <a:rPr lang="en-IN" sz="2200" b="0" i="0" u="none" strike="noStrike" cap="none" dirty="0">
                <a:solidFill>
                  <a:schemeClr val="dk1"/>
                </a:solidFill>
                <a:latin typeface="Times New Roman"/>
                <a:ea typeface="Times New Roman"/>
                <a:cs typeface="Times New Roman"/>
                <a:sym typeface="Times New Roman"/>
              </a:rPr>
              <a:t> — V. Sravan Kiran, B. Teja Reddy, D. Uday Kumar, K. Sai Avinash Varma, T. </a:t>
            </a:r>
            <a:r>
              <a:rPr lang="en-IN" sz="2200" b="0" i="0" u="none" strike="noStrike" cap="none" dirty="0" err="1">
                <a:solidFill>
                  <a:schemeClr val="dk1"/>
                </a:solidFill>
                <a:latin typeface="Times New Roman"/>
                <a:ea typeface="Times New Roman"/>
                <a:cs typeface="Times New Roman"/>
                <a:sym typeface="Times New Roman"/>
              </a:rPr>
              <a:t>Sheshi</a:t>
            </a:r>
            <a:r>
              <a:rPr lang="en-IN" sz="2200" b="0" i="0" u="none" strike="noStrike" cap="none" dirty="0">
                <a:solidFill>
                  <a:schemeClr val="dk1"/>
                </a:solidFill>
                <a:latin typeface="Times New Roman"/>
                <a:ea typeface="Times New Roman"/>
                <a:cs typeface="Times New Roman"/>
                <a:sym typeface="Times New Roman"/>
              </a:rPr>
              <a:t> Kiran (IJRASET)</a:t>
            </a:r>
            <a:endParaRPr dirty="0"/>
          </a:p>
          <a:p>
            <a:pPr marL="0" marR="0" lvl="0" indent="0" algn="l" rtl="0">
              <a:lnSpc>
                <a:spcPct val="150000"/>
              </a:lnSpc>
              <a:spcBef>
                <a:spcPts val="0"/>
              </a:spcBef>
              <a:spcAft>
                <a:spcPts val="0"/>
              </a:spcAft>
              <a:buNone/>
            </a:pPr>
            <a:r>
              <a:rPr lang="en-IN" sz="2200" b="1" dirty="0">
                <a:solidFill>
                  <a:schemeClr val="dk1"/>
                </a:solidFill>
                <a:latin typeface="Times New Roman"/>
                <a:ea typeface="Times New Roman"/>
                <a:cs typeface="Times New Roman"/>
                <a:sym typeface="Times New Roman"/>
              </a:rPr>
              <a:t>2. </a:t>
            </a:r>
            <a:r>
              <a:rPr lang="en-IN" sz="2200" b="1" i="0" u="none" strike="noStrike" cap="none" dirty="0">
                <a:solidFill>
                  <a:schemeClr val="dk1"/>
                </a:solidFill>
                <a:latin typeface="Times New Roman"/>
                <a:ea typeface="Times New Roman"/>
                <a:cs typeface="Times New Roman"/>
                <a:sym typeface="Times New Roman"/>
              </a:rPr>
              <a:t>Predicting Bank Loan Eligibility Using Machine Learning</a:t>
            </a:r>
            <a:r>
              <a:rPr lang="en-IN" sz="2200" b="0" i="0" u="none" strike="noStrike" cap="none" dirty="0">
                <a:solidFill>
                  <a:schemeClr val="dk1"/>
                </a:solidFill>
                <a:latin typeface="Times New Roman"/>
                <a:ea typeface="Times New Roman"/>
                <a:cs typeface="Times New Roman"/>
                <a:sym typeface="Times New Roman"/>
              </a:rPr>
              <a:t> — Swathi Y. (IJSREM / open-access)</a:t>
            </a:r>
            <a:endParaRPr dirty="0"/>
          </a:p>
          <a:p>
            <a:pPr marL="0" marR="0" lvl="0" indent="0" algn="l" rtl="0">
              <a:lnSpc>
                <a:spcPct val="150000"/>
              </a:lnSpc>
              <a:spcBef>
                <a:spcPts val="0"/>
              </a:spcBef>
              <a:spcAft>
                <a:spcPts val="0"/>
              </a:spcAft>
              <a:buNone/>
            </a:pPr>
            <a:r>
              <a:rPr lang="en-IN" sz="2200" b="1" i="0" u="none" strike="noStrike" cap="none" dirty="0">
                <a:solidFill>
                  <a:schemeClr val="dk1"/>
                </a:solidFill>
                <a:latin typeface="Times New Roman"/>
                <a:ea typeface="Times New Roman"/>
                <a:cs typeface="Times New Roman"/>
                <a:sym typeface="Times New Roman"/>
              </a:rPr>
              <a:t>3. Loan Eligibility Prediction Using Machine Learning</a:t>
            </a:r>
            <a:r>
              <a:rPr lang="en-IN" sz="2200" b="0" i="0" u="none" strike="noStrike" cap="none" dirty="0">
                <a:solidFill>
                  <a:schemeClr val="dk1"/>
                </a:solidFill>
                <a:latin typeface="Times New Roman"/>
                <a:ea typeface="Times New Roman"/>
                <a:cs typeface="Times New Roman"/>
                <a:sym typeface="Times New Roman"/>
              </a:rPr>
              <a:t> — </a:t>
            </a:r>
            <a:r>
              <a:rPr lang="en-IN" sz="2200" b="0" i="0" u="none" strike="noStrike" cap="none" dirty="0" err="1">
                <a:solidFill>
                  <a:schemeClr val="dk1"/>
                </a:solidFill>
                <a:latin typeface="Times New Roman"/>
                <a:ea typeface="Times New Roman"/>
                <a:cs typeface="Times New Roman"/>
                <a:sym typeface="Times New Roman"/>
              </a:rPr>
              <a:t>Pinnamraju</a:t>
            </a:r>
            <a:r>
              <a:rPr lang="en-IN" sz="2200" b="0" i="0" u="none" strike="noStrike" cap="none" dirty="0">
                <a:solidFill>
                  <a:schemeClr val="dk1"/>
                </a:solidFill>
                <a:latin typeface="Times New Roman"/>
                <a:ea typeface="Times New Roman"/>
                <a:cs typeface="Times New Roman"/>
                <a:sym typeface="Times New Roman"/>
              </a:rPr>
              <a:t> T S Priya, B. Bhanu Prakash (ISJEM, 2025)</a:t>
            </a:r>
            <a:endParaRPr dirty="0"/>
          </a:p>
          <a:p>
            <a:pPr marL="0" marR="0" lvl="0" indent="0" algn="l" rtl="0">
              <a:lnSpc>
                <a:spcPct val="150000"/>
              </a:lnSpc>
              <a:spcBef>
                <a:spcPts val="0"/>
              </a:spcBef>
              <a:spcAft>
                <a:spcPts val="0"/>
              </a:spcAft>
              <a:buNone/>
            </a:pPr>
            <a:r>
              <a:rPr lang="en-IN" sz="2200" b="1" i="0" u="none" strike="noStrike" cap="none" dirty="0">
                <a:solidFill>
                  <a:schemeClr val="dk1"/>
                </a:solidFill>
                <a:latin typeface="Times New Roman"/>
                <a:ea typeface="Times New Roman"/>
                <a:cs typeface="Times New Roman"/>
                <a:sym typeface="Times New Roman"/>
              </a:rPr>
              <a:t>4. Predicting Loan Eligibility Approval Using Machine Learning Algorithms</a:t>
            </a:r>
            <a:r>
              <a:rPr lang="en-IN" sz="2200" b="0" i="0" u="none" strike="noStrike" cap="none" dirty="0">
                <a:solidFill>
                  <a:schemeClr val="dk1"/>
                </a:solidFill>
                <a:latin typeface="Times New Roman"/>
                <a:ea typeface="Times New Roman"/>
                <a:cs typeface="Times New Roman"/>
                <a:sym typeface="Times New Roman"/>
              </a:rPr>
              <a:t> — </a:t>
            </a:r>
            <a:r>
              <a:rPr lang="en-IN" sz="2200" b="0" i="0" u="none" strike="noStrike" cap="none" dirty="0" err="1">
                <a:solidFill>
                  <a:schemeClr val="dk1"/>
                </a:solidFill>
                <a:latin typeface="Times New Roman"/>
                <a:ea typeface="Times New Roman"/>
                <a:cs typeface="Times New Roman"/>
                <a:sym typeface="Times New Roman"/>
              </a:rPr>
              <a:t>Guangxuan</a:t>
            </a:r>
            <a:r>
              <a:rPr lang="en-IN" sz="2200" b="0" i="0" u="none" strike="noStrike" cap="none" dirty="0">
                <a:solidFill>
                  <a:schemeClr val="dk1"/>
                </a:solidFill>
                <a:latin typeface="Times New Roman"/>
                <a:ea typeface="Times New Roman"/>
                <a:cs typeface="Times New Roman"/>
                <a:sym typeface="Times New Roman"/>
              </a:rPr>
              <a:t> Chen (ICDSE 2024)</a:t>
            </a:r>
            <a:endParaRPr dirty="0"/>
          </a:p>
          <a:p>
            <a:pPr marL="0" marR="0" lvl="0" indent="0" algn="l" rtl="0">
              <a:lnSpc>
                <a:spcPct val="150000"/>
              </a:lnSpc>
              <a:spcBef>
                <a:spcPts val="0"/>
              </a:spcBef>
              <a:spcAft>
                <a:spcPts val="0"/>
              </a:spcAft>
              <a:buNone/>
            </a:pPr>
            <a:r>
              <a:rPr lang="en-IN" sz="2200" b="1" i="0" u="none" strike="noStrike" cap="none" dirty="0">
                <a:solidFill>
                  <a:schemeClr val="dk1"/>
                </a:solidFill>
                <a:latin typeface="Times New Roman"/>
                <a:ea typeface="Times New Roman"/>
                <a:cs typeface="Times New Roman"/>
                <a:sym typeface="Times New Roman"/>
              </a:rPr>
              <a:t>5. A Comparative Study of Machine Learning Algorithms for Predicting Loan Default and Eligibility</a:t>
            </a:r>
            <a:r>
              <a:rPr lang="en-IN" sz="2200" b="0" i="0" u="none" strike="noStrike" cap="none" dirty="0">
                <a:solidFill>
                  <a:schemeClr val="dk1"/>
                </a:solidFill>
                <a:latin typeface="Times New Roman"/>
                <a:ea typeface="Times New Roman"/>
                <a:cs typeface="Times New Roman"/>
                <a:sym typeface="Times New Roman"/>
              </a:rPr>
              <a:t> — Supreeth S </a:t>
            </a:r>
            <a:r>
              <a:rPr lang="en-IN" sz="2200" b="0" i="0" u="none" strike="noStrike" cap="none" dirty="0" err="1">
                <a:solidFill>
                  <a:schemeClr val="dk1"/>
                </a:solidFill>
                <a:latin typeface="Times New Roman"/>
                <a:ea typeface="Times New Roman"/>
                <a:cs typeface="Times New Roman"/>
                <a:sym typeface="Times New Roman"/>
              </a:rPr>
              <a:t>Athreyas</a:t>
            </a:r>
            <a:r>
              <a:rPr lang="en-IN" sz="2200" b="0" i="0" u="none" strike="noStrike" cap="none" dirty="0">
                <a:solidFill>
                  <a:schemeClr val="dk1"/>
                </a:solidFill>
                <a:latin typeface="Times New Roman"/>
                <a:ea typeface="Times New Roman"/>
                <a:cs typeface="Times New Roman"/>
                <a:sym typeface="Times New Roman"/>
              </a:rPr>
              <a:t>, Thanmai B K, Varshini Kashyap S, Sukesh S </a:t>
            </a:r>
            <a:r>
              <a:rPr lang="en-IN" sz="2200" b="0" i="0" u="none" strike="noStrike" cap="none" dirty="0" err="1">
                <a:solidFill>
                  <a:schemeClr val="dk1"/>
                </a:solidFill>
                <a:latin typeface="Times New Roman"/>
                <a:ea typeface="Times New Roman"/>
                <a:cs typeface="Times New Roman"/>
                <a:sym typeface="Times New Roman"/>
              </a:rPr>
              <a:t>Bairy</a:t>
            </a:r>
            <a:r>
              <a:rPr lang="en-IN" sz="2200" b="0" i="0" u="none" strike="noStrike" cap="none" dirty="0">
                <a:solidFill>
                  <a:schemeClr val="dk1"/>
                </a:solidFill>
                <a:latin typeface="Times New Roman"/>
                <a:ea typeface="Times New Roman"/>
                <a:cs typeface="Times New Roman"/>
                <a:sym typeface="Times New Roman"/>
              </a:rPr>
              <a:t>, Harish K (PiCES Journal, 2022)</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1"/>
          <p:cNvSpPr txBox="1">
            <a:spLocks noGrp="1"/>
          </p:cNvSpPr>
          <p:nvPr>
            <p:ph type="title"/>
          </p:nvPr>
        </p:nvSpPr>
        <p:spPr>
          <a:xfrm>
            <a:off x="0" y="2827175"/>
            <a:ext cx="12192000" cy="120364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IN" sz="3600" b="1">
                <a:latin typeface="Times New Roman"/>
                <a:ea typeface="Times New Roman"/>
                <a:cs typeface="Times New Roman"/>
                <a:sym typeface="Times New Roman"/>
              </a:rPr>
              <a:t>THANK YOU</a:t>
            </a:r>
            <a:endParaRPr b="1">
              <a:latin typeface="Times New Roman"/>
              <a:ea typeface="Times New Roman"/>
              <a:cs typeface="Times New Roman"/>
              <a:sym typeface="Times New Roman"/>
            </a:endParaRPr>
          </a:p>
        </p:txBody>
      </p:sp>
      <p:sp>
        <p:nvSpPr>
          <p:cNvPr id="204" name="Google Shape;20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1451</Words>
  <Application>Microsoft Macintosh PowerPoint</Application>
  <PresentationFormat>Widescreen</PresentationFormat>
  <Paragraphs>153</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OUTLINE </vt:lpstr>
      <vt:lpstr>ABSTRACT</vt:lpstr>
      <vt:lpstr>EXISTING SYSTEM</vt:lpstr>
      <vt:lpstr>PROPOSED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Pravallika Reddy</dc:creator>
  <cp:lastModifiedBy>MACHKURI RAJESH</cp:lastModifiedBy>
  <cp:revision>1</cp:revision>
  <dcterms:created xsi:type="dcterms:W3CDTF">2021-05-18T14:01:25Z</dcterms:created>
  <dcterms:modified xsi:type="dcterms:W3CDTF">2026-01-08T09:37:36Z</dcterms:modified>
</cp:coreProperties>
</file>